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464a3fd7024d26" /><Relationship Type="http://schemas.openxmlformats.org/officeDocument/2006/relationships/extended-properties" Target="/docProps/app.xml" Id="R81ab851a66684cef" /><Relationship Type="http://schemas.openxmlformats.org/officeDocument/2006/relationships/officeDocument" Target="/ppt/presentation.xml" Id="R6ea8428325ec48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f7f1854b6844af"/>
  </p:sldMasterIdLst>
  <p:notesMasterIdLst>
    <p:notesMasterId xmlns:r="http://schemas.openxmlformats.org/officeDocument/2006/relationships" r:id="R41c1ddc461d54d5c"/>
  </p:notesMasterIdLst>
  <p:sldIdLst>
    <p:sldId xmlns:r="http://schemas.openxmlformats.org/officeDocument/2006/relationships" id="256" r:id="R6bbd250659df41cb"/>
    <p:sldId xmlns:r="http://schemas.openxmlformats.org/officeDocument/2006/relationships" id="257" r:id="R87ee6b12b3274c00"/>
    <p:sldId xmlns:r="http://schemas.openxmlformats.org/officeDocument/2006/relationships" id="258" r:id="R6838285318fe428f"/>
    <p:sldId xmlns:r="http://schemas.openxmlformats.org/officeDocument/2006/relationships" id="259" r:id="R2a100f0501174ab1"/>
    <p:sldId xmlns:r="http://schemas.openxmlformats.org/officeDocument/2006/relationships" id="260" r:id="R5bfd67472092494b"/>
    <p:sldId xmlns:r="http://schemas.openxmlformats.org/officeDocument/2006/relationships" id="261" r:id="Rcf6d3fd8e20e4e9f"/>
    <p:sldId xmlns:r="http://schemas.openxmlformats.org/officeDocument/2006/relationships" id="262" r:id="R911afc51f7e24ef0"/>
    <p:sldId xmlns:r="http://schemas.openxmlformats.org/officeDocument/2006/relationships" id="263" r:id="Rb151e33e92cc433b"/>
    <p:sldId xmlns:r="http://schemas.openxmlformats.org/officeDocument/2006/relationships" id="264" r:id="Radb51a7ab4054b9f"/>
    <p:sldId xmlns:r="http://schemas.openxmlformats.org/officeDocument/2006/relationships" id="265" r:id="Reb97d945fd9a40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4f93c3cab84ebe" /><Relationship Type="http://schemas.openxmlformats.org/officeDocument/2006/relationships/slideMaster" Target="/ppt/slideMasters/slideMaster1.xml" Id="Rb3f7f1854b6844af" /><Relationship Type="http://schemas.openxmlformats.org/officeDocument/2006/relationships/notesMaster" Target="/ppt/notesMasters/notesMaster1.xml" Id="R41c1ddc461d54d5c" /><Relationship Type="http://schemas.openxmlformats.org/officeDocument/2006/relationships/presProps" Target="/ppt/presProps.xml" Id="R71bbe76a33e840b3" /><Relationship Type="http://schemas.openxmlformats.org/officeDocument/2006/relationships/tableStyles" Target="/ppt/tableStyles.xml" Id="R38b1466505974249" /><Relationship Type="http://schemas.openxmlformats.org/officeDocument/2006/relationships/slide" Target="/ppt/slides/slide1.xml" Id="R6bbd250659df41cb" /><Relationship Type="http://schemas.openxmlformats.org/officeDocument/2006/relationships/slide" Target="/ppt/slides/slide2.xml" Id="R87ee6b12b3274c00" /><Relationship Type="http://schemas.openxmlformats.org/officeDocument/2006/relationships/slide" Target="/ppt/slides/slide3.xml" Id="R6838285318fe428f" /><Relationship Type="http://schemas.openxmlformats.org/officeDocument/2006/relationships/slide" Target="/ppt/slides/slide4.xml" Id="R2a100f0501174ab1" /><Relationship Type="http://schemas.openxmlformats.org/officeDocument/2006/relationships/slide" Target="/ppt/slides/slide5.xml" Id="R5bfd67472092494b" /><Relationship Type="http://schemas.openxmlformats.org/officeDocument/2006/relationships/slide" Target="/ppt/slides/slide6.xml" Id="Rcf6d3fd8e20e4e9f" /><Relationship Type="http://schemas.openxmlformats.org/officeDocument/2006/relationships/slide" Target="/ppt/slides/slide7.xml" Id="R911afc51f7e24ef0" /><Relationship Type="http://schemas.openxmlformats.org/officeDocument/2006/relationships/slide" Target="/ppt/slides/slide8.xml" Id="Rb151e33e92cc433b" /><Relationship Type="http://schemas.openxmlformats.org/officeDocument/2006/relationships/slide" Target="/ppt/slides/slide9.xml" Id="Radb51a7ab4054b9f" /><Relationship Type="http://schemas.openxmlformats.org/officeDocument/2006/relationships/slide" Target="/ppt/slides/slide10.xml" Id="Reb97d945fd9a40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d85835a5274a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c226bc072049ef" /><Relationship Type="http://schemas.openxmlformats.org/officeDocument/2006/relationships/notesMaster" Target="/ppt/notesMasters/notesMaster1.xml" Id="R6a9cc8dee8474e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82c63b96f44f67" /><Relationship Type="http://schemas.openxmlformats.org/officeDocument/2006/relationships/notesMaster" Target="/ppt/notesMasters/notesMaster1.xml" Id="Rf7a50de4862346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4a2187a48d4300" /><Relationship Type="http://schemas.openxmlformats.org/officeDocument/2006/relationships/notesMaster" Target="/ppt/notesMasters/notesMaster1.xml" Id="Re017fea185db49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51ab72aad74c14" /><Relationship Type="http://schemas.openxmlformats.org/officeDocument/2006/relationships/notesMaster" Target="/ppt/notesMasters/notesMaster1.xml" Id="R5620de2d4eca4d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9db724b3334a88" /><Relationship Type="http://schemas.openxmlformats.org/officeDocument/2006/relationships/notesMaster" Target="/ppt/notesMasters/notesMaster1.xml" Id="Ra705680dcec34d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e4983651c049fe" /><Relationship Type="http://schemas.openxmlformats.org/officeDocument/2006/relationships/notesMaster" Target="/ppt/notesMasters/notesMaster1.xml" Id="R84314c5a2b9e49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268e942e6f4a4b" /><Relationship Type="http://schemas.openxmlformats.org/officeDocument/2006/relationships/notesMaster" Target="/ppt/notesMasters/notesMaster1.xml" Id="R8ae8e69128024d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e216d073df4eb4" /><Relationship Type="http://schemas.openxmlformats.org/officeDocument/2006/relationships/notesMaster" Target="/ppt/notesMasters/notesMaster1.xml" Id="R6f34497da55943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8409d14e824f25" /><Relationship Type="http://schemas.openxmlformats.org/officeDocument/2006/relationships/notesMaster" Target="/ppt/notesMasters/notesMaster1.xml" Id="R38138cb7e18d40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d8f880e5404e2b" /><Relationship Type="http://schemas.openxmlformats.org/officeDocument/2006/relationships/notesMaster" Target="/ppt/notesMasters/notesMaster1.xml" Id="Re2265e5c2c244f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inicio, outcome y cierre real del servicio.</a:t>
            </a:r>
          </a:p>
          <a:p xmlns:a="http://schemas.openxmlformats.org/drawingml/2006/main">
            <a:r>
              <a:t>Señal para avanzar: El proceso excede mostrador y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servicio seguido de punta a punta, desde la promesa hasta el cierre real, incluyendo esperas, handoffs, colas, excepciones y reparación.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¿Dónde comienza la promesa y cuándo se cumple?</a:t>
            </a:r>
          </a:p>
          <a:p xmlns:a="http://schemas.openxmlformats.org/drawingml/2006/main">
            <a:r>
              <a:t>• ¿Cuánto tiempo se trabaja y cuánto se espera?</a:t>
            </a:r>
          </a:p>
          <a:p xmlns:a="http://schemas.openxmlformats.org/drawingml/2006/main">
            <a:r>
              <a:t>• ¿Quién acepta el handoff?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Reglas de la caminata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Promesa y cierre real · 10 minutos</a:t>
            </a:r>
          </a:p>
          <a:p xmlns:a="http://schemas.openxmlformats.org/drawingml/2006/main">
            <a:r>
              <a:t>Cada equipo define cuándo comienza y termina el check-in para Hotel Horizonte. Compara el cierre administrativo con el outcome recibido.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Cronometrar trabajo, espera y calendario por separado.</a:t>
            </a:r>
          </a:p>
          <a:p xmlns:a="http://schemas.openxmlformats.org/drawingml/2006/main">
            <a:r>
              <a:t>Señal para avanzar: Existe un registro de instancia.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servicio seguido de punta a punta, desde la promesa hasta el cierre real, incluyendo esperas, handoffs, colas, excepciones y reparación.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¿Cuánto tiempo se trabaja y cuánto se espera?</a:t>
            </a:r>
          </a:p>
          <a:p xmlns:a="http://schemas.openxmlformats.org/drawingml/2006/main">
            <a:r>
              <a:t>• ¿Quién acepta el handoff?</a:t>
            </a:r>
          </a:p>
          <a:p xmlns:a="http://schemas.openxmlformats.org/drawingml/2006/main">
            <a:r>
              <a:t>• ¿Qué política organiza esta cola?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Handoff completo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Caminata de una instancia · 15 minutos</a:t>
            </a:r>
          </a:p>
          <a:p xmlns:a="http://schemas.openxmlformats.org/drawingml/2006/main">
            <a:r>
              <a:t>Una ficha de caso recorre estaciones físicas. En cada transferencia se entrega trabajo, información y responsabilidad. Se cronometran ejecución, espera y calendario.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trabajo, información, responsabilidad y aceptación.</a:t>
            </a:r>
          </a:p>
          <a:p xmlns:a="http://schemas.openxmlformats.org/drawingml/2006/main">
            <a:r>
              <a:t>Señal para avanzar: La transferencia puede fallar de formas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servicio seguido de punta a punta, desde la promesa hasta el cierre real, incluyendo esperas, handoffs, colas, excepciones y reparación.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acepta el handoff?</a:t>
            </a:r>
          </a:p>
          <a:p xmlns:a="http://schemas.openxmlformats.org/drawingml/2006/main">
            <a:r>
              <a:t>• ¿Qué política organiza esta cola?</a:t>
            </a:r>
          </a:p>
          <a:p xmlns:a="http://schemas.openxmlformats.org/drawingml/2006/main">
            <a:r>
              <a:t>• ¿La excepción es realmente infrecuente?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Sintaxis BPMN mínima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proceso y BPMN · 10 minutos</a:t>
            </a:r>
          </a:p>
          <a:p xmlns:a="http://schemas.openxmlformats.org/drawingml/2006/main">
            <a:r>
              <a:t>El docente distingue instancia, variante, pool, lane, evento, actividad, gateway, secuencia y mensaje a partir de lo ocurrido en la caminata.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sólo elementos necesarios para el caso.</a:t>
            </a:r>
          </a:p>
          <a:p xmlns:a="http://schemas.openxmlformats.org/drawingml/2006/main">
            <a:r>
              <a:t>Señal para avanzar: Los equipos pueden modelar coordinación.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servicio seguido de punta a punta, desde la promesa hasta el cierre real, incluyendo esperas, handoffs, colas, excepciones y reparación.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política organiza esta cola?</a:t>
            </a:r>
          </a:p>
          <a:p xmlns:a="http://schemas.openxmlformats.org/drawingml/2006/main">
            <a:r>
              <a:t>• ¿La excepción es realmente infrecuente?</a:t>
            </a:r>
          </a:p>
          <a:p xmlns:a="http://schemas.openxmlformats.org/drawingml/2006/main">
            <a:r>
              <a:t>• ¿Qué mensaje necesita confirmación o correlación?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Modelo ordinario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Reconstrucción BPMN del flujo real · 25 minutos</a:t>
            </a:r>
          </a:p>
          <a:p xmlns:a="http://schemas.openxmlformats.org/drawingml/2006/main">
            <a:r>
              <a:t>Los equipos modelan el caso ordinario y el excepcional. Deben incluir inicio, outcome, actores, mensajes, decisiones, temporizadores, excepción, reparación y condición de cierre.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evidencia lo diferencia del procedimiento prescripto.</a:t>
            </a:r>
          </a:p>
          <a:p xmlns:a="http://schemas.openxmlformats.org/drawingml/2006/main">
            <a:r>
              <a:t>Señal para avanzar: Se distinguen modelo y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servicio seguido de punta a punta, desde la promesa hasta el cierre real, incluyendo esperas, handoffs, colas, excepciones y reparación.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excepción es realmente infrecuente?</a:t>
            </a:r>
          </a:p>
          <a:p xmlns:a="http://schemas.openxmlformats.org/drawingml/2006/main">
            <a:r>
              <a:t>• ¿Qué mensaje necesita confirmación o correlación?</a:t>
            </a:r>
          </a:p>
          <a:p xmlns:a="http://schemas.openxmlformats.org/drawingml/2006/main">
            <a:r>
              <a:t>• ¿Qué outcome podría empeorar aunque una tarea acelere?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Colas y prioridad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Mercado de colas y prioridades · 17 minutos</a:t>
            </a:r>
          </a:p>
          <a:p xmlns:a="http://schemas.openxmlformats.org/drawingml/2006/main">
            <a:r>
              <a:t>Se agregan casos con condiciones diferentes. Cada equipo define disciplina de cola y límite de trabajo en curso. Debe hacer visible quién espera y qué política decide la prioridad.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Hacer visible población en espera y regla de selección.</a:t>
            </a:r>
          </a:p>
          <a:p xmlns:a="http://schemas.openxmlformats.org/drawingml/2006/main">
            <a:r>
              <a:t>Señal para avanzar: La cola deja de ser espacio vacío.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servicio seguido de punta a punta, desde la promesa hasta el cierre real, incluyendo esperas, handoffs, colas, excepciones y reparación.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mensaje necesita confirmación o correlación?</a:t>
            </a:r>
          </a:p>
          <a:p xmlns:a="http://schemas.openxmlformats.org/drawingml/2006/main">
            <a:r>
              <a:t>• ¿Qué outcome podría empeorar aunque una tarea acelere?</a:t>
            </a:r>
          </a:p>
          <a:p xmlns:a="http://schemas.openxmlformats.org/drawingml/2006/main">
            <a:r>
              <a:t>• ¿Dónde comienza la promesa y cuándo se cumple?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Tormenta de excepciones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Tormenta de excepciones · 18 minutos</a:t>
            </a:r>
          </a:p>
          <a:p xmlns:a="http://schemas.openxmlformats.org/drawingml/2006/main">
            <a:r>
              <a:t>El docente introduce ausencia de garantía, habitación bloqueada, canal sin respuesta y necesidad de accesibilidad. El equipo decide qué es excepción y qué debe convertirse en variante estable.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Clasificar por frecuencia, mecanismo y reparación.</a:t>
            </a:r>
          </a:p>
          <a:p xmlns:a="http://schemas.openxmlformats.org/drawingml/2006/main">
            <a:r>
              <a:t>Señal para avanzar: Alguna excepción se reconoce como variante.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servicio seguido de punta a punta, desde la promesa hasta el cierre real, incluyendo esperas, handoffs, colas, excepciones y reparación.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outcome podría empeorar aunque una tarea acelere?</a:t>
            </a:r>
          </a:p>
          <a:p xmlns:a="http://schemas.openxmlformats.org/drawingml/2006/main">
            <a:r>
              <a:t>• ¿Dónde comienza la promesa y cuándo se cumple?</a:t>
            </a:r>
          </a:p>
          <a:p xmlns:a="http://schemas.openxmlformats.org/drawingml/2006/main">
            <a:r>
              <a:t>• ¿Cuánto tiempo se trabaja y cuánto se espera?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Compensación y retorno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Experimento de flujo · 17 minutos</a:t>
            </a:r>
          </a:p>
          <a:p xmlns:a="http://schemas.openxmlformats.org/drawingml/2006/main">
            <a:r>
              <a:t>Cada equipo cambia una regla, handoff o punto de decisión. Predice outcome, espera, calidad, riesgo y carga desplazada. Otro equipo ejecuta un caso para tensionar la hipótesis.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finales sin reparación ni regreso al flujo.</a:t>
            </a:r>
          </a:p>
          <a:p xmlns:a="http://schemas.openxmlformats.org/drawingml/2006/main">
            <a:r>
              <a:t>Señal para avanzar: El BPMN contiene cierre del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servicio seguido de punta a punta, desde la promesa hasta el cierre real, incluyendo esperas, handoffs, colas, excepciones y reparación.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¿Dónde comienza la promesa y cuándo se cumple?</a:t>
            </a:r>
          </a:p>
          <a:p xmlns:a="http://schemas.openxmlformats.org/drawingml/2006/main">
            <a:r>
              <a:t>• ¿Cuánto tiempo se trabaja y cuánto se espera?</a:t>
            </a:r>
          </a:p>
          <a:p xmlns:a="http://schemas.openxmlformats.org/drawingml/2006/main">
            <a:r>
              <a:t>• ¿Quién acepta el handoff?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Experimento end-to-end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identifica qué pregunta del proceso exige otra representación y para qué audiencia, preparando N15.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Medir outcome, espera, calidad, riesgo y carga.</a:t>
            </a:r>
          </a:p>
          <a:p xmlns:a="http://schemas.openxmlformats.org/drawingml/2006/main">
            <a:r>
              <a:t>Señal para avanzar: La mejora no depende sólo del promedio.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servicio seguido de punta a punta, desde la promesa hasta el cierre real, incluyendo esperas, handoffs, colas, excepciones y reparación.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¿Cuánto tiempo se trabaja y cuánto se espera?</a:t>
            </a:r>
          </a:p>
          <a:p xmlns:a="http://schemas.openxmlformats.org/drawingml/2006/main">
            <a:r>
              <a:t>• ¿Quién acepta el handoff?</a:t>
            </a:r>
          </a:p>
          <a:p xmlns:a="http://schemas.openxmlformats.org/drawingml/2006/main">
            <a:r>
              <a:t>• ¿Qué política organiza esta cola?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no responde BPMN.</a:t>
            </a:r>
          </a:p>
          <a:p xmlns:a="http://schemas.openxmlformats.org/drawingml/2006/main">
            <a:r>
              <a:t>Señal para avanzar: Surge otra pregunta y audiencia.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servicio seguido de punta a punta, desde la promesa hasta el cierre real, incluyendo esperas, handoffs, colas, excepciones y reparación.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acepta el handoff?</a:t>
            </a:r>
          </a:p>
          <a:p xmlns:a="http://schemas.openxmlformats.org/drawingml/2006/main">
            <a:r>
              <a:t>• ¿Qué política organiza esta cola?</a:t>
            </a:r>
          </a:p>
          <a:p xmlns:a="http://schemas.openxmlformats.org/drawingml/2006/main">
            <a:r>
              <a:t>• ¿La excepción es realmente infrecuente?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modelo BPMN de HH-14 contrastado con una instancia real, con colas, handoffs, excepciones, compensación y una hipótesis de mejora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0c474b83149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7c0f74ef344588" /><Relationship Type="http://schemas.openxmlformats.org/officeDocument/2006/relationships/slideLayout" Target="/ppt/slideLayouts/slideLayout1.xml" Id="R5d1de679baa844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1de679baa844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1037c2dee45f0" /><Relationship Type="http://schemas.openxmlformats.org/officeDocument/2006/relationships/notesSlide" Target="/ppt/notesSlides/notesSlide1.xml" Id="Rbb76bcfc68fe42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7393d4a0d4533" /><Relationship Type="http://schemas.openxmlformats.org/officeDocument/2006/relationships/notesSlide" Target="/ppt/notesSlides/notesSlide2.xml" Id="R86046c0092c643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718c049a94b53" /><Relationship Type="http://schemas.openxmlformats.org/officeDocument/2006/relationships/notesSlide" Target="/ppt/notesSlides/notesSlide3.xml" Id="R8eddbfb3006843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cfa9f2af548e8" /><Relationship Type="http://schemas.openxmlformats.org/officeDocument/2006/relationships/notesSlide" Target="/ppt/notesSlides/notesSlide4.xml" Id="R257895096a0a43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b3dd29e204c9b" /><Relationship Type="http://schemas.openxmlformats.org/officeDocument/2006/relationships/notesSlide" Target="/ppt/notesSlides/notesSlide5.xml" Id="Rfd08a8f34f1d43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218e8f5dc49a3" /><Relationship Type="http://schemas.openxmlformats.org/officeDocument/2006/relationships/notesSlide" Target="/ppt/notesSlides/notesSlide6.xml" Id="Rdc64de013b074a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3af6fad7a4a35" /><Relationship Type="http://schemas.openxmlformats.org/officeDocument/2006/relationships/notesSlide" Target="/ppt/notesSlides/notesSlide7.xml" Id="Rbe4957144cc943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2a6d60765468f" /><Relationship Type="http://schemas.openxmlformats.org/officeDocument/2006/relationships/notesSlide" Target="/ppt/notesSlides/notesSlide8.xml" Id="Re5f6c50f67c848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d83933ca141b9" /><Relationship Type="http://schemas.openxmlformats.org/officeDocument/2006/relationships/notesSlide" Target="/ppt/notesSlides/notesSlide9.xml" Id="Rdd7331aec0f046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65a4393ee4936" /><Relationship Type="http://schemas.openxmlformats.org/officeDocument/2006/relationships/notesSlide" Target="/ppt/notesSlides/notesSlide10.xml" Id="R38cb2bfc777447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2586A-CD0B-44E4-9FAD-F2EB3BD0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4D4EF-1E10-4323-8AEC-AD7F8FED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9FCAD-8C93-4392-BE06-6E92BE88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2E543-541B-44DF-879F-A97B36B3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91D39-93AE-4CDF-8CED-EF95B7C9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F2580-F2B7-4C0D-B475-C42323F2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4EB44-75DE-4B55-AF9E-EE768CA6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52C4F-21EE-4B0C-BD32-D1B85AD8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C50A2-D8EF-4603-81BC-2F2AEA62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Procesos end-to-end, handoffs, colas y excepciones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E456F-890E-474A-A67D-163750A7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reconstruir un servicio de principio a fin cuando el trabajo atraviesa áreas, sistemas, esperas y excepciones que nadie puede ver por completo?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E8355-EADD-44DC-881A-40F9DBD1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A8B4D-55BB-46C9-BD30-15F5F96F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482595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28AA29-A6DA-456E-954F-AE9679E3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613B6-DEFB-4C97-88C9-55DEF2BD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CCBCA-A473-4CB9-8258-7FF729DE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1F6D5-B926-4293-9D1E-2C1BF706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D312B-A2A0-43B0-83DF-F114A21B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FBE19-C8AF-4285-8B36-1129D3A2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44AA2-1FA9-4ADE-8798-5A7C1ECC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E15F2-6118-411F-AE73-7A53A520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Promesa y cierre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F7199-0ADA-47BC-B137-1A479504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6CB66-710F-4C53-A382-0B76DC04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220AA-EE82-4977-A40D-DAA49217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define cuándo comienza y termina el check-in para Hotel Horizonte. Compara el cierre administrativo con el outcome recibido.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15C17-D4D9-4AFA-BF02-A110DB26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C9364-7DEC-47D1-BC4E-34996658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9AAEA-32FF-4F04-A5D8-C396DCE4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E6433-7621-43A9-B14C-2621DC2D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C0D3E-50B5-445E-8291-69FD8FCE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B7924-E2DC-4DE1-9B7C-85F4F9AE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11A97-C5B9-47BD-97EB-507D9CE8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119C9-71D3-4AD5-9AAA-6DBCCAD0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52A1C-7CEC-4C36-BBD4-459A95E5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C01F9-573D-43E5-9471-0F984B13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437458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A2851-7641-4661-94FF-4BCB291C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0684A-E795-44E1-B9ED-BF39725E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4F0F2-276B-4E08-B064-23392B30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B705C-3485-4429-8FE0-B3B6033E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F6C95-9B71-4FF1-AA87-8FDB9B1B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6919E-488F-4102-852E-09C8B54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A087E-DB0A-4977-8E8A-0B079397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49A90-A759-45F6-8EA3-C483D9C7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Caminata de una instancia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386C5-FD33-4432-B5FB-BD6C4D2B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2F999-E393-47EC-A291-6BAFC372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E54F0-009B-46D2-80BE-D427847D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Una ficha de caso recorre estaciones físicas. En cada transferencia se entrega trabajo, información y responsabilidad. Se cronometran ejecución, espera y calendario.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B7576-A081-44D8-B0DA-31B55D47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91ADF-A90D-4AFA-9375-E065C6CC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8A055-E730-408B-83A9-E610187A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E21A9-14B6-4827-A4AC-A35363FB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AB0F2-62F8-459C-B7A3-97FF5CD7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7E6AC-EBA0-469A-B7DA-FF72CB5E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F2BBC-7F6C-4F9B-8269-1D374D22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EF877-0D87-4E54-BCF4-F7321B6E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54167-D31E-4DB4-8D7D-F29BE183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0D4E5-8542-4DBD-87F2-93400DF5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1243F8-ACE6-48D2-AAC4-EC6E7986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264C0D-B9DB-4D72-B648-D0F8B2EA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865373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78F72-2B13-4ADB-ACE8-6B9B3E98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EE90A-F987-44C5-BBDD-30B88B44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023D5-5D98-446F-9785-1603D6C0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0E914-C686-4B80-8EC3-BA1C3DBA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C5FCC-5DF4-427B-9913-4A5D8D87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92F39-5B2A-4A37-93CD-B6D42023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DCDD1-081F-4EA1-9362-5444A5F6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974E5-730F-499D-A5A9-60E6D978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proceso y BPMN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8BFFA-93B2-4EC1-B749-7C60BE82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48200-054B-4814-B356-3920960B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406AF-892C-40B3-8DEC-51615F04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distingue instancia, variante, pool, lane, evento, actividad, gateway, secuencia y mensaje a partir de lo ocurrido en la caminata.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21ED6-0A43-41CC-A286-8250EEFC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0169B-3C20-4FAD-AE9A-712EACE6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4A477-51FC-4890-BAD1-A5320C04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B0013-F2DB-4CA4-AA80-5DA3ACEB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92D8D-ED82-4C23-B5B0-800808A3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3F7C6-F7B4-4647-ADCD-C7A7B84E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2093174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DFFCB-5771-4587-A045-B267D063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B37BE-56F9-4DB5-90D0-331D6979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A9F2B-F613-41FB-9394-F6F334C2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1DE2D-9732-4F63-94C9-FE398F22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40F5F-3CA3-4050-82AE-945033D1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1CCC2-FED8-4597-8136-E78522E2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75EAB-D017-489B-8852-07CA65C5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152C7-3F42-42BE-82BE-E702AE39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BPMN del flujo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B8A79-BC00-4A72-9CF1-E375C090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DBAEF-8868-4C30-9CC3-84B8F0FA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996CC-A745-4B4A-B00A-E45771AE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modelan el caso ordinario y el excepcional. Deben incluir inicio, outcome, actores, mensajes, decisiones, temporizadores, excepción, reparación y condición de cierre.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501E6-91A6-429D-9CAD-3DAADA3B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3A80B-44F7-49A4-A154-39F98FA2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25BFF-D9DA-4C60-A61C-38F470E9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B61B7-A5B6-43F5-8E83-53C40ADC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E7E50-2C9D-40C7-9E0A-6E8F0F25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54ADB-DBA9-4952-8B8B-EFADA055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818F4-5DA3-4255-88B9-935524B9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41EBF-BE39-48B7-9100-0246DEFC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B78B0-7820-4B11-B169-4B130D8A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00CC71-4BF9-4743-AE1B-9AE21125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545DE-EBF5-4197-86AD-8F7F8136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2D55F-1E55-4CE7-910D-8B102959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26102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23DD2-CC09-4729-B3E8-0B3A4A36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0AB36-D1F1-4D31-90DB-689F8AE9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196D8-AF86-492E-9C0D-A6C3760E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E6B4C-17C0-4722-A2A8-E9A20E5B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22C5D-E82F-4714-A0FC-D24C61D1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907B8-5569-4D2D-B17F-83BB705B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B4FF3-E3D7-4A6E-BE78-04E93F04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C111B-715F-4FEE-A4D5-D8BABBBA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Mercado de colas y prioridades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83B89-0A1B-4133-A29A-3F75E2CD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2C56C-C06C-4E73-8685-E060424D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E9E27-5D17-4754-9F61-3AF8F1B7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66F25-C1BA-4476-B469-1113B62C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45990-DA78-4F31-979D-155353B7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Colas y prioridad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F33E1-8821-43A5-AECE-4A553D42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agregan casos con condiciones diferentes. Cada equipo define disciplina de cola y límite de trabajo en curso. Debe hacer visible quién espera y qué política decide la prioridad.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78C38-0003-4C08-8223-EE5C85C5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C6A3B-A90C-4460-9747-3C9703C7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17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369269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0B642-4D27-44E4-BCB1-94EAB852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6B2BE-F03C-420C-9DCB-644CC70F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6230C-FCA4-4701-B6FB-DE7AA6EB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A9EF2-5E9E-44CB-9E50-6EDAE37E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30263-F6A6-401E-8593-BDC776BB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2894C-4FF6-495F-9746-45F1DE76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2AAB3-20F5-4FE3-8419-852CA728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3264E-69E3-415F-AAB2-1128FECB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Tormenta de excepciones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8AC45-82F4-420C-9243-582F9F0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BCB1C-EBF6-4218-8C27-CDBE9E25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431C3-D0A0-411F-992D-282D7911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9FEC8-8087-435B-924F-0C98E312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24FD3-94B4-474F-BCF2-100E2A1D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El docente introduce ausencia de garantía, habitación bloqueada, canal sin respuesta y necesidad de accesibilidad. El equipo decide qué es excepción y qué debe convertirse en variante estable.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DFD88-A3D3-42CF-A416-45EEE0E6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053763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4DD0FD-61AF-4605-A91E-3E1EB7C1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87E97-41BF-4606-9A90-A1C16E86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CA7D3-30A4-470F-832E-E99ABE0B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6ED88-CA4E-4BAE-AE6B-50AD9C34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32647-E918-487E-88DD-F47F6945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880D0-CAD5-4C0B-99C3-6D107E0D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013EB-4DE4-4CC2-963C-F639935A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1FF21-944E-456B-9ED1-C06BE9A8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Experimento de flujo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0664D-207E-4E26-84C9-4EE8F904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DC711-4B97-401F-B07C-4EEAFB33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9E370-7143-4926-85F8-284E839D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cambia una regla, handoff o punto de decisión. Predice outcome, espera, calidad, riesgo y carga desplazada. Otro equipo ejecuta un caso para tensionar la hipótesis.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C024F-D159-4C6C-9490-3FA3DD9F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CFA52-CB4F-4DB9-B717-933B7998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68E32-BF12-407D-B3F2-28D6A515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DC3E1-1042-44E3-8ED5-CB716298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579B9-3CFA-4A24-8308-142348C6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96C89-2D40-4A8A-BE14-6EB53985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0EFE8-B2C7-4650-9022-C6A8A7F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35C15-5491-4018-9A5F-87C5EB77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72557-AA90-4FDF-B1BA-CA227A5F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03F75-5380-4799-8955-5BDB9FBF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3C752-66EB-4789-B836-90A93957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D213D-04DF-4D8C-961B-AB996A76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156783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44AF3-6904-4107-AE49-4C14AE4B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C12BC-8280-43BB-852F-2E823602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429C1-F73C-4EBB-BAFC-48D061B5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72223-68FD-4E4E-9146-9C902AEB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C63D6-AB66-4BBC-9DE0-E0DD19C5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B4FB3-DACF-4F2A-A09E-8828BBFE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43A72-1CD0-495F-B131-21BDC679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A348E-407A-4D72-94BA-3599043C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408CF-483A-492C-A2AE-A74A34C2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BFA4A-8CF3-420D-8D33-6D4A6DBA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B7CE5-9C42-406C-B166-96F67DDE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qué pregunta del proceso exige otra representación y para qué audiencia, preparando N15.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F4C49-32EF-4D92-8288-E5182CB2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5BE74-C8D1-4FA6-8B98-12FC9E99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B478C-854B-4CC3-91F3-B07EEEA0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24A3D-0371-4438-A136-6174B652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AE700-72C9-4163-B7AA-0138F4D5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10F5E-96AA-477C-A17A-059AB6E3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ADAC4-3D69-4E9F-9D47-06FFFABF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25ACF-D628-48FA-B4D5-342FAD68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B6D18-AF88-4C96-A615-881BFF41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137C2-FDC2-46E9-9A61-FF7661C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E23C3-6A51-4E09-9A9C-A2700739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5C410-9790-4ABD-AE30-90F4822B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411681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F025B-3692-47AA-A9B7-0CD80FE6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AE652-93FA-49BF-9963-26FBD752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4BE47-46E2-41E3-AF8A-0702205B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A4337-310B-4516-99D7-6C918108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D09FA-C2A7-4F0F-A437-15A4148C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B4987-0690-4239-BA5A-AB2C4C99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2EECE-2AE9-4DF3-91B3-0564737C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36EA3-41CE-4042-A620-7FB8707B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8C61F-DCEF-4B71-80EA-AB2D2741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F47D0-0922-4C69-8752-E36A46DF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7EDA9-710A-4EED-814D-8AAB882E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CB168-B001-46EA-A6B6-C914118D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D1047-E80E-4EA0-99D7-EB17B3AA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529FA-F0B1-4BB0-AEC5-08364353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1BC00-7C17-4D77-98D5-A3255521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modelo BPMN de HH-14 contrastado con una instancia real, con colas, handoffs, excepciones, compensación y una hipótesis de mejora end-to-end.</a:t>
            </a:r>
          </a:p>
        </p:txBody>
      </p:sp>
    </p:spTree>
    <p:extLst>
      <p:ext uri="{BB962C8B-B14F-4D97-AF65-F5344CB8AC3E}">
        <p14:creationId xmlns:p14="http://schemas.microsoft.com/office/powerpoint/2010/main" val="1306945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2026-09-14T03:54:25.5650000Z</dcterms:created>
  <dcterms:modified xsi:type="dcterms:W3CDTF">2026-09-14T03:54:25.5650000Z</dcterms:modified>
</coreProperties>
</file>