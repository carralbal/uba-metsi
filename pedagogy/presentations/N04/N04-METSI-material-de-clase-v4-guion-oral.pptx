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0c40cf0b244aaf" /><Relationship Type="http://schemas.openxmlformats.org/officeDocument/2006/relationships/extended-properties" Target="/docProps/app.xml" Id="Rc29d28f5a76f472e" /><Relationship Type="http://schemas.openxmlformats.org/officeDocument/2006/relationships/officeDocument" Target="/ppt/presentation.xml" Id="R350580b3698741ec" /></Relationships>
</file>

<file path=ppt/presentation.xml><?xml version="1.0" encoding="utf-8"?>
<p:presentation xmlns:p="http://schemas.openxmlformats.org/presentationml/2006/main">
  <p:sldMasterIdLst>
    <p:sldMasterId xmlns:r="http://schemas.openxmlformats.org/officeDocument/2006/relationships" id="2147483648" r:id="R7cd525ef57774a1c"/>
  </p:sldMasterIdLst>
  <p:notesMasterIdLst>
    <p:notesMasterId xmlns:r="http://schemas.openxmlformats.org/officeDocument/2006/relationships" r:id="Rcfa637ffdd284a80"/>
  </p:notesMasterIdLst>
  <p:sldIdLst>
    <p:sldId xmlns:r="http://schemas.openxmlformats.org/officeDocument/2006/relationships" id="256" r:id="R9e7574fbd43340ad"/>
    <p:sldId xmlns:r="http://schemas.openxmlformats.org/officeDocument/2006/relationships" id="257" r:id="R67bb639001e44361"/>
    <p:sldId xmlns:r="http://schemas.openxmlformats.org/officeDocument/2006/relationships" id="258" r:id="R7ebce0cb010e45aa"/>
    <p:sldId xmlns:r="http://schemas.openxmlformats.org/officeDocument/2006/relationships" id="259" r:id="R6cc623e1e3a64ebf"/>
    <p:sldId xmlns:r="http://schemas.openxmlformats.org/officeDocument/2006/relationships" id="260" r:id="Rf6ec53e88de84805"/>
    <p:sldId xmlns:r="http://schemas.openxmlformats.org/officeDocument/2006/relationships" id="261" r:id="Rec5408151b9c4c3b"/>
    <p:sldId xmlns:r="http://schemas.openxmlformats.org/officeDocument/2006/relationships" id="262" r:id="Ra432cde341be4285"/>
    <p:sldId xmlns:r="http://schemas.openxmlformats.org/officeDocument/2006/relationships" id="263" r:id="Rceab0a4d84364e10"/>
    <p:sldId xmlns:r="http://schemas.openxmlformats.org/officeDocument/2006/relationships" id="264" r:id="Reae8c602e3bf464d"/>
    <p:sldId xmlns:r="http://schemas.openxmlformats.org/officeDocument/2006/relationships" id="265" r:id="R0762a6c7ad584d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87ca49873746a6" /><Relationship Type="http://schemas.openxmlformats.org/officeDocument/2006/relationships/slideMaster" Target="/ppt/slideMasters/slideMaster1.xml" Id="R7cd525ef57774a1c" /><Relationship Type="http://schemas.openxmlformats.org/officeDocument/2006/relationships/notesMaster" Target="/ppt/notesMasters/notesMaster1.xml" Id="Rcfa637ffdd284a80" /><Relationship Type="http://schemas.openxmlformats.org/officeDocument/2006/relationships/presProps" Target="/ppt/presProps.xml" Id="R6f6a9d4a767942f3" /><Relationship Type="http://schemas.openxmlformats.org/officeDocument/2006/relationships/tableStyles" Target="/ppt/tableStyles.xml" Id="R12e353168732425b" /><Relationship Type="http://schemas.openxmlformats.org/officeDocument/2006/relationships/slide" Target="/ppt/slides/slide1.xml" Id="R9e7574fbd43340ad" /><Relationship Type="http://schemas.openxmlformats.org/officeDocument/2006/relationships/slide" Target="/ppt/slides/slide2.xml" Id="R67bb639001e44361" /><Relationship Type="http://schemas.openxmlformats.org/officeDocument/2006/relationships/slide" Target="/ppt/slides/slide3.xml" Id="R7ebce0cb010e45aa" /><Relationship Type="http://schemas.openxmlformats.org/officeDocument/2006/relationships/slide" Target="/ppt/slides/slide4.xml" Id="R6cc623e1e3a64ebf" /><Relationship Type="http://schemas.openxmlformats.org/officeDocument/2006/relationships/slide" Target="/ppt/slides/slide5.xml" Id="Rf6ec53e88de84805" /><Relationship Type="http://schemas.openxmlformats.org/officeDocument/2006/relationships/slide" Target="/ppt/slides/slide6.xml" Id="Rec5408151b9c4c3b" /><Relationship Type="http://schemas.openxmlformats.org/officeDocument/2006/relationships/slide" Target="/ppt/slides/slide7.xml" Id="Ra432cde341be4285" /><Relationship Type="http://schemas.openxmlformats.org/officeDocument/2006/relationships/slide" Target="/ppt/slides/slide8.xml" Id="Rceab0a4d84364e10" /><Relationship Type="http://schemas.openxmlformats.org/officeDocument/2006/relationships/slide" Target="/ppt/slides/slide9.xml" Id="Reae8c602e3bf464d" /><Relationship Type="http://schemas.openxmlformats.org/officeDocument/2006/relationships/slide" Target="/ppt/slides/slide10.xml" Id="R0762a6c7ad584d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c59a4fd0d243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99126fbccf4b82" /><Relationship Type="http://schemas.openxmlformats.org/officeDocument/2006/relationships/notesMaster" Target="/ppt/notesMasters/notesMaster1.xml" Id="R25da1c5f193945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7314daeb204aa9" /><Relationship Type="http://schemas.openxmlformats.org/officeDocument/2006/relationships/notesMaster" Target="/ppt/notesMasters/notesMaster1.xml" Id="R58cc320503834b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0224d0aa2f420a" /><Relationship Type="http://schemas.openxmlformats.org/officeDocument/2006/relationships/notesMaster" Target="/ppt/notesMasters/notesMaster1.xml" Id="R2d436e7fecb647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78c2d618f74a6f" /><Relationship Type="http://schemas.openxmlformats.org/officeDocument/2006/relationships/notesMaster" Target="/ppt/notesMasters/notesMaster1.xml" Id="R8be75f040f8848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efb21f2f814177" /><Relationship Type="http://schemas.openxmlformats.org/officeDocument/2006/relationships/notesMaster" Target="/ppt/notesMasters/notesMaster1.xml" Id="Rdf9043a2f6954f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7409013dee4896" /><Relationship Type="http://schemas.openxmlformats.org/officeDocument/2006/relationships/notesMaster" Target="/ppt/notesMasters/notesMaster1.xml" Id="R2b4ac9412a4f4a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ee302f5d7c41b6" /><Relationship Type="http://schemas.openxmlformats.org/officeDocument/2006/relationships/notesMaster" Target="/ppt/notesMasters/notesMaster1.xml" Id="Rfa6512447e0944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1d1e020fb5412a" /><Relationship Type="http://schemas.openxmlformats.org/officeDocument/2006/relationships/notesMaster" Target="/ppt/notesMasters/notesMaster1.xml" Id="R5c21096e36bc42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334c9676df408c" /><Relationship Type="http://schemas.openxmlformats.org/officeDocument/2006/relationships/notesMaster" Target="/ppt/notesMasters/notesMaster1.xml" Id="R7d93b3fd89e349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9423ebf9734535" /><Relationship Type="http://schemas.openxmlformats.org/officeDocument/2006/relationships/notesMaster" Target="/ppt/notesMasters/notesMaster1.xml" Id="Rb1b2a541695f40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Hoy vamos a trabajar sobre Hechos, síntomas, relatos, hipótesis y decisiones.</a:t>
            </a:r>
          </a:p>
          <a:p xmlns:a="http://schemas.openxmlformats.org/drawingml/2006/main">
            <a:r>
              <a:t/>
            </a:r>
          </a:p>
          <a:p xmlns:a="http://schemas.openxmlformats.org/drawingml/2006/main">
            <a:r>
              <a:t>Quiero empezar con una pregunta. ¿Cómo evitar que una afirmación convincente, una métrica precisa o una respuesta generada se conviertan prematuramente en “la verdad” del proyecto?</a:t>
            </a:r>
          </a:p>
          <a:p xmlns:a="http://schemas.openxmlformats.org/drawingml/2006/main">
            <a:r>
              <a:t/>
            </a:r>
          </a:p>
          <a:p xmlns:a="http://schemas.openxmlformats.org/drawingml/2006/main">
            <a:r>
              <a:t>Tómense un minuto para responder con sus propias palabras. No busquen una definición perfecta ni traten de adivinar qué respuesta espero. Anoten qué creen ahora y qué dato les falta para estar más seguros.</a:t>
            </a:r>
          </a:p>
          <a:p xmlns:a="http://schemas.openxmlformats.org/drawingml/2006/main">
            <a:r>
              <a:t/>
            </a:r>
          </a:p>
          <a:p xmlns:a="http://schemas.openxmlformats.org/drawingml/2006/main">
            <a:r>
              <a:t>Mientras trabajan, tengan presentes estas dos preguntas. ¿Qué observó esta fuente y qué sólo interpretó? ¿Qué transformación produjo este número?</a:t>
            </a:r>
          </a:p>
          <a:p xmlns:a="http://schemas.openxmlformats.org/drawingml/2006/main">
            <a:r>
              <a:t/>
            </a:r>
          </a:p>
          <a:p xmlns:a="http://schemas.openxmlformats.org/drawingml/2006/main">
            <a:r>
              <a:t>Después vamos a comparar las respuestas. Si aparecen posiciones distintas, esa diferencia nos va a servir para reconocer los supuestos con los que cada uno llegó al encuentro.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Vamos a empezar con una primera toma de posición.</a:t>
            </a:r>
          </a:p>
          <a:p xmlns:a="http://schemas.openxmlformats.org/drawingml/2006/main">
            <a:r>
              <a:t/>
            </a:r>
          </a:p>
          <a:p xmlns:a="http://schemas.openxmlformats.org/drawingml/2006/main">
            <a:r>
              <a:t>Cada equipo recibe nueve enunciados de HH-04 sin etiquetas. Debe ordenarlos como observación, fuente, dato, síntoma, interpretación, hipótesis, supuesto, restricción y decisión. Cada desacuerdo queda registrado.</a:t>
            </a:r>
          </a:p>
          <a:p xmlns:a="http://schemas.openxmlformats.org/drawingml/2006/main">
            <a:r>
              <a:t/>
            </a:r>
          </a:p>
          <a:p xmlns:a="http://schemas.openxmlformats.org/drawingml/2006/main">
            <a:r>
              <a:t>La primera respuesta funciona como una referencia. Más adelante podremos ver si cambió y por qué.</a:t>
            </a:r>
          </a:p>
          <a:p xmlns:a="http://schemas.openxmlformats.org/drawingml/2006/main">
            <a:r>
              <a:t/>
            </a:r>
          </a:p>
          <a:p xmlns:a="http://schemas.openxmlformats.org/drawingml/2006/main">
            <a:r>
              <a:t>Tenemos 12 minutos para esta parte.</a:t>
            </a:r>
          </a:p>
          <a:p xmlns:a="http://schemas.openxmlformats.org/drawingml/2006/main">
            <a:r>
              <a:t/>
            </a:r>
          </a:p>
          <a:p xmlns:a="http://schemas.openxmlformats.org/drawingml/2006/main">
            <a:r>
              <a:t>Mientras trabajan, tengan presentes estas dos preguntas. ¿Qué transformación produjo este número? ¿Qué tendría que ser verdad para que el rastro sostenga la conclusión?</a:t>
            </a:r>
          </a:p>
          <a:p xmlns:a="http://schemas.openxmlformats.org/drawingml/2006/main">
            <a:r>
              <a:t/>
            </a:r>
          </a:p>
          <a:p xmlns:a="http://schemas.openxmlformats.org/drawingml/2006/main">
            <a:r>
              <a:t>Cuando todos hayan dejado una posición visible, seguimos.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Ahora vamos a poner en común lo que cada uno vio y a comparar diferencias.</a:t>
            </a:r>
          </a:p>
          <a:p xmlns:a="http://schemas.openxmlformats.org/drawingml/2006/main">
            <a:r>
              <a:t/>
            </a:r>
          </a:p>
          <a:p xmlns:a="http://schemas.openxmlformats.org/drawingml/2006/main">
            <a:r>
              <a:t>Los equipos reconstruyen cómo el episodio se convirtió en evento, indicador, correo ejecutivo y recomendación. En cada paso anotan qué se conservó, qué se perdió y qué autoridad ganó la afirmación.</a:t>
            </a:r>
          </a:p>
          <a:p xmlns:a="http://schemas.openxmlformats.org/drawingml/2006/main">
            <a:r>
              <a:t/>
            </a:r>
          </a:p>
          <a:p xmlns:a="http://schemas.openxmlformats.org/drawingml/2006/main">
            <a:r>
              <a:t>No intenten borrar el desacuerdo demasiado rápido. Una diferencia puede mostrar que estamos usando criterios distintos o mirando consecuencias diferentes.</a:t>
            </a:r>
          </a:p>
          <a:p xmlns:a="http://schemas.openxmlformats.org/drawingml/2006/main">
            <a:r>
              <a:t/>
            </a:r>
          </a:p>
          <a:p xmlns:a="http://schemas.openxmlformats.org/drawingml/2006/main">
            <a:r>
              <a:t>Tenemos 16 minutos para esta parte.</a:t>
            </a:r>
          </a:p>
          <a:p xmlns:a="http://schemas.openxmlformats.org/drawingml/2006/main">
            <a:r>
              <a:t/>
            </a:r>
          </a:p>
          <a:p xmlns:a="http://schemas.openxmlformats.org/drawingml/2006/main">
            <a:r>
              <a:t>Mientras trabajan, tengan presentes estas dos preguntas. ¿Qué tendría que ser verdad para que el rastro sostenga la conclusión? ¿Estas fuentes son independientes o repiten el mismo origen?</a:t>
            </a:r>
          </a:p>
          <a:p xmlns:a="http://schemas.openxmlformats.org/drawingml/2006/main">
            <a:r>
              <a:t/>
            </a:r>
          </a:p>
          <a:p xmlns:a="http://schemas.openxmlformats.org/drawingml/2006/main">
            <a:r>
              <a:t>Antes de continuar, quiero que cada equipo pueda señalar por lo menos una diferencia que cambiaría una decisión.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Detengámonos en la distinción que necesitamos para poder decidir mejor.</a:t>
            </a:r>
          </a:p>
          <a:p xmlns:a="http://schemas.openxmlformats.org/drawingml/2006/main">
            <a:r>
              <a:t/>
            </a:r>
          </a:p>
          <a:p xmlns:a="http://schemas.openxmlformats.org/drawingml/2006/main">
            <a:r>
              <a:t>Ahora voy a utilizar una producción real para separar: confiabilidad del procedimiento. Validez de la representación. Utilidad para una decisión concreta. La intervención termina cuando el grupo puede producir un ejemplo en el que las tres evaluaciones difieran.</a:t>
            </a:r>
          </a:p>
          <a:p xmlns:a="http://schemas.openxmlformats.org/drawingml/2006/main">
            <a:r>
              <a:t/>
            </a:r>
          </a:p>
          <a:p xmlns:a="http://schemas.openxmlformats.org/drawingml/2006/main">
            <a:r>
              <a:t>No necesitamos repasar toda la lectura. Vamos a usar el concepto solamente donde ayuda a interpretar lo que tenemos delante.</a:t>
            </a:r>
          </a:p>
          <a:p xmlns:a="http://schemas.openxmlformats.org/drawingml/2006/main">
            <a:r>
              <a:t/>
            </a:r>
          </a:p>
          <a:p xmlns:a="http://schemas.openxmlformats.org/drawingml/2006/main">
            <a:r>
              <a:t>Tenemos 10 minutos para esta parte.</a:t>
            </a:r>
          </a:p>
          <a:p xmlns:a="http://schemas.openxmlformats.org/drawingml/2006/main">
            <a:r>
              <a:t/>
            </a:r>
          </a:p>
          <a:p xmlns:a="http://schemas.openxmlformats.org/drawingml/2006/main">
            <a:r>
              <a:t>Mientras trabajan, tengan presentes estas dos preguntas. ¿Estas fuentes son independientes o repiten el mismo origen? ¿Qué población o episodio quedó excluido?</a:t>
            </a:r>
          </a:p>
          <a:p xmlns:a="http://schemas.openxmlformats.org/drawingml/2006/main">
            <a:r>
              <a:t/>
            </a:r>
          </a:p>
          <a:p xmlns:a="http://schemas.openxmlformats.org/drawingml/2006/main">
            <a:r>
              <a:t>Seguimos cuando la distinción pueda explicarse con un ejemplo del caso y no solamente con una definición.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 esa distinción disponible, vamos a reconstruir el problema sobre un caso concreto.</a:t>
            </a:r>
          </a:p>
          <a:p xmlns:a="http://schemas.openxmlformats.org/drawingml/2006/main">
            <a:r>
              <a:t/>
            </a:r>
          </a:p>
          <a:p xmlns:a="http://schemas.openxmlformats.org/drawingml/2006/main">
            <a:r>
              <a:t>Cada equipo recibe una decisión y un presupuesto limitado para solicitar sobres. Antes de abrir cada uno debe declarar qué hipótesis podría fortalecer o debilitar. Comprar volumen sin propósito consume presupuesto y no agrega puntuación.</a:t>
            </a:r>
          </a:p>
          <a:p xmlns:a="http://schemas.openxmlformats.org/drawingml/2006/main">
            <a:r>
              <a:t/>
            </a:r>
          </a:p>
          <a:p xmlns:a="http://schemas.openxmlformats.org/drawingml/2006/main">
            <a:r>
              <a:t>Busquen relaciones que otra persona pueda seguir. Una afirmación gana valor cuando podemos mostrar en qué evidencia se apoya y qué decisión modifica.</a:t>
            </a:r>
          </a:p>
          <a:p xmlns:a="http://schemas.openxmlformats.org/drawingml/2006/main">
            <a:r>
              <a:t/>
            </a:r>
          </a:p>
          <a:p xmlns:a="http://schemas.openxmlformats.org/drawingml/2006/main">
            <a:r>
              <a:t>Tenemos 18 minutos para esta parte.</a:t>
            </a:r>
          </a:p>
          <a:p xmlns:a="http://schemas.openxmlformats.org/drawingml/2006/main">
            <a:r>
              <a:t/>
            </a:r>
          </a:p>
          <a:p xmlns:a="http://schemas.openxmlformats.org/drawingml/2006/main">
            <a:r>
              <a:t>Mientras trabajan, tengan presentes estas dos preguntas. ¿Qué población o episodio quedó excluido? ¿Qué decisión cambia si la afirmación se debilita?</a:t>
            </a:r>
          </a:p>
          <a:p xmlns:a="http://schemas.openxmlformats.org/drawingml/2006/main">
            <a:r>
              <a:t/>
            </a:r>
          </a:p>
          <a:p xmlns:a="http://schemas.openxmlformats.org/drawingml/2006/main">
            <a:r>
              <a:t>Antes de avanzar, dejen la producción en una forma que otro equipo pueda leer y revisar.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Voy a incorporar información nueva. La idea es observar si nuestra explicación resiste o necesita cambiar.</a:t>
            </a:r>
          </a:p>
          <a:p xmlns:a="http://schemas.openxmlformats.org/drawingml/2006/main">
            <a:r>
              <a:t/>
            </a:r>
          </a:p>
          <a:p xmlns:a="http://schemas.openxmlformats.org/drawingml/2006/main">
            <a:r>
              <a:t>Otro equipo examina si las fuentes elegidas son realmente independientes. Debe detectar copias, resúmenes o transformaciones que provienen del mismo rastro original y reformular la triangulación.</a:t>
            </a:r>
          </a:p>
          <a:p xmlns:a="http://schemas.openxmlformats.org/drawingml/2006/main">
            <a:r>
              <a:t/>
            </a:r>
          </a:p>
          <a:p xmlns:a="http://schemas.openxmlformats.org/drawingml/2006/main">
            <a:r>
              <a:t>Cambiar de posición frente a evidencia nueva no es un error. Es una señal de que el razonamiento permanece abierto a revisión.</a:t>
            </a:r>
          </a:p>
          <a:p xmlns:a="http://schemas.openxmlformats.org/drawingml/2006/main">
            <a:r>
              <a:t/>
            </a:r>
          </a:p>
          <a:p xmlns:a="http://schemas.openxmlformats.org/drawingml/2006/main">
            <a:r>
              <a:t>Tenemos 15 minutos para esta parte.</a:t>
            </a:r>
          </a:p>
          <a:p xmlns:a="http://schemas.openxmlformats.org/drawingml/2006/main">
            <a:r>
              <a:t/>
            </a:r>
          </a:p>
          <a:p xmlns:a="http://schemas.openxmlformats.org/drawingml/2006/main">
            <a:r>
              <a:t>Mientras trabajan, tengan presentes estas dos preguntas. ¿Qué decisión cambia si la afirmación se debilita? ¿Qué evidencia permitiría refutar la explicación preferida?</a:t>
            </a:r>
          </a:p>
          <a:p xmlns:a="http://schemas.openxmlformats.org/drawingml/2006/main">
            <a:r>
              <a:t/>
            </a:r>
          </a:p>
          <a:p xmlns:a="http://schemas.openxmlformats.org/drawingml/2006/main">
            <a:r>
              <a:t>Anoten con claridad qué cambió, qué se mantiene y qué decisión queda habilitada por la evidencia nueva.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Llegó el momento de revisar el trabajo de otro equipo con cuidado y con evidencia.</a:t>
            </a:r>
          </a:p>
          <a:p xmlns:a="http://schemas.openxmlformats.org/drawingml/2006/main">
            <a:r>
              <a:t/>
            </a:r>
          </a:p>
          <a:p xmlns:a="http://schemas.openxmlformats.org/drawingml/2006/main">
            <a:r>
              <a:t>Tres subgrupos sostienen, respectivamente, falla técnica, incompatibilidad semántica y promesa comercial desacoplada. Cada uno presenta: evidencia favorable. Evidencia que lo debilita. Puente inferencial. Supuesto crítico. Dato ausente de mayor valor. Un jurado no elige la historia más persuasiva. Decide qué explicación tiene mejor sustento, cuál sigue viva y qué no puede concluirse todavía.</a:t>
            </a:r>
          </a:p>
          <a:p xmlns:a="http://schemas.openxmlformats.org/drawingml/2006/main">
            <a:r>
              <a:t/>
            </a:r>
          </a:p>
          <a:p xmlns:a="http://schemas.openxmlformats.org/drawingml/2006/main">
            <a:r>
              <a:t>Una buena objeción no reemplaza el trabajo ajeno. Señala una relación débil y propone qué observación permitiría examinarla.</a:t>
            </a:r>
          </a:p>
          <a:p xmlns:a="http://schemas.openxmlformats.org/drawingml/2006/main">
            <a:r>
              <a:t/>
            </a:r>
          </a:p>
          <a:p xmlns:a="http://schemas.openxmlformats.org/drawingml/2006/main">
            <a:r>
              <a:t>Tenemos 24 minutos para esta parte.</a:t>
            </a:r>
          </a:p>
          <a:p xmlns:a="http://schemas.openxmlformats.org/drawingml/2006/main">
            <a:r>
              <a:t/>
            </a:r>
          </a:p>
          <a:p xmlns:a="http://schemas.openxmlformats.org/drawingml/2006/main">
            <a:r>
              <a:t>Mientras trabajan, tengan presentes estas dos preguntas. ¿Qué evidencia permitiría refutar la explicación preferida? ¿Quién tiene autoridad para cuestionar el dato?</a:t>
            </a:r>
          </a:p>
          <a:p xmlns:a="http://schemas.openxmlformats.org/drawingml/2006/main">
            <a:r>
              <a:t/>
            </a:r>
          </a:p>
          <a:p xmlns:a="http://schemas.openxmlformats.org/drawingml/2006/main">
            <a:r>
              <a:t>La revisión termina cuando la objeción señala una relación concreta y propone una prueba posible.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Vamos a defender una posición provisional y a explicar en qué evidencia se apoya.</a:t>
            </a:r>
          </a:p>
          <a:p xmlns:a="http://schemas.openxmlformats.org/drawingml/2006/main">
            <a:r>
              <a:t/>
            </a:r>
          </a:p>
          <a:p xmlns:a="http://schemas.openxmlformats.org/drawingml/2006/main">
            <a:r>
              <a:t>Cada equipo completa afirmación, evidencia, decisión y revisión. Debe autorizar una acción proporcionada, asignar responsable, plazo y señal de revisión, y declarar qué decisión más amplia continúa vedada.</a:t>
            </a:r>
          </a:p>
          <a:p xmlns:a="http://schemas.openxmlformats.org/drawingml/2006/main">
            <a:r>
              <a:t/>
            </a:r>
          </a:p>
          <a:p xmlns:a="http://schemas.openxmlformats.org/drawingml/2006/main">
            <a:r>
              <a:t>Sean breves y específicos. Necesitamos escuchar qué sostienen, con qué evidencia y bajo qué condición aceptarían revisar la decisión.</a:t>
            </a:r>
          </a:p>
          <a:p xmlns:a="http://schemas.openxmlformats.org/drawingml/2006/main">
            <a:r>
              <a:t/>
            </a:r>
          </a:p>
          <a:p xmlns:a="http://schemas.openxmlformats.org/drawingml/2006/main">
            <a:r>
              <a:t>Tenemos 17 minutos para esta parte.</a:t>
            </a:r>
          </a:p>
          <a:p xmlns:a="http://schemas.openxmlformats.org/drawingml/2006/main">
            <a:r>
              <a:t/>
            </a:r>
          </a:p>
          <a:p xmlns:a="http://schemas.openxmlformats.org/drawingml/2006/main">
            <a:r>
              <a:t>Mientras trabajan, tengan presentes estas dos preguntas. ¿Quién tiene autoridad para cuestionar el dato? ¿Qué observó esta fuente y qué sólo interpretó?</a:t>
            </a:r>
          </a:p>
          <a:p xmlns:a="http://schemas.openxmlformats.org/drawingml/2006/main">
            <a:r>
              <a:t/>
            </a:r>
          </a:p>
          <a:p xmlns:a="http://schemas.openxmlformats.org/drawingml/2006/main">
            <a:r>
              <a:t>Cada equipo cierra cuando puede sostener una decisión provisional y también puede nombrar su límite.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terminar esta secuencia, vamos a registrar qué cambió y qué pregunta queda abierta.</a:t>
            </a:r>
          </a:p>
          <a:p xmlns:a="http://schemas.openxmlformats.org/drawingml/2006/main">
            <a:r>
              <a:t/>
            </a:r>
          </a:p>
          <a:p xmlns:a="http://schemas.openxmlformats.org/drawingml/2006/main">
            <a:r>
              <a:t>Cada persona reescribe una frase de su expediente con un verbo que revele su estatus: observamos, estimamos, inferimos, suponemos o recomendamos. Luego identifica qué actor pudo producir o cuestionar evidencia, preparando N05.</a:t>
            </a:r>
          </a:p>
          <a:p xmlns:a="http://schemas.openxmlformats.org/drawingml/2006/main">
            <a:r>
              <a:t/>
            </a:r>
          </a:p>
          <a:p xmlns:a="http://schemas.openxmlformats.org/drawingml/2006/main">
            <a:r>
              <a:t>El registro final importa porque nos permite reconstruir el aprendizaje sin depender de la memoria del momento.</a:t>
            </a:r>
          </a:p>
          <a:p xmlns:a="http://schemas.openxmlformats.org/drawingml/2006/main">
            <a:r>
              <a:t/>
            </a:r>
          </a:p>
          <a:p xmlns:a="http://schemas.openxmlformats.org/drawingml/2006/main">
            <a:r>
              <a:t>Tenemos 8 minutos para esta parte.</a:t>
            </a:r>
          </a:p>
          <a:p xmlns:a="http://schemas.openxmlformats.org/drawingml/2006/main">
            <a:r>
              <a:t/>
            </a:r>
          </a:p>
          <a:p xmlns:a="http://schemas.openxmlformats.org/drawingml/2006/main">
            <a:r>
              <a:t>Mientras trabajan, tengan presentes estas dos preguntas. ¿Qué observó esta fuente y qué sólo interpretó? ¿Qué transformación produjo este número?</a:t>
            </a:r>
          </a:p>
          <a:p xmlns:a="http://schemas.openxmlformats.org/drawingml/2006/main">
            <a:r>
              <a:t/>
            </a:r>
          </a:p>
          <a:p xmlns:a="http://schemas.openxmlformats.org/drawingml/2006/main">
            <a:r>
              <a:t>Antes de terminar, dejen por escrito qué aprendieron y qué evidencia todavía podría cambiar su posición.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cerrar, vuelvan por un momento a la respuesta que dieron al comienzo.</a:t>
            </a:r>
          </a:p>
          <a:p xmlns:a="http://schemas.openxmlformats.org/drawingml/2006/main">
            <a:r>
              <a:t/>
            </a:r>
          </a:p>
          <a:p xmlns:a="http://schemas.openxmlformats.org/drawingml/2006/main">
            <a:r>
              <a:t>Completen estas tres frases con una idea concreta. Antes pensaba. Ahora sostengo. Todavía revisaría mi posición si apareciera determinada evidencia.</a:t>
            </a:r>
          </a:p>
          <a:p xmlns:a="http://schemas.openxmlformats.org/drawingml/2006/main">
            <a:r>
              <a:t/>
            </a:r>
          </a:p>
          <a:p xmlns:a="http://schemas.openxmlformats.org/drawingml/2006/main">
            <a:r>
              <a:t>No hace falta mostrar una conclusión definitiva. Lo importante es poder explicar qué cambió, qué produjo ese cambio y qué pregunta sigue abierta.</a:t>
            </a:r>
          </a:p>
          <a:p xmlns:a="http://schemas.openxmlformats.org/drawingml/2006/main">
            <a:r>
              <a:t/>
            </a:r>
          </a:p>
          <a:p xmlns:a="http://schemas.openxmlformats.org/drawingml/2006/main">
            <a:r>
              <a:t>El resultado que buscamos hoy es este. Cada equipo entrega un registro AED de HH-04 que conserva procedencia, contrasta explicaciones rivales y autoriza una decisión acotada con una condición explícita de revisión.</a:t>
            </a:r>
          </a:p>
          <a:p xmlns:a="http://schemas.openxmlformats.org/drawingml/2006/main">
            <a:r>
              <a:t/>
            </a:r>
          </a:p>
          <a:p xmlns:a="http://schemas.openxmlformats.org/drawingml/2006/main">
            <a:r>
              <a:t>Dejen ese registro por escrito. Va a ser el punto de partida para el próximo encuentro y una huella del recorrido que estamos construyendo.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10515b3ec6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33fc1c4acc439e" /><Relationship Type="http://schemas.openxmlformats.org/officeDocument/2006/relationships/slideLayout" Target="/ppt/slideLayouts/slideLayout1.xml" Id="Re5e3ec5ac3db4ee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e3ec5ac3db4ee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16ff2262cd468a" /><Relationship Type="http://schemas.openxmlformats.org/officeDocument/2006/relationships/notesSlide" Target="/ppt/notesSlides/notesSlide1.xml" Id="Rf86b98fb55ac47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47d0b2bb2c4640" /><Relationship Type="http://schemas.openxmlformats.org/officeDocument/2006/relationships/notesSlide" Target="/ppt/notesSlides/notesSlide2.xml" Id="Rbfb7aff9ed5e4c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d8d7ef33064968" /><Relationship Type="http://schemas.openxmlformats.org/officeDocument/2006/relationships/notesSlide" Target="/ppt/notesSlides/notesSlide3.xml" Id="Rdf057727b4004c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98683ec7664b6d" /><Relationship Type="http://schemas.openxmlformats.org/officeDocument/2006/relationships/notesSlide" Target="/ppt/notesSlides/notesSlide4.xml" Id="R04e16c0b1ad44d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4d6cb635b24ef3" /><Relationship Type="http://schemas.openxmlformats.org/officeDocument/2006/relationships/notesSlide" Target="/ppt/notesSlides/notesSlide5.xml" Id="R335fb796e29d48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1ae87a0bb44bd4" /><Relationship Type="http://schemas.openxmlformats.org/officeDocument/2006/relationships/notesSlide" Target="/ppt/notesSlides/notesSlide6.xml" Id="Re4d42176b66d42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8d075930b14938" /><Relationship Type="http://schemas.openxmlformats.org/officeDocument/2006/relationships/notesSlide" Target="/ppt/notesSlides/notesSlide7.xml" Id="R6ac9f901773745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b9937584ea463f" /><Relationship Type="http://schemas.openxmlformats.org/officeDocument/2006/relationships/notesSlide" Target="/ppt/notesSlides/notesSlide8.xml" Id="R0a5cfb6c154b43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6af7f12a03b47ae" /><Relationship Type="http://schemas.openxmlformats.org/officeDocument/2006/relationships/notesSlide" Target="/ppt/notesSlides/notesSlide9.xml" Id="Rb443bf5cb7bf48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0fa9d5c0f14193" /><Relationship Type="http://schemas.openxmlformats.org/officeDocument/2006/relationships/notesSlide" Target="/ppt/notesSlides/notesSlide10.xml" Id="R892db8aa91024659" /></Relationships>
</file>

<file path=ppt/slides/slide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91DDDC7-EE7B-4B1F-8AD7-58916A3A062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CE84FD-3635-4A7A-BB0B-178BAE01E9C8}"/>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750B8BBF-FE08-41A0-8ADE-08519B484F46}"/>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01</a:t>
            </a:r>
          </a:p>
        </p:txBody>
      </p:sp>
      <p:sp>
        <p:nvSpPr>
          <p:cNvPr id="4" name="">
            <a:extLst xmlns:a="http://schemas.openxmlformats.org/drawingml/2006/main">
              <a:ext uri="{FF2B5EF4-FFF2-40B4-BE49-F238E27FC236}">
                <a16:creationId xmlns:a16="http://schemas.microsoft.com/office/drawing/2014/main" id="{7FD309B5-BEFC-4C97-87B0-1002C385AA58}"/>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FD93F906-5BA9-4363-B6AB-D6BB54DBE386}"/>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A38727-1785-4C26-A251-20C56449E018}"/>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88C56A9-FC37-49F8-B205-E7F74C920474}"/>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65ACE682-80E3-4B22-89A8-EA29E2B518BC}"/>
              </a:ext>
            </a:extLst>
          </p:cNvPr>
          <p:cNvSpPr>
            <a:spLocks xmlns:a="http://schemas.openxmlformats.org/drawingml/2006/main" noGrp="1"/>
          </p:cNvSpPr>
          <p:nvPr/>
        </p:nvSpPr>
        <p:spPr>
          <a:xfrm xmlns:a="http://schemas.openxmlformats.org/drawingml/2006/main">
            <a:off x="704850" y="1123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PREGUNTA PROFESIONAL</a:t>
            </a:r>
          </a:p>
        </p:txBody>
      </p:sp>
      <p:sp>
        <p:nvSpPr>
          <p:cNvPr id="9" name="">
            <a:extLst xmlns:a="http://schemas.openxmlformats.org/drawingml/2006/main">
              <a:ext uri="{FF2B5EF4-FFF2-40B4-BE49-F238E27FC236}">
                <a16:creationId xmlns:a16="http://schemas.microsoft.com/office/drawing/2014/main" id="{F915E097-B577-4601-8888-FE82A3351DA7}"/>
              </a:ext>
            </a:extLst>
          </p:cNvPr>
          <p:cNvSpPr>
            <a:spLocks xmlns:a="http://schemas.openxmlformats.org/drawingml/2006/main" noGrp="1"/>
          </p:cNvSpPr>
          <p:nvPr/>
        </p:nvSpPr>
        <p:spPr>
          <a:xfrm xmlns:a="http://schemas.openxmlformats.org/drawingml/2006/main">
            <a:off x="7239000" y="1123950"/>
            <a:ext cx="366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Hechos, síntomas, relatos, hipótesis y decisiones</a:t>
            </a:r>
          </a:p>
        </p:txBody>
      </p:sp>
      <p:sp>
        <p:nvSpPr>
          <p:cNvPr id="10" name="">
            <a:extLst xmlns:a="http://schemas.openxmlformats.org/drawingml/2006/main">
              <a:ext uri="{FF2B5EF4-FFF2-40B4-BE49-F238E27FC236}">
                <a16:creationId xmlns:a16="http://schemas.microsoft.com/office/drawing/2014/main" id="{F328FBAD-7903-4A93-9155-4EAB649A72F5}"/>
              </a:ext>
            </a:extLst>
          </p:cNvPr>
          <p:cNvSpPr>
            <a:spLocks xmlns:a="http://schemas.openxmlformats.org/drawingml/2006/main" noGrp="1"/>
          </p:cNvSpPr>
          <p:nvPr/>
        </p:nvSpPr>
        <p:spPr>
          <a:xfrm xmlns:a="http://schemas.openxmlformats.org/drawingml/2006/main">
            <a:off x="704850" y="1619250"/>
            <a:ext cx="9906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450" b="0" i="0">
                <a:solidFill>
                  <a:srgbClr val="181817"/>
                </a:solidFill>
                <a:latin typeface="Didot"/>
                <a:ea typeface="Didot"/>
                <a:cs typeface="Didot"/>
              </a:defRPr>
            </a:pPr>
            <a:r>
              <a:rPr sz="3450" b="0" i="0">
                <a:solidFill>
                  <a:srgbClr val="181817"/>
                </a:solidFill>
                <a:latin typeface="Didot"/>
                <a:ea typeface="Didot"/>
                <a:cs typeface="Didot"/>
              </a:rPr>
              <a:t>¿Cómo evitar que una afirmación convincente, una métrica precisa o una respuesta generada se conviertan prematuramente en “la verdad” del proyecto?</a:t>
            </a:r>
          </a:p>
        </p:txBody>
      </p:sp>
      <p:sp>
        <p:nvSpPr>
          <p:cNvPr id="11" name="">
            <a:extLst xmlns:a="http://schemas.openxmlformats.org/drawingml/2006/main">
              <a:ext uri="{FF2B5EF4-FFF2-40B4-BE49-F238E27FC236}">
                <a16:creationId xmlns:a16="http://schemas.microsoft.com/office/drawing/2014/main" id="{EB9B4249-0325-4EE9-95AD-89E276471D15}"/>
              </a:ext>
            </a:extLst>
          </p:cNvPr>
          <p:cNvSpPr>
            <a:spLocks xmlns:a="http://schemas.openxmlformats.org/drawingml/2006/main" noGrp="1"/>
          </p:cNvSpPr>
          <p:nvPr/>
        </p:nvSpPr>
        <p:spPr>
          <a:xfrm xmlns:a="http://schemas.openxmlformats.org/drawingml/2006/main">
            <a:off x="704850" y="4895850"/>
            <a:ext cx="838200" cy="9525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EDB1054-E76B-4F96-A70F-12AD3D33BF7E}"/>
              </a:ext>
            </a:extLst>
          </p:cNvPr>
          <p:cNvSpPr>
            <a:spLocks xmlns:a="http://schemas.openxmlformats.org/drawingml/2006/main" noGrp="1"/>
          </p:cNvSpPr>
          <p:nvPr/>
        </p:nvSpPr>
        <p:spPr>
          <a:xfrm xmlns:a="http://schemas.openxmlformats.org/drawingml/2006/main">
            <a:off x="704850" y="5219700"/>
            <a:ext cx="866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i="0">
                <a:solidFill>
                  <a:srgbClr val="5B5D59"/>
                </a:solidFill>
                <a:latin typeface="Avenir"/>
                <a:ea typeface="Avenir"/>
                <a:cs typeface="Avenir"/>
              </a:defRPr>
            </a:pPr>
            <a:r>
              <a:rPr sz="1650" b="0" i="0">
                <a:solidFill>
                  <a:srgbClr val="5B5D59"/>
                </a:solidFill>
                <a:latin typeface="Avenir"/>
                <a:ea typeface="Avenir"/>
                <a:cs typeface="Avenir"/>
              </a:rPr>
              <a:t>Respondé antes de explicar. La primera posición queda registrada para revisarla al cierre.</a:t>
            </a:r>
          </a:p>
        </p:txBody>
      </p:sp>
    </p:spTree>
    <p:extLst>
      <p:ext uri="{BB962C8B-B14F-4D97-AF65-F5344CB8AC3E}">
        <p14:creationId xmlns:p14="http://schemas.microsoft.com/office/powerpoint/2010/main" val="1495116403"/>
      </p:ext>
    </p:extLst>
  </p:cSld>
</p:sld>
</file>

<file path=ppt/slides/slide2.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4BDAD10-F87C-4A24-8FCE-B05B70E8DB8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F46F3C-625B-46DC-9EB9-868D8DAD7F05}"/>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9B7B6C32-05DF-4A41-8998-D9B59D9AD941}"/>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02</a:t>
            </a:r>
          </a:p>
        </p:txBody>
      </p:sp>
      <p:sp>
        <p:nvSpPr>
          <p:cNvPr id="4" name="">
            <a:extLst xmlns:a="http://schemas.openxmlformats.org/drawingml/2006/main">
              <a:ext uri="{FF2B5EF4-FFF2-40B4-BE49-F238E27FC236}">
                <a16:creationId xmlns:a16="http://schemas.microsoft.com/office/drawing/2014/main" id="{B1B24E5E-093C-4B2B-9205-1B81AC24C913}"/>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B234FB0A-3440-4788-BA26-EDB41791FA78}"/>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154353-8C15-4AA9-82C3-A18B2854B021}"/>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B89CE1-B4CF-4688-9087-86565936606E}"/>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52B46990-8B40-42F5-A5F6-E5AF1B094624}"/>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Clasificación ciega</a:t>
            </a:r>
          </a:p>
        </p:txBody>
      </p:sp>
      <p:sp>
        <p:nvSpPr>
          <p:cNvPr id="9" name="">
            <a:extLst xmlns:a="http://schemas.openxmlformats.org/drawingml/2006/main">
              <a:ext uri="{FF2B5EF4-FFF2-40B4-BE49-F238E27FC236}">
                <a16:creationId xmlns:a16="http://schemas.microsoft.com/office/drawing/2014/main" id="{D09C005A-D217-4391-B6F2-6DB477CD7E2C}"/>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168DD834-70BF-43CF-9E45-A4627E472E32}"/>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12 MIN</a:t>
            </a:r>
          </a:p>
        </p:txBody>
      </p:sp>
      <p:sp>
        <p:nvSpPr>
          <p:cNvPr id="11" name="">
            <a:extLst xmlns:a="http://schemas.openxmlformats.org/drawingml/2006/main">
              <a:ext uri="{FF2B5EF4-FFF2-40B4-BE49-F238E27FC236}">
                <a16:creationId xmlns:a16="http://schemas.microsoft.com/office/drawing/2014/main" id="{DE7EFC9E-CC6D-4D62-B30A-08070979E6B8}"/>
              </a:ext>
            </a:extLst>
          </p:cNvPr>
          <p:cNvSpPr>
            <a:spLocks xmlns:a="http://schemas.openxmlformats.org/drawingml/2006/main" noGrp="1"/>
          </p:cNvSpPr>
          <p:nvPr/>
        </p:nvSpPr>
        <p:spPr>
          <a:xfrm xmlns:a="http://schemas.openxmlformats.org/drawingml/2006/main">
            <a:off x="704850" y="1952625"/>
            <a:ext cx="1028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Cada equipo recibe nueve enunciados de HH-04 sin etiquetas. Debe ordenarlos como observación, fuente, dato, síntoma, interpretación, hipótesis, supuesto, restricción y decisión. Cada desacuerdo queda registrado.</a:t>
            </a:r>
          </a:p>
        </p:txBody>
      </p:sp>
      <p:sp>
        <p:nvSpPr>
          <p:cNvPr id="12" name="">
            <a:extLst xmlns:a="http://schemas.openxmlformats.org/drawingml/2006/main">
              <a:ext uri="{FF2B5EF4-FFF2-40B4-BE49-F238E27FC236}">
                <a16:creationId xmlns:a16="http://schemas.microsoft.com/office/drawing/2014/main" id="{CCB52C00-94BB-46C3-892D-2DC303098C5E}"/>
              </a:ext>
            </a:extLst>
          </p:cNvPr>
          <p:cNvSpPr>
            <a:spLocks xmlns:a="http://schemas.openxmlformats.org/drawingml/2006/main" noGrp="1"/>
          </p:cNvSpPr>
          <p:nvPr/>
        </p:nvSpPr>
        <p:spPr>
          <a:xfrm xmlns:a="http://schemas.openxmlformats.org/drawingml/2006/main">
            <a:off x="704850" y="2905125"/>
            <a:ext cx="10763250" cy="2076450"/>
          </a:xfrm>
          <a:prstGeom xmlns:a="http://schemas.openxmlformats.org/drawingml/2006/main" prst="rect">
            <a:avLst/>
          </a:prstGeom>
          <a:solidFill xmlns:a="http://schemas.openxmlformats.org/drawingml/2006/main">
            <a:srgbClr val="E4E6E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41877D5-C319-41DA-A4EE-151B77BDE246}"/>
              </a:ext>
            </a:extLst>
          </p:cNvPr>
          <p:cNvSpPr>
            <a:spLocks xmlns:a="http://schemas.openxmlformats.org/drawingml/2006/main" noGrp="1"/>
          </p:cNvSpPr>
          <p:nvPr/>
        </p:nvSpPr>
        <p:spPr>
          <a:xfrm xmlns:a="http://schemas.openxmlformats.org/drawingml/2006/main">
            <a:off x="1066800" y="3238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POSICIÓN</a:t>
            </a:r>
          </a:p>
        </p:txBody>
      </p:sp>
      <p:sp>
        <p:nvSpPr>
          <p:cNvPr id="14" name="">
            <a:extLst xmlns:a="http://schemas.openxmlformats.org/drawingml/2006/main">
              <a:ext uri="{FF2B5EF4-FFF2-40B4-BE49-F238E27FC236}">
                <a16:creationId xmlns:a16="http://schemas.microsoft.com/office/drawing/2014/main" id="{E61D2AD0-9D16-4AF7-8BF8-639958459C6E}"/>
              </a:ext>
            </a:extLst>
          </p:cNvPr>
          <p:cNvSpPr>
            <a:spLocks xmlns:a="http://schemas.openxmlformats.org/drawingml/2006/main" noGrp="1"/>
          </p:cNvSpPr>
          <p:nvPr/>
        </p:nvSpPr>
        <p:spPr>
          <a:xfrm xmlns:a="http://schemas.openxmlformats.org/drawingml/2006/main">
            <a:off x="1066800" y="3714750"/>
            <a:ext cx="2809875"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E0803C-18EF-433C-8BC3-8AFB28D575E6}"/>
              </a:ext>
            </a:extLst>
          </p:cNvPr>
          <p:cNvSpPr>
            <a:spLocks xmlns:a="http://schemas.openxmlformats.org/drawingml/2006/main" noGrp="1"/>
          </p:cNvSpPr>
          <p:nvPr/>
        </p:nvSpPr>
        <p:spPr>
          <a:xfrm xmlns:a="http://schemas.openxmlformats.org/drawingml/2006/main">
            <a:off x="1066800" y="396240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181817"/>
                </a:solidFill>
                <a:latin typeface="Avenir"/>
                <a:ea typeface="Avenir"/>
                <a:cs typeface="Avenir"/>
              </a:defRPr>
            </a:pPr>
            <a:r>
              <a:rPr sz="1425" b="0" i="0">
                <a:solidFill>
                  <a:srgbClr val="181817"/>
                </a:solidFill>
                <a:latin typeface="Avenir"/>
                <a:ea typeface="Avenir"/>
                <a:cs typeface="Avenir"/>
              </a:rPr>
              <a:t>Una frase antes de debatir.</a:t>
            </a:r>
          </a:p>
        </p:txBody>
      </p:sp>
      <p:sp>
        <p:nvSpPr>
          <p:cNvPr id="16" name="">
            <a:extLst xmlns:a="http://schemas.openxmlformats.org/drawingml/2006/main">
              <a:ext uri="{FF2B5EF4-FFF2-40B4-BE49-F238E27FC236}">
                <a16:creationId xmlns:a16="http://schemas.microsoft.com/office/drawing/2014/main" id="{ABC7FAF9-156E-46AD-BC81-68367435D4D6}"/>
              </a:ext>
            </a:extLst>
          </p:cNvPr>
          <p:cNvSpPr>
            <a:spLocks xmlns:a="http://schemas.openxmlformats.org/drawingml/2006/main" noGrp="1"/>
          </p:cNvSpPr>
          <p:nvPr/>
        </p:nvSpPr>
        <p:spPr>
          <a:xfrm xmlns:a="http://schemas.openxmlformats.org/drawingml/2006/main">
            <a:off x="4448175" y="3238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RAZÓN</a:t>
            </a:r>
          </a:p>
        </p:txBody>
      </p:sp>
      <p:sp>
        <p:nvSpPr>
          <p:cNvPr id="17" name="">
            <a:extLst xmlns:a="http://schemas.openxmlformats.org/drawingml/2006/main">
              <a:ext uri="{FF2B5EF4-FFF2-40B4-BE49-F238E27FC236}">
                <a16:creationId xmlns:a16="http://schemas.microsoft.com/office/drawing/2014/main" id="{02364BD9-3E29-443D-9D89-4613700EEBD4}"/>
              </a:ext>
            </a:extLst>
          </p:cNvPr>
          <p:cNvSpPr>
            <a:spLocks xmlns:a="http://schemas.openxmlformats.org/drawingml/2006/main" noGrp="1"/>
          </p:cNvSpPr>
          <p:nvPr/>
        </p:nvSpPr>
        <p:spPr>
          <a:xfrm xmlns:a="http://schemas.openxmlformats.org/drawingml/2006/main">
            <a:off x="4448175" y="3714750"/>
            <a:ext cx="2809875"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65BE093-9FFE-49BA-859E-DD8E6625D8E1}"/>
              </a:ext>
            </a:extLst>
          </p:cNvPr>
          <p:cNvSpPr>
            <a:spLocks xmlns:a="http://schemas.openxmlformats.org/drawingml/2006/main" noGrp="1"/>
          </p:cNvSpPr>
          <p:nvPr/>
        </p:nvSpPr>
        <p:spPr>
          <a:xfrm xmlns:a="http://schemas.openxmlformats.org/drawingml/2006/main">
            <a:off x="4448175" y="396240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181817"/>
                </a:solidFill>
                <a:latin typeface="Avenir"/>
                <a:ea typeface="Avenir"/>
                <a:cs typeface="Avenir"/>
              </a:defRPr>
            </a:pPr>
            <a:r>
              <a:rPr sz="1425" b="0" i="0">
                <a:solidFill>
                  <a:srgbClr val="181817"/>
                </a:solidFill>
                <a:latin typeface="Avenir"/>
                <a:ea typeface="Avenir"/>
                <a:cs typeface="Avenir"/>
              </a:rPr>
              <a:t>Una relación que otra persona pueda revisar.</a:t>
            </a:r>
          </a:p>
        </p:txBody>
      </p:sp>
      <p:sp>
        <p:nvSpPr>
          <p:cNvPr id="19" name="">
            <a:extLst xmlns:a="http://schemas.openxmlformats.org/drawingml/2006/main">
              <a:ext uri="{FF2B5EF4-FFF2-40B4-BE49-F238E27FC236}">
                <a16:creationId xmlns:a16="http://schemas.microsoft.com/office/drawing/2014/main" id="{29DE9424-C13F-4AF2-BE09-B5194C057BD7}"/>
              </a:ext>
            </a:extLst>
          </p:cNvPr>
          <p:cNvSpPr>
            <a:spLocks xmlns:a="http://schemas.openxmlformats.org/drawingml/2006/main" noGrp="1"/>
          </p:cNvSpPr>
          <p:nvPr/>
        </p:nvSpPr>
        <p:spPr>
          <a:xfrm xmlns:a="http://schemas.openxmlformats.org/drawingml/2006/main">
            <a:off x="7829550" y="3238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EVIDENCIA FALTANTE</a:t>
            </a:r>
          </a:p>
        </p:txBody>
      </p:sp>
      <p:sp>
        <p:nvSpPr>
          <p:cNvPr id="20" name="">
            <a:extLst xmlns:a="http://schemas.openxmlformats.org/drawingml/2006/main">
              <a:ext uri="{FF2B5EF4-FFF2-40B4-BE49-F238E27FC236}">
                <a16:creationId xmlns:a16="http://schemas.microsoft.com/office/drawing/2014/main" id="{C2457143-ED33-4922-B7FF-FEDF5F141A82}"/>
              </a:ext>
            </a:extLst>
          </p:cNvPr>
          <p:cNvSpPr>
            <a:spLocks xmlns:a="http://schemas.openxmlformats.org/drawingml/2006/main" noGrp="1"/>
          </p:cNvSpPr>
          <p:nvPr/>
        </p:nvSpPr>
        <p:spPr>
          <a:xfrm xmlns:a="http://schemas.openxmlformats.org/drawingml/2006/main">
            <a:off x="7829550" y="3714750"/>
            <a:ext cx="2809875" cy="1905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11FAC5C-C108-4A06-BF6E-599C83772848}"/>
              </a:ext>
            </a:extLst>
          </p:cNvPr>
          <p:cNvSpPr>
            <a:spLocks xmlns:a="http://schemas.openxmlformats.org/drawingml/2006/main" noGrp="1"/>
          </p:cNvSpPr>
          <p:nvPr/>
        </p:nvSpPr>
        <p:spPr>
          <a:xfrm xmlns:a="http://schemas.openxmlformats.org/drawingml/2006/main">
            <a:off x="7829550" y="3962400"/>
            <a:ext cx="2781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181817"/>
                </a:solidFill>
                <a:latin typeface="Avenir"/>
                <a:ea typeface="Avenir"/>
                <a:cs typeface="Avenir"/>
              </a:defRPr>
            </a:pPr>
            <a:r>
              <a:rPr sz="1425" b="0" i="0">
                <a:solidFill>
                  <a:srgbClr val="181817"/>
                </a:solidFill>
                <a:latin typeface="Avenir"/>
                <a:ea typeface="Avenir"/>
                <a:cs typeface="Avenir"/>
              </a:rPr>
              <a:t>Una relación que otra persona pueda revisar.</a:t>
            </a:r>
          </a:p>
        </p:txBody>
      </p:sp>
    </p:spTree>
    <p:extLst>
      <p:ext uri="{BB962C8B-B14F-4D97-AF65-F5344CB8AC3E}">
        <p14:creationId xmlns:p14="http://schemas.microsoft.com/office/powerpoint/2010/main" val="989818427"/>
      </p:ext>
    </p:extLst>
  </p:cSld>
</p:sld>
</file>

<file path=ppt/slides/slide3.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0F1D118-0D16-42AA-81BF-2481371A001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4E3543-F594-4417-8019-3C5F94CD6586}"/>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2A982E2A-168A-4284-A1FA-B15B0FB4D9A2}"/>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03</a:t>
            </a:r>
          </a:p>
        </p:txBody>
      </p:sp>
      <p:sp>
        <p:nvSpPr>
          <p:cNvPr id="4" name="">
            <a:extLst xmlns:a="http://schemas.openxmlformats.org/drawingml/2006/main">
              <a:ext uri="{FF2B5EF4-FFF2-40B4-BE49-F238E27FC236}">
                <a16:creationId xmlns:a16="http://schemas.microsoft.com/office/drawing/2014/main" id="{D308D76F-E750-42B7-A423-79F53141C8E9}"/>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EDEE7609-CE2D-4B42-8DEF-4C8D7B677069}"/>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ACF6B6-18DA-4CD4-9385-0F85C3910171}"/>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B46DBBF-71BE-4A9D-9467-4F29A2871FA7}"/>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3A24C127-DC3F-4E34-A5C9-43A2651233A1}"/>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Cadena de transformación</a:t>
            </a:r>
          </a:p>
        </p:txBody>
      </p:sp>
      <p:sp>
        <p:nvSpPr>
          <p:cNvPr id="9" name="">
            <a:extLst xmlns:a="http://schemas.openxmlformats.org/drawingml/2006/main">
              <a:ext uri="{FF2B5EF4-FFF2-40B4-BE49-F238E27FC236}">
                <a16:creationId xmlns:a16="http://schemas.microsoft.com/office/drawing/2014/main" id="{6195786E-00AB-4CF2-8002-E80C031BDF9D}"/>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06BDAA65-C691-4BA0-8592-8ABECED93697}"/>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16 MIN</a:t>
            </a:r>
          </a:p>
        </p:txBody>
      </p:sp>
      <p:sp>
        <p:nvSpPr>
          <p:cNvPr id="11" name="">
            <a:extLst xmlns:a="http://schemas.openxmlformats.org/drawingml/2006/main">
              <a:ext uri="{FF2B5EF4-FFF2-40B4-BE49-F238E27FC236}">
                <a16:creationId xmlns:a16="http://schemas.microsoft.com/office/drawing/2014/main" id="{4D41C44D-E9FE-4267-81E5-059270697CBC}"/>
              </a:ext>
            </a:extLst>
          </p:cNvPr>
          <p:cNvSpPr>
            <a:spLocks xmlns:a="http://schemas.openxmlformats.org/drawingml/2006/main" noGrp="1"/>
          </p:cNvSpPr>
          <p:nvPr/>
        </p:nvSpPr>
        <p:spPr>
          <a:xfrm xmlns:a="http://schemas.openxmlformats.org/drawingml/2006/main">
            <a:off x="704850" y="195262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Los equipos reconstruyen cómo el episodio se convirtió en evento, indicador, correo ejecutivo y recomendación. En cada paso anotan qué se conservó, qué se perdió y qué autoridad ganó la afirmación.</a:t>
            </a:r>
          </a:p>
        </p:txBody>
      </p:sp>
      <p:sp>
        <p:nvSpPr>
          <p:cNvPr id="12" name="">
            <a:extLst xmlns:a="http://schemas.openxmlformats.org/drawingml/2006/main">
              <a:ext uri="{FF2B5EF4-FFF2-40B4-BE49-F238E27FC236}">
                <a16:creationId xmlns:a16="http://schemas.microsoft.com/office/drawing/2014/main" id="{4643D242-3790-4EEF-96C3-98D9E7A24E49}"/>
              </a:ext>
            </a:extLst>
          </p:cNvPr>
          <p:cNvSpPr>
            <a:spLocks xmlns:a="http://schemas.openxmlformats.org/drawingml/2006/main" noGrp="1"/>
          </p:cNvSpPr>
          <p:nvPr/>
        </p:nvSpPr>
        <p:spPr>
          <a:xfrm xmlns:a="http://schemas.openxmlformats.org/drawingml/2006/main">
            <a:off x="704850" y="2914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01</a:t>
            </a:r>
          </a:p>
        </p:txBody>
      </p:sp>
      <p:sp>
        <p:nvSpPr>
          <p:cNvPr id="13" name="">
            <a:extLst xmlns:a="http://schemas.openxmlformats.org/drawingml/2006/main">
              <a:ext uri="{FF2B5EF4-FFF2-40B4-BE49-F238E27FC236}">
                <a16:creationId xmlns:a16="http://schemas.microsoft.com/office/drawing/2014/main" id="{554E8236-CE66-48FA-A531-88468E120609}"/>
              </a:ext>
            </a:extLst>
          </p:cNvPr>
          <p:cNvSpPr>
            <a:spLocks xmlns:a="http://schemas.openxmlformats.org/drawingml/2006/main" noGrp="1"/>
          </p:cNvSpPr>
          <p:nvPr/>
        </p:nvSpPr>
        <p:spPr>
          <a:xfrm xmlns:a="http://schemas.openxmlformats.org/drawingml/2006/main">
            <a:off x="704850" y="3295650"/>
            <a:ext cx="3143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0FDA694-16F9-46F7-B92E-7DA883107ACF}"/>
              </a:ext>
            </a:extLst>
          </p:cNvPr>
          <p:cNvSpPr>
            <a:spLocks xmlns:a="http://schemas.openxmlformats.org/drawingml/2006/main" noGrp="1"/>
          </p:cNvSpPr>
          <p:nvPr/>
        </p:nvSpPr>
        <p:spPr>
          <a:xfrm xmlns:a="http://schemas.openxmlformats.org/drawingml/2006/main">
            <a:off x="704850" y="35433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0" i="0">
                <a:solidFill>
                  <a:srgbClr val="181817"/>
                </a:solidFill>
                <a:latin typeface="Didot"/>
                <a:ea typeface="Didot"/>
                <a:cs typeface="Didot"/>
              </a:defRPr>
            </a:pPr>
            <a:r>
              <a:rPr sz="2100" b="0" i="0">
                <a:solidFill>
                  <a:srgbClr val="181817"/>
                </a:solidFill>
                <a:latin typeface="Didot"/>
                <a:ea typeface="Didot"/>
                <a:cs typeface="Didot"/>
              </a:rPr>
              <a:t>Primera lectura</a:t>
            </a:r>
          </a:p>
        </p:txBody>
      </p:sp>
      <p:sp>
        <p:nvSpPr>
          <p:cNvPr id="15" name="">
            <a:extLst xmlns:a="http://schemas.openxmlformats.org/drawingml/2006/main">
              <a:ext uri="{FF2B5EF4-FFF2-40B4-BE49-F238E27FC236}">
                <a16:creationId xmlns:a16="http://schemas.microsoft.com/office/drawing/2014/main" id="{478B7A9A-215F-4050-A595-961B720C928C}"/>
              </a:ext>
            </a:extLst>
          </p:cNvPr>
          <p:cNvSpPr>
            <a:spLocks xmlns:a="http://schemas.openxmlformats.org/drawingml/2006/main" noGrp="1"/>
          </p:cNvSpPr>
          <p:nvPr/>
        </p:nvSpPr>
        <p:spPr>
          <a:xfrm xmlns:a="http://schemas.openxmlformats.org/drawingml/2006/main">
            <a:off x="704850" y="45720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B5D59"/>
                </a:solidFill>
                <a:latin typeface="Avenir"/>
                <a:ea typeface="Avenir"/>
                <a:cs typeface="Avenir"/>
              </a:defRPr>
            </a:pPr>
            <a:r>
              <a:rPr sz="1350" b="0" i="0">
                <a:solidFill>
                  <a:srgbClr val="5B5D59"/>
                </a:solidFill>
                <a:latin typeface="Avenir"/>
                <a:ea typeface="Avenir"/>
                <a:cs typeface="Avenir"/>
              </a:rPr>
              <a:t>¿Qué diferencia cambia la decisión?</a:t>
            </a:r>
          </a:p>
        </p:txBody>
      </p:sp>
      <p:sp>
        <p:nvSpPr>
          <p:cNvPr id="16" name="">
            <a:extLst xmlns:a="http://schemas.openxmlformats.org/drawingml/2006/main">
              <a:ext uri="{FF2B5EF4-FFF2-40B4-BE49-F238E27FC236}">
                <a16:creationId xmlns:a16="http://schemas.microsoft.com/office/drawing/2014/main" id="{CAE51416-F91C-44BF-BC44-507A9CA1E4DD}"/>
              </a:ext>
            </a:extLst>
          </p:cNvPr>
          <p:cNvSpPr>
            <a:spLocks xmlns:a="http://schemas.openxmlformats.org/drawingml/2006/main" noGrp="1"/>
          </p:cNvSpPr>
          <p:nvPr/>
        </p:nvSpPr>
        <p:spPr>
          <a:xfrm xmlns:a="http://schemas.openxmlformats.org/drawingml/2006/main">
            <a:off x="4324350" y="2914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02</a:t>
            </a:r>
          </a:p>
        </p:txBody>
      </p:sp>
      <p:sp>
        <p:nvSpPr>
          <p:cNvPr id="17" name="">
            <a:extLst xmlns:a="http://schemas.openxmlformats.org/drawingml/2006/main">
              <a:ext uri="{FF2B5EF4-FFF2-40B4-BE49-F238E27FC236}">
                <a16:creationId xmlns:a16="http://schemas.microsoft.com/office/drawing/2014/main" id="{0AF5158A-FACC-4030-94AB-3C1D9EE0681B}"/>
              </a:ext>
            </a:extLst>
          </p:cNvPr>
          <p:cNvSpPr>
            <a:spLocks xmlns:a="http://schemas.openxmlformats.org/drawingml/2006/main" noGrp="1"/>
          </p:cNvSpPr>
          <p:nvPr/>
        </p:nvSpPr>
        <p:spPr>
          <a:xfrm xmlns:a="http://schemas.openxmlformats.org/drawingml/2006/main">
            <a:off x="4324350" y="3295650"/>
            <a:ext cx="3143250" cy="28575"/>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595E732-E387-4C90-8E53-97A5C5B6BE77}"/>
              </a:ext>
            </a:extLst>
          </p:cNvPr>
          <p:cNvSpPr>
            <a:spLocks xmlns:a="http://schemas.openxmlformats.org/drawingml/2006/main" noGrp="1"/>
          </p:cNvSpPr>
          <p:nvPr/>
        </p:nvSpPr>
        <p:spPr>
          <a:xfrm xmlns:a="http://schemas.openxmlformats.org/drawingml/2006/main">
            <a:off x="4324350" y="35433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0" i="0">
                <a:solidFill>
                  <a:srgbClr val="181817"/>
                </a:solidFill>
                <a:latin typeface="Didot"/>
                <a:ea typeface="Didot"/>
                <a:cs typeface="Didot"/>
              </a:defRPr>
            </a:pPr>
            <a:r>
              <a:rPr sz="2100" b="0" i="0">
                <a:solidFill>
                  <a:srgbClr val="181817"/>
                </a:solidFill>
                <a:latin typeface="Didot"/>
                <a:ea typeface="Didot"/>
                <a:cs typeface="Didot"/>
              </a:rPr>
              <a:t>Tensión</a:t>
            </a:r>
          </a:p>
        </p:txBody>
      </p:sp>
      <p:sp>
        <p:nvSpPr>
          <p:cNvPr id="19" name="">
            <a:extLst xmlns:a="http://schemas.openxmlformats.org/drawingml/2006/main">
              <a:ext uri="{FF2B5EF4-FFF2-40B4-BE49-F238E27FC236}">
                <a16:creationId xmlns:a16="http://schemas.microsoft.com/office/drawing/2014/main" id="{4EDC5F5A-9094-4000-8644-1E9BA34339BA}"/>
              </a:ext>
            </a:extLst>
          </p:cNvPr>
          <p:cNvSpPr>
            <a:spLocks xmlns:a="http://schemas.openxmlformats.org/drawingml/2006/main" noGrp="1"/>
          </p:cNvSpPr>
          <p:nvPr/>
        </p:nvSpPr>
        <p:spPr>
          <a:xfrm xmlns:a="http://schemas.openxmlformats.org/drawingml/2006/main">
            <a:off x="4324350" y="45720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B5D59"/>
                </a:solidFill>
                <a:latin typeface="Avenir"/>
                <a:ea typeface="Avenir"/>
                <a:cs typeface="Avenir"/>
              </a:defRPr>
            </a:pPr>
            <a:r>
              <a:rPr sz="1350" b="0" i="0">
                <a:solidFill>
                  <a:srgbClr val="5B5D59"/>
                </a:solidFill>
                <a:latin typeface="Avenir"/>
                <a:ea typeface="Avenir"/>
                <a:cs typeface="Avenir"/>
              </a:rPr>
              <a:t>¿Qué diferencia cambia la decisión?</a:t>
            </a:r>
          </a:p>
        </p:txBody>
      </p:sp>
      <p:sp>
        <p:nvSpPr>
          <p:cNvPr id="20" name="">
            <a:extLst xmlns:a="http://schemas.openxmlformats.org/drawingml/2006/main">
              <a:ext uri="{FF2B5EF4-FFF2-40B4-BE49-F238E27FC236}">
                <a16:creationId xmlns:a16="http://schemas.microsoft.com/office/drawing/2014/main" id="{1BCFC7E2-C2AA-40A5-A5D2-B19AF304348F}"/>
              </a:ext>
            </a:extLst>
          </p:cNvPr>
          <p:cNvSpPr>
            <a:spLocks xmlns:a="http://schemas.openxmlformats.org/drawingml/2006/main" noGrp="1"/>
          </p:cNvSpPr>
          <p:nvPr/>
        </p:nvSpPr>
        <p:spPr>
          <a:xfrm xmlns:a="http://schemas.openxmlformats.org/drawingml/2006/main">
            <a:off x="7943850" y="29146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03</a:t>
            </a:r>
          </a:p>
        </p:txBody>
      </p:sp>
      <p:sp>
        <p:nvSpPr>
          <p:cNvPr id="21" name="">
            <a:extLst xmlns:a="http://schemas.openxmlformats.org/drawingml/2006/main">
              <a:ext uri="{FF2B5EF4-FFF2-40B4-BE49-F238E27FC236}">
                <a16:creationId xmlns:a16="http://schemas.microsoft.com/office/drawing/2014/main" id="{BBA2287D-8AA1-416E-81EE-26FEA2704053}"/>
              </a:ext>
            </a:extLst>
          </p:cNvPr>
          <p:cNvSpPr>
            <a:spLocks xmlns:a="http://schemas.openxmlformats.org/drawingml/2006/main" noGrp="1"/>
          </p:cNvSpPr>
          <p:nvPr/>
        </p:nvSpPr>
        <p:spPr>
          <a:xfrm xmlns:a="http://schemas.openxmlformats.org/drawingml/2006/main">
            <a:off x="7943850" y="3295650"/>
            <a:ext cx="3143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A0BE4E5-50AC-42CB-9E21-EF6991A6FCF7}"/>
              </a:ext>
            </a:extLst>
          </p:cNvPr>
          <p:cNvSpPr>
            <a:spLocks xmlns:a="http://schemas.openxmlformats.org/drawingml/2006/main" noGrp="1"/>
          </p:cNvSpPr>
          <p:nvPr/>
        </p:nvSpPr>
        <p:spPr>
          <a:xfrm xmlns:a="http://schemas.openxmlformats.org/drawingml/2006/main">
            <a:off x="7943850" y="35433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00" b="0" i="0">
                <a:solidFill>
                  <a:srgbClr val="181817"/>
                </a:solidFill>
                <a:latin typeface="Didot"/>
                <a:ea typeface="Didot"/>
                <a:cs typeface="Didot"/>
              </a:defRPr>
            </a:pPr>
            <a:r>
              <a:rPr sz="2100" b="0" i="0">
                <a:solidFill>
                  <a:srgbClr val="181817"/>
                </a:solidFill>
                <a:latin typeface="Didot"/>
                <a:ea typeface="Didot"/>
                <a:cs typeface="Didot"/>
              </a:rPr>
              <a:t>Decisión</a:t>
            </a:r>
          </a:p>
        </p:txBody>
      </p:sp>
      <p:sp>
        <p:nvSpPr>
          <p:cNvPr id="23" name="">
            <a:extLst xmlns:a="http://schemas.openxmlformats.org/drawingml/2006/main">
              <a:ext uri="{FF2B5EF4-FFF2-40B4-BE49-F238E27FC236}">
                <a16:creationId xmlns:a16="http://schemas.microsoft.com/office/drawing/2014/main" id="{4CF243A7-0F8B-4056-91DE-4CFC066EC30F}"/>
              </a:ext>
            </a:extLst>
          </p:cNvPr>
          <p:cNvSpPr>
            <a:spLocks xmlns:a="http://schemas.openxmlformats.org/drawingml/2006/main" noGrp="1"/>
          </p:cNvSpPr>
          <p:nvPr/>
        </p:nvSpPr>
        <p:spPr>
          <a:xfrm xmlns:a="http://schemas.openxmlformats.org/drawingml/2006/main">
            <a:off x="7943850" y="45720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i="0">
                <a:solidFill>
                  <a:srgbClr val="5B5D59"/>
                </a:solidFill>
                <a:latin typeface="Avenir"/>
                <a:ea typeface="Avenir"/>
                <a:cs typeface="Avenir"/>
              </a:defRPr>
            </a:pPr>
            <a:r>
              <a:rPr sz="1350" b="0" i="0">
                <a:solidFill>
                  <a:srgbClr val="5B5D59"/>
                </a:solidFill>
                <a:latin typeface="Avenir"/>
                <a:ea typeface="Avenir"/>
                <a:cs typeface="Avenir"/>
              </a:rPr>
              <a:t>¿Qué diferencia cambia la decisión?</a:t>
            </a:r>
          </a:p>
        </p:txBody>
      </p:sp>
    </p:spTree>
    <p:extLst>
      <p:ext uri="{BB962C8B-B14F-4D97-AF65-F5344CB8AC3E}">
        <p14:creationId xmlns:p14="http://schemas.microsoft.com/office/powerpoint/2010/main" val="2121189946"/>
      </p:ext>
    </p:extLst>
  </p:cSld>
</p:sld>
</file>

<file path=ppt/slides/slide4.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0811D7-5A9F-41B5-90F0-01FB1A17C21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48DC93-5D57-47FD-845A-03ADC2E6655A}"/>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E6691E51-A44D-445D-8013-0C4979A5C2F5}"/>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04</a:t>
            </a:r>
          </a:p>
        </p:txBody>
      </p:sp>
      <p:sp>
        <p:nvSpPr>
          <p:cNvPr id="4" name="">
            <a:extLst xmlns:a="http://schemas.openxmlformats.org/drawingml/2006/main">
              <a:ext uri="{FF2B5EF4-FFF2-40B4-BE49-F238E27FC236}">
                <a16:creationId xmlns:a16="http://schemas.microsoft.com/office/drawing/2014/main" id="{6DB6FAAA-B141-4411-BCF3-FDDD49F77EA4}"/>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EE99BE42-05E4-41DC-9912-9C6F00DC7E2A}"/>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764AEDB-F4E7-4635-BD67-FE4FAD68F72F}"/>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1A44525-1F48-4BFB-A2D7-3D46FF3C76BC}"/>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B1F1F8EA-7D7E-421A-80FD-6E6F98DD8469}"/>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Clínica de tres controles</a:t>
            </a:r>
          </a:p>
        </p:txBody>
      </p:sp>
      <p:sp>
        <p:nvSpPr>
          <p:cNvPr id="9" name="">
            <a:extLst xmlns:a="http://schemas.openxmlformats.org/drawingml/2006/main">
              <a:ext uri="{FF2B5EF4-FFF2-40B4-BE49-F238E27FC236}">
                <a16:creationId xmlns:a16="http://schemas.microsoft.com/office/drawing/2014/main" id="{928459EA-7D6F-4455-A0CD-67C88A7C79EF}"/>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7ACE8381-F016-42C4-9063-FF37D7FEB4A2}"/>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10 MIN</a:t>
            </a:r>
          </a:p>
        </p:txBody>
      </p:sp>
      <p:sp>
        <p:nvSpPr>
          <p:cNvPr id="11" name="">
            <a:extLst xmlns:a="http://schemas.openxmlformats.org/drawingml/2006/main">
              <a:ext uri="{FF2B5EF4-FFF2-40B4-BE49-F238E27FC236}">
                <a16:creationId xmlns:a16="http://schemas.microsoft.com/office/drawing/2014/main" id="{75D2B96A-0A2F-4EA6-8B61-9995115B6267}"/>
              </a:ext>
            </a:extLst>
          </p:cNvPr>
          <p:cNvSpPr>
            <a:spLocks xmlns:a="http://schemas.openxmlformats.org/drawingml/2006/main" noGrp="1"/>
          </p:cNvSpPr>
          <p:nvPr/>
        </p:nvSpPr>
        <p:spPr>
          <a:xfrm xmlns:a="http://schemas.openxmlformats.org/drawingml/2006/main">
            <a:off x="704850" y="195262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22"/>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El docente utiliza una producción real para separar: confiabilidad del procedimiento; validez de la representación; utilidad para una decisión concreta. La intervención termina cuando el grupo puede producir un ejemplo en el que las tres evaluaciones difieran.</a:t>
            </a:r>
          </a:p>
        </p:txBody>
      </p:sp>
      <p:sp>
        <p:nvSpPr>
          <p:cNvPr id="12" name="">
            <a:extLst xmlns:a="http://schemas.openxmlformats.org/drawingml/2006/main">
              <a:ext uri="{FF2B5EF4-FFF2-40B4-BE49-F238E27FC236}">
                <a16:creationId xmlns:a16="http://schemas.microsoft.com/office/drawing/2014/main" id="{653DB76A-83E4-4A05-BF17-050FCD745A41}"/>
              </a:ext>
            </a:extLst>
          </p:cNvPr>
          <p:cNvSpPr>
            <a:spLocks xmlns:a="http://schemas.openxmlformats.org/drawingml/2006/main" noGrp="1"/>
          </p:cNvSpPr>
          <p:nvPr/>
        </p:nvSpPr>
        <p:spPr>
          <a:xfrm xmlns:a="http://schemas.openxmlformats.org/drawingml/2006/main">
            <a:off x="838200" y="31432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304"/>
          </a:bodyPr>
          <a:lstStyle xmlns:a="http://schemas.openxmlformats.org/drawingml/2006/main"/>
          <a:p xmlns:a="http://schemas.openxmlformats.org/drawingml/2006/main">
            <a:pPr>
              <a:defRPr sz="3450" b="0" i="0">
                <a:solidFill>
                  <a:srgbClr val="181817"/>
                </a:solidFill>
                <a:latin typeface="Didot"/>
                <a:ea typeface="Didot"/>
                <a:cs typeface="Didot"/>
              </a:defRPr>
            </a:pPr>
            <a:r>
              <a:rPr sz="3450" b="0" i="0">
                <a:solidFill>
                  <a:srgbClr val="181817"/>
                </a:solidFill>
                <a:latin typeface="Didot"/>
                <a:ea typeface="Didot"/>
                <a:cs typeface="Didot"/>
              </a:rPr>
              <a:t>A</a:t>
            </a:r>
          </a:p>
        </p:txBody>
      </p:sp>
      <p:sp>
        <p:nvSpPr>
          <p:cNvPr id="13" name="">
            <a:extLst xmlns:a="http://schemas.openxmlformats.org/drawingml/2006/main">
              <a:ext uri="{FF2B5EF4-FFF2-40B4-BE49-F238E27FC236}">
                <a16:creationId xmlns:a16="http://schemas.microsoft.com/office/drawing/2014/main" id="{6A815D59-0497-411F-8B0E-74A3ED3516EC}"/>
              </a:ext>
            </a:extLst>
          </p:cNvPr>
          <p:cNvSpPr>
            <a:spLocks xmlns:a="http://schemas.openxmlformats.org/drawingml/2006/main" noGrp="1"/>
          </p:cNvSpPr>
          <p:nvPr/>
        </p:nvSpPr>
        <p:spPr>
          <a:xfrm xmlns:a="http://schemas.openxmlformats.org/drawingml/2006/main">
            <a:off x="1428750" y="31432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Lo que el artefacto afirma</a:t>
            </a:r>
          </a:p>
        </p:txBody>
      </p:sp>
      <p:sp>
        <p:nvSpPr>
          <p:cNvPr id="14" name="">
            <a:extLst xmlns:a="http://schemas.openxmlformats.org/drawingml/2006/main">
              <a:ext uri="{FF2B5EF4-FFF2-40B4-BE49-F238E27FC236}">
                <a16:creationId xmlns:a16="http://schemas.microsoft.com/office/drawing/2014/main" id="{0846518D-9D76-4A83-B46A-3E8B8F1192D8}"/>
              </a:ext>
            </a:extLst>
          </p:cNvPr>
          <p:cNvSpPr>
            <a:spLocks xmlns:a="http://schemas.openxmlformats.org/drawingml/2006/main" noGrp="1"/>
          </p:cNvSpPr>
          <p:nvPr/>
        </p:nvSpPr>
        <p:spPr>
          <a:xfrm xmlns:a="http://schemas.openxmlformats.org/drawingml/2006/main">
            <a:off x="6038850" y="2819400"/>
            <a:ext cx="19050" cy="2628900"/>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94795B5-EC5D-4C84-8D02-09F175645CC2}"/>
              </a:ext>
            </a:extLst>
          </p:cNvPr>
          <p:cNvSpPr>
            <a:spLocks xmlns:a="http://schemas.openxmlformats.org/drawingml/2006/main" noGrp="1"/>
          </p:cNvSpPr>
          <p:nvPr/>
        </p:nvSpPr>
        <p:spPr>
          <a:xfrm xmlns:a="http://schemas.openxmlformats.org/drawingml/2006/main">
            <a:off x="6572250" y="31432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304"/>
          </a:bodyPr>
          <a:lstStyle xmlns:a="http://schemas.openxmlformats.org/drawingml/2006/main"/>
          <a:p xmlns:a="http://schemas.openxmlformats.org/drawingml/2006/main">
            <a:pPr>
              <a:defRPr sz="3450" b="0" i="0">
                <a:solidFill>
                  <a:srgbClr val="181817"/>
                </a:solidFill>
                <a:latin typeface="Didot"/>
                <a:ea typeface="Didot"/>
                <a:cs typeface="Didot"/>
              </a:defRPr>
            </a:pPr>
            <a:r>
              <a:rPr sz="3450" b="0" i="0">
                <a:solidFill>
                  <a:srgbClr val="181817"/>
                </a:solidFill>
                <a:latin typeface="Didot"/>
                <a:ea typeface="Didot"/>
                <a:cs typeface="Didot"/>
              </a:rPr>
              <a:t>B</a:t>
            </a:r>
          </a:p>
        </p:txBody>
      </p:sp>
      <p:sp>
        <p:nvSpPr>
          <p:cNvPr id="16" name="">
            <a:extLst xmlns:a="http://schemas.openxmlformats.org/drawingml/2006/main">
              <a:ext uri="{FF2B5EF4-FFF2-40B4-BE49-F238E27FC236}">
                <a16:creationId xmlns:a16="http://schemas.microsoft.com/office/drawing/2014/main" id="{2CD96DF6-2595-4D32-8899-9C6BD79FEC52}"/>
              </a:ext>
            </a:extLst>
          </p:cNvPr>
          <p:cNvSpPr>
            <a:spLocks xmlns:a="http://schemas.openxmlformats.org/drawingml/2006/main" noGrp="1"/>
          </p:cNvSpPr>
          <p:nvPr/>
        </p:nvSpPr>
        <p:spPr>
          <a:xfrm xmlns:a="http://schemas.openxmlformats.org/drawingml/2006/main">
            <a:off x="7162800" y="31432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Lo que la evidencia permite afirmar</a:t>
            </a:r>
          </a:p>
        </p:txBody>
      </p:sp>
      <p:sp>
        <p:nvSpPr>
          <p:cNvPr id="17" name="">
            <a:extLst xmlns:a="http://schemas.openxmlformats.org/drawingml/2006/main">
              <a:ext uri="{FF2B5EF4-FFF2-40B4-BE49-F238E27FC236}">
                <a16:creationId xmlns:a16="http://schemas.microsoft.com/office/drawing/2014/main" id="{2C745C3B-7AC4-4922-9117-30A337F67BA0}"/>
              </a:ext>
            </a:extLst>
          </p:cNvPr>
          <p:cNvSpPr>
            <a:spLocks xmlns:a="http://schemas.openxmlformats.org/drawingml/2006/main" noGrp="1"/>
          </p:cNvSpPr>
          <p:nvPr/>
        </p:nvSpPr>
        <p:spPr>
          <a:xfrm xmlns:a="http://schemas.openxmlformats.org/drawingml/2006/main">
            <a:off x="1428750" y="464820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175" b="0" i="0">
                <a:solidFill>
                  <a:srgbClr val="5B5D59"/>
                </a:solidFill>
                <a:latin typeface="Didot"/>
                <a:ea typeface="Didot"/>
                <a:cs typeface="Didot"/>
              </a:defRPr>
            </a:pPr>
            <a:r>
              <a:rPr sz="2175" b="0" i="0">
                <a:solidFill>
                  <a:srgbClr val="5B5D59"/>
                </a:solidFill>
                <a:latin typeface="Didot"/>
                <a:ea typeface="Didot"/>
                <a:cs typeface="Didot"/>
              </a:rPr>
              <a:t>La diferencia debe conducir a una revisión observable.</a:t>
            </a:r>
          </a:p>
        </p:txBody>
      </p:sp>
    </p:spTree>
    <p:extLst>
      <p:ext uri="{BB962C8B-B14F-4D97-AF65-F5344CB8AC3E}">
        <p14:creationId xmlns:p14="http://schemas.microsoft.com/office/powerpoint/2010/main" val="1779525980"/>
      </p:ext>
    </p:extLst>
  </p:cSld>
</p:sld>
</file>

<file path=ppt/slides/slide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696796E-2C15-4AC0-A6E7-38D61733546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53879F-288D-4627-A92B-BFC4D366A432}"/>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2393FAB6-A327-4742-BA83-8F0543347A3B}"/>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05</a:t>
            </a:r>
          </a:p>
        </p:txBody>
      </p:sp>
      <p:sp>
        <p:nvSpPr>
          <p:cNvPr id="4" name="">
            <a:extLst xmlns:a="http://schemas.openxmlformats.org/drawingml/2006/main">
              <a:ext uri="{FF2B5EF4-FFF2-40B4-BE49-F238E27FC236}">
                <a16:creationId xmlns:a16="http://schemas.microsoft.com/office/drawing/2014/main" id="{F0E5C8A4-4080-4BA3-B618-0AC3CC992645}"/>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A33E04C1-F3D7-4691-945F-FE84D1729E83}"/>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3B8B4E-42F7-43D1-98BF-3BA7F97302C3}"/>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296AF5-CB14-46DE-8368-5E1756096099}"/>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DB8FA610-1DF1-46EE-BD1F-6AC253BB371D}"/>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Mercado de evidencia</a:t>
            </a:r>
          </a:p>
        </p:txBody>
      </p:sp>
      <p:sp>
        <p:nvSpPr>
          <p:cNvPr id="9" name="">
            <a:extLst xmlns:a="http://schemas.openxmlformats.org/drawingml/2006/main">
              <a:ext uri="{FF2B5EF4-FFF2-40B4-BE49-F238E27FC236}">
                <a16:creationId xmlns:a16="http://schemas.microsoft.com/office/drawing/2014/main" id="{FD1EC83F-97F3-4631-B57B-DE0089BCB97C}"/>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6E77B6D9-B17C-442F-BD5B-9EDB28027D53}"/>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18 MIN</a:t>
            </a:r>
          </a:p>
        </p:txBody>
      </p:sp>
      <p:sp>
        <p:nvSpPr>
          <p:cNvPr id="11" name="">
            <a:extLst xmlns:a="http://schemas.openxmlformats.org/drawingml/2006/main">
              <a:ext uri="{FF2B5EF4-FFF2-40B4-BE49-F238E27FC236}">
                <a16:creationId xmlns:a16="http://schemas.microsoft.com/office/drawing/2014/main" id="{CE8137B0-52A2-4107-AA1E-EE2288F9FA6F}"/>
              </a:ext>
            </a:extLst>
          </p:cNvPr>
          <p:cNvSpPr>
            <a:spLocks xmlns:a="http://schemas.openxmlformats.org/drawingml/2006/main" noGrp="1"/>
          </p:cNvSpPr>
          <p:nvPr/>
        </p:nvSpPr>
        <p:spPr>
          <a:xfrm xmlns:a="http://schemas.openxmlformats.org/drawingml/2006/main">
            <a:off x="704850" y="19526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492"/>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Cada equipo recibe una decisión y un presupuesto limitado para solicitar sobres. Antes de abrir cada uno debe declarar qué hipótesis podría fortalecer o debilitar. Comprar volumen sin propósito consume presupuesto y no agrega puntuación.</a:t>
            </a:r>
          </a:p>
        </p:txBody>
      </p:sp>
      <p:sp>
        <p:nvSpPr>
          <p:cNvPr id="12" name="">
            <a:extLst xmlns:a="http://schemas.openxmlformats.org/drawingml/2006/main">
              <a:ext uri="{FF2B5EF4-FFF2-40B4-BE49-F238E27FC236}">
                <a16:creationId xmlns:a16="http://schemas.microsoft.com/office/drawing/2014/main" id="{DFC4321C-5642-4F0A-80AF-1B9F223A41FD}"/>
              </a:ext>
            </a:extLst>
          </p:cNvPr>
          <p:cNvSpPr>
            <a:spLocks xmlns:a="http://schemas.openxmlformats.org/drawingml/2006/main" noGrp="1"/>
          </p:cNvSpPr>
          <p:nvPr/>
        </p:nvSpPr>
        <p:spPr>
          <a:xfrm xmlns:a="http://schemas.openxmlformats.org/drawingml/2006/main">
            <a:off x="838200" y="28575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01</a:t>
            </a:r>
          </a:p>
        </p:txBody>
      </p:sp>
      <p:sp>
        <p:nvSpPr>
          <p:cNvPr id="13" name="">
            <a:extLst xmlns:a="http://schemas.openxmlformats.org/drawingml/2006/main">
              <a:ext uri="{FF2B5EF4-FFF2-40B4-BE49-F238E27FC236}">
                <a16:creationId xmlns:a16="http://schemas.microsoft.com/office/drawing/2014/main" id="{26BA85A6-4AC0-4DEC-B4B7-FDFFCAE7BAE8}"/>
              </a:ext>
            </a:extLst>
          </p:cNvPr>
          <p:cNvSpPr>
            <a:spLocks xmlns:a="http://schemas.openxmlformats.org/drawingml/2006/main" noGrp="1"/>
          </p:cNvSpPr>
          <p:nvPr/>
        </p:nvSpPr>
        <p:spPr>
          <a:xfrm xmlns:a="http://schemas.openxmlformats.org/drawingml/2006/main">
            <a:off x="1619250" y="28194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i="0">
                <a:solidFill>
                  <a:srgbClr val="181817"/>
                </a:solidFill>
                <a:latin typeface="Avenir"/>
                <a:ea typeface="Avenir"/>
                <a:cs typeface="Avenir"/>
              </a:defRPr>
            </a:pPr>
            <a:r>
              <a:rPr sz="1800" b="1" i="0">
                <a:solidFill>
                  <a:srgbClr val="181817"/>
                </a:solidFill>
                <a:latin typeface="Avenir"/>
                <a:ea typeface="Avenir"/>
                <a:cs typeface="Avenir"/>
              </a:rPr>
              <a:t>Qué se intenta sostener</a:t>
            </a:r>
          </a:p>
        </p:txBody>
      </p:sp>
      <p:sp>
        <p:nvSpPr>
          <p:cNvPr id="14" name="">
            <a:extLst xmlns:a="http://schemas.openxmlformats.org/drawingml/2006/main">
              <a:ext uri="{FF2B5EF4-FFF2-40B4-BE49-F238E27FC236}">
                <a16:creationId xmlns:a16="http://schemas.microsoft.com/office/drawing/2014/main" id="{E44F0047-B949-44B2-B147-ECC27AA4FCB0}"/>
              </a:ext>
            </a:extLst>
          </p:cNvPr>
          <p:cNvSpPr>
            <a:spLocks xmlns:a="http://schemas.openxmlformats.org/drawingml/2006/main" noGrp="1"/>
          </p:cNvSpPr>
          <p:nvPr/>
        </p:nvSpPr>
        <p:spPr>
          <a:xfrm xmlns:a="http://schemas.openxmlformats.org/drawingml/2006/main">
            <a:off x="1619250" y="3257550"/>
            <a:ext cx="885825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49736FD-1DC7-4BC3-A48C-6CF6FA7F520B}"/>
              </a:ext>
            </a:extLst>
          </p:cNvPr>
          <p:cNvSpPr>
            <a:spLocks xmlns:a="http://schemas.openxmlformats.org/drawingml/2006/main" noGrp="1"/>
          </p:cNvSpPr>
          <p:nvPr/>
        </p:nvSpPr>
        <p:spPr>
          <a:xfrm xmlns:a="http://schemas.openxmlformats.org/drawingml/2006/main">
            <a:off x="838200" y="35433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02</a:t>
            </a:r>
          </a:p>
        </p:txBody>
      </p:sp>
      <p:sp>
        <p:nvSpPr>
          <p:cNvPr id="16" name="">
            <a:extLst xmlns:a="http://schemas.openxmlformats.org/drawingml/2006/main">
              <a:ext uri="{FF2B5EF4-FFF2-40B4-BE49-F238E27FC236}">
                <a16:creationId xmlns:a16="http://schemas.microsoft.com/office/drawing/2014/main" id="{D379587C-EFEA-4874-BD03-46B6B0C27C08}"/>
              </a:ext>
            </a:extLst>
          </p:cNvPr>
          <p:cNvSpPr>
            <a:spLocks xmlns:a="http://schemas.openxmlformats.org/drawingml/2006/main" noGrp="1"/>
          </p:cNvSpPr>
          <p:nvPr/>
        </p:nvSpPr>
        <p:spPr>
          <a:xfrm xmlns:a="http://schemas.openxmlformats.org/drawingml/2006/main">
            <a:off x="1619250" y="35052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81817"/>
                </a:solidFill>
                <a:latin typeface="Avenir"/>
                <a:ea typeface="Avenir"/>
                <a:cs typeface="Avenir"/>
              </a:defRPr>
            </a:pPr>
            <a:r>
              <a:rPr sz="1800" b="0" i="0">
                <a:solidFill>
                  <a:srgbClr val="181817"/>
                </a:solidFill>
                <a:latin typeface="Avenir"/>
                <a:ea typeface="Avenir"/>
                <a:cs typeface="Avenir"/>
              </a:rPr>
              <a:t>Qué evidencia existe</a:t>
            </a:r>
          </a:p>
        </p:txBody>
      </p:sp>
      <p:sp>
        <p:nvSpPr>
          <p:cNvPr id="17" name="">
            <a:extLst xmlns:a="http://schemas.openxmlformats.org/drawingml/2006/main">
              <a:ext uri="{FF2B5EF4-FFF2-40B4-BE49-F238E27FC236}">
                <a16:creationId xmlns:a16="http://schemas.microsoft.com/office/drawing/2014/main" id="{F4AB069F-7B5E-41CA-85DD-570A9A642091}"/>
              </a:ext>
            </a:extLst>
          </p:cNvPr>
          <p:cNvSpPr>
            <a:spLocks xmlns:a="http://schemas.openxmlformats.org/drawingml/2006/main" noGrp="1"/>
          </p:cNvSpPr>
          <p:nvPr/>
        </p:nvSpPr>
        <p:spPr>
          <a:xfrm xmlns:a="http://schemas.openxmlformats.org/drawingml/2006/main">
            <a:off x="1619250" y="3943350"/>
            <a:ext cx="885825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22A02DB-6371-4E3B-984E-235A20099185}"/>
              </a:ext>
            </a:extLst>
          </p:cNvPr>
          <p:cNvSpPr>
            <a:spLocks xmlns:a="http://schemas.openxmlformats.org/drawingml/2006/main" noGrp="1"/>
          </p:cNvSpPr>
          <p:nvPr/>
        </p:nvSpPr>
        <p:spPr>
          <a:xfrm xmlns:a="http://schemas.openxmlformats.org/drawingml/2006/main">
            <a:off x="838200" y="42291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03</a:t>
            </a:r>
          </a:p>
        </p:txBody>
      </p:sp>
      <p:sp>
        <p:nvSpPr>
          <p:cNvPr id="19" name="">
            <a:extLst xmlns:a="http://schemas.openxmlformats.org/drawingml/2006/main">
              <a:ext uri="{FF2B5EF4-FFF2-40B4-BE49-F238E27FC236}">
                <a16:creationId xmlns:a16="http://schemas.microsoft.com/office/drawing/2014/main" id="{CA7B1423-F679-44D0-B79C-8C42DC398BF7}"/>
              </a:ext>
            </a:extLst>
          </p:cNvPr>
          <p:cNvSpPr>
            <a:spLocks xmlns:a="http://schemas.openxmlformats.org/drawingml/2006/main" noGrp="1"/>
          </p:cNvSpPr>
          <p:nvPr/>
        </p:nvSpPr>
        <p:spPr>
          <a:xfrm xmlns:a="http://schemas.openxmlformats.org/drawingml/2006/main">
            <a:off x="1619250" y="41910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81817"/>
                </a:solidFill>
                <a:latin typeface="Avenir"/>
                <a:ea typeface="Avenir"/>
                <a:cs typeface="Avenir"/>
              </a:defRPr>
            </a:pPr>
            <a:r>
              <a:rPr sz="1800" b="0" i="0">
                <a:solidFill>
                  <a:srgbClr val="181817"/>
                </a:solidFill>
                <a:latin typeface="Avenir"/>
                <a:ea typeface="Avenir"/>
                <a:cs typeface="Avenir"/>
              </a:rPr>
              <a:t>Qué falta distinguir</a:t>
            </a:r>
          </a:p>
        </p:txBody>
      </p:sp>
      <p:sp>
        <p:nvSpPr>
          <p:cNvPr id="20" name="">
            <a:extLst xmlns:a="http://schemas.openxmlformats.org/drawingml/2006/main">
              <a:ext uri="{FF2B5EF4-FFF2-40B4-BE49-F238E27FC236}">
                <a16:creationId xmlns:a16="http://schemas.microsoft.com/office/drawing/2014/main" id="{6B9885EC-F8B9-4489-BA1C-3F23A746A882}"/>
              </a:ext>
            </a:extLst>
          </p:cNvPr>
          <p:cNvSpPr>
            <a:spLocks xmlns:a="http://schemas.openxmlformats.org/drawingml/2006/main" noGrp="1"/>
          </p:cNvSpPr>
          <p:nvPr/>
        </p:nvSpPr>
        <p:spPr>
          <a:xfrm xmlns:a="http://schemas.openxmlformats.org/drawingml/2006/main">
            <a:off x="1619250" y="4629150"/>
            <a:ext cx="885825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F80EFC8-590D-4899-B3E3-B3F32B26033F}"/>
              </a:ext>
            </a:extLst>
          </p:cNvPr>
          <p:cNvSpPr>
            <a:spLocks xmlns:a="http://schemas.openxmlformats.org/drawingml/2006/main" noGrp="1"/>
          </p:cNvSpPr>
          <p:nvPr/>
        </p:nvSpPr>
        <p:spPr>
          <a:xfrm xmlns:a="http://schemas.openxmlformats.org/drawingml/2006/main">
            <a:off x="838200" y="4914900"/>
            <a:ext cx="66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04</a:t>
            </a:r>
          </a:p>
        </p:txBody>
      </p:sp>
      <p:sp>
        <p:nvSpPr>
          <p:cNvPr id="22" name="">
            <a:extLst xmlns:a="http://schemas.openxmlformats.org/drawingml/2006/main">
              <a:ext uri="{FF2B5EF4-FFF2-40B4-BE49-F238E27FC236}">
                <a16:creationId xmlns:a16="http://schemas.microsoft.com/office/drawing/2014/main" id="{63909E9F-7796-4D72-8712-25628890ADDC}"/>
              </a:ext>
            </a:extLst>
          </p:cNvPr>
          <p:cNvSpPr>
            <a:spLocks xmlns:a="http://schemas.openxmlformats.org/drawingml/2006/main" noGrp="1"/>
          </p:cNvSpPr>
          <p:nvPr/>
        </p:nvSpPr>
        <p:spPr>
          <a:xfrm xmlns:a="http://schemas.openxmlformats.org/drawingml/2006/main">
            <a:off x="1619250" y="48768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81817"/>
                </a:solidFill>
                <a:latin typeface="Avenir"/>
                <a:ea typeface="Avenir"/>
                <a:cs typeface="Avenir"/>
              </a:defRPr>
            </a:pPr>
            <a:r>
              <a:rPr sz="1800" b="0" i="0">
                <a:solidFill>
                  <a:srgbClr val="181817"/>
                </a:solidFill>
                <a:latin typeface="Avenir"/>
                <a:ea typeface="Avenir"/>
                <a:cs typeface="Avenir"/>
              </a:rPr>
              <a:t>Qué decisión cambia</a:t>
            </a:r>
          </a:p>
        </p:txBody>
      </p:sp>
      <p:sp>
        <p:nvSpPr>
          <p:cNvPr id="23" name="">
            <a:extLst xmlns:a="http://schemas.openxmlformats.org/drawingml/2006/main">
              <a:ext uri="{FF2B5EF4-FFF2-40B4-BE49-F238E27FC236}">
                <a16:creationId xmlns:a16="http://schemas.microsoft.com/office/drawing/2014/main" id="{C4882B54-6BC5-4B8A-9A85-D0BBA4C19369}"/>
              </a:ext>
            </a:extLst>
          </p:cNvPr>
          <p:cNvSpPr>
            <a:spLocks xmlns:a="http://schemas.openxmlformats.org/drawingml/2006/main" noGrp="1"/>
          </p:cNvSpPr>
          <p:nvPr/>
        </p:nvSpPr>
        <p:spPr>
          <a:xfrm xmlns:a="http://schemas.openxmlformats.org/drawingml/2006/main">
            <a:off x="1619250" y="5314950"/>
            <a:ext cx="885825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Tree>
    <p:extLst>
      <p:ext uri="{BB962C8B-B14F-4D97-AF65-F5344CB8AC3E}">
        <p14:creationId xmlns:p14="http://schemas.microsoft.com/office/powerpoint/2010/main" val="164340795"/>
      </p:ext>
    </p:extLst>
  </p:cSld>
</p:sld>
</file>

<file path=ppt/slides/slide6.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9C8F927-6A61-4D00-A486-39B0AF7AD7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398631-77ED-4F39-A2EE-3C9E5D8EA0EE}"/>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5FB060ED-0F57-4AD8-BED7-902AB0DAA198}"/>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06</a:t>
            </a:r>
          </a:p>
        </p:txBody>
      </p:sp>
      <p:sp>
        <p:nvSpPr>
          <p:cNvPr id="4" name="">
            <a:extLst xmlns:a="http://schemas.openxmlformats.org/drawingml/2006/main">
              <a:ext uri="{FF2B5EF4-FFF2-40B4-BE49-F238E27FC236}">
                <a16:creationId xmlns:a16="http://schemas.microsoft.com/office/drawing/2014/main" id="{533B9BBC-3B59-4BDC-A70A-4C1C2D29351C}"/>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116122C3-857E-4464-A8EF-1163C2CB8C47}"/>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2976F1-A6D2-45FE-96CF-19B616F52686}"/>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99BA3F-227F-4C0E-9D02-AD417D9F65D0}"/>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C75629C5-E1D4-46D1-998F-BE4F43B54FDA}"/>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Auditoría de dependencia</a:t>
            </a:r>
          </a:p>
        </p:txBody>
      </p:sp>
      <p:sp>
        <p:nvSpPr>
          <p:cNvPr id="9" name="">
            <a:extLst xmlns:a="http://schemas.openxmlformats.org/drawingml/2006/main">
              <a:ext uri="{FF2B5EF4-FFF2-40B4-BE49-F238E27FC236}">
                <a16:creationId xmlns:a16="http://schemas.microsoft.com/office/drawing/2014/main" id="{8992D71F-3876-40A6-B96D-C12C5A3FEB93}"/>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E9F21B40-8726-4F14-AE15-3BC89D0A7AC0}"/>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15 MIN</a:t>
            </a:r>
          </a:p>
        </p:txBody>
      </p:sp>
      <p:sp>
        <p:nvSpPr>
          <p:cNvPr id="11" name="">
            <a:extLst xmlns:a="http://schemas.openxmlformats.org/drawingml/2006/main">
              <a:ext uri="{FF2B5EF4-FFF2-40B4-BE49-F238E27FC236}">
                <a16:creationId xmlns:a16="http://schemas.microsoft.com/office/drawing/2014/main" id="{4610475F-3B6E-468F-82F7-02D67B57F991}"/>
              </a:ext>
            </a:extLst>
          </p:cNvPr>
          <p:cNvSpPr>
            <a:spLocks xmlns:a="http://schemas.openxmlformats.org/drawingml/2006/main" noGrp="1"/>
          </p:cNvSpPr>
          <p:nvPr/>
        </p:nvSpPr>
        <p:spPr>
          <a:xfrm xmlns:a="http://schemas.openxmlformats.org/drawingml/2006/main">
            <a:off x="704850" y="2114550"/>
            <a:ext cx="10763250" cy="3371850"/>
          </a:xfrm>
          <a:prstGeom xmlns:a="http://schemas.openxmlformats.org/drawingml/2006/main" prst="rect">
            <a:avLst/>
          </a:prstGeom>
          <a:solidFill xmlns:a="http://schemas.openxmlformats.org/drawingml/2006/main">
            <a:srgbClr val="E4E6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84F4052-D813-473A-86ED-236F87409D3D}"/>
              </a:ext>
            </a:extLst>
          </p:cNvPr>
          <p:cNvSpPr>
            <a:spLocks xmlns:a="http://schemas.openxmlformats.org/drawingml/2006/main" noGrp="1"/>
          </p:cNvSpPr>
          <p:nvPr/>
        </p:nvSpPr>
        <p:spPr>
          <a:xfrm xmlns:a="http://schemas.openxmlformats.org/drawingml/2006/main">
            <a:off x="990600" y="23622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TRABAJO DE EQUIPO</a:t>
            </a:r>
          </a:p>
        </p:txBody>
      </p:sp>
      <p:sp>
        <p:nvSpPr>
          <p:cNvPr id="13" name="">
            <a:extLst xmlns:a="http://schemas.openxmlformats.org/drawingml/2006/main">
              <a:ext uri="{FF2B5EF4-FFF2-40B4-BE49-F238E27FC236}">
                <a16:creationId xmlns:a16="http://schemas.microsoft.com/office/drawing/2014/main" id="{3572A346-F63D-451E-9D5C-5B3F6E95D785}"/>
              </a:ext>
            </a:extLst>
          </p:cNvPr>
          <p:cNvSpPr>
            <a:spLocks xmlns:a="http://schemas.openxmlformats.org/drawingml/2006/main" noGrp="1"/>
          </p:cNvSpPr>
          <p:nvPr/>
        </p:nvSpPr>
        <p:spPr>
          <a:xfrm xmlns:a="http://schemas.openxmlformats.org/drawingml/2006/main">
            <a:off x="990600" y="2800350"/>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550" b="0" i="0">
                <a:solidFill>
                  <a:srgbClr val="181817"/>
                </a:solidFill>
                <a:latin typeface="Didot"/>
                <a:ea typeface="Didot"/>
                <a:cs typeface="Didot"/>
              </a:defRPr>
            </a:pPr>
            <a:r>
              <a:rPr sz="2550" b="0" i="0">
                <a:solidFill>
                  <a:srgbClr val="181817"/>
                </a:solidFill>
                <a:latin typeface="Didot"/>
                <a:ea typeface="Didot"/>
                <a:cs typeface="Didot"/>
              </a:rPr>
              <a:t>Mapa de dependencias</a:t>
            </a:r>
          </a:p>
        </p:txBody>
      </p:sp>
      <p:sp>
        <p:nvSpPr>
          <p:cNvPr id="14" name="">
            <a:extLst xmlns:a="http://schemas.openxmlformats.org/drawingml/2006/main">
              <a:ext uri="{FF2B5EF4-FFF2-40B4-BE49-F238E27FC236}">
                <a16:creationId xmlns:a16="http://schemas.microsoft.com/office/drawing/2014/main" id="{A55EBC27-2AF9-4F87-A774-666551AAAF45}"/>
              </a:ext>
            </a:extLst>
          </p:cNvPr>
          <p:cNvSpPr>
            <a:spLocks xmlns:a="http://schemas.openxmlformats.org/drawingml/2006/main" noGrp="1"/>
          </p:cNvSpPr>
          <p:nvPr/>
        </p:nvSpPr>
        <p:spPr>
          <a:xfrm xmlns:a="http://schemas.openxmlformats.org/drawingml/2006/main">
            <a:off x="990600" y="3638550"/>
            <a:ext cx="8096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b="0" i="0">
                <a:solidFill>
                  <a:srgbClr val="181817"/>
                </a:solidFill>
                <a:latin typeface="Avenir"/>
                <a:ea typeface="Avenir"/>
                <a:cs typeface="Avenir"/>
              </a:defRPr>
            </a:pPr>
            <a:r>
              <a:rPr sz="1575" b="0" i="0">
                <a:solidFill>
                  <a:srgbClr val="181817"/>
                </a:solidFill>
                <a:latin typeface="Avenir"/>
                <a:ea typeface="Avenir"/>
                <a:cs typeface="Avenir"/>
              </a:rPr>
              <a:t>Otro equipo examina si las fuentes elegidas son realmente independientes. Debe detectar copias, resúmenes o transformaciones que provienen del mismo rastro original y reformular la triangulación.</a:t>
            </a:r>
          </a:p>
        </p:txBody>
      </p:sp>
      <p:sp>
        <p:nvSpPr>
          <p:cNvPr id="15" name="">
            <a:extLst xmlns:a="http://schemas.openxmlformats.org/drawingml/2006/main">
              <a:ext uri="{FF2B5EF4-FFF2-40B4-BE49-F238E27FC236}">
                <a16:creationId xmlns:a16="http://schemas.microsoft.com/office/drawing/2014/main" id="{DAC19FC6-A58B-4567-892F-930F1DC7F13B}"/>
              </a:ext>
            </a:extLst>
          </p:cNvPr>
          <p:cNvSpPr>
            <a:spLocks xmlns:a="http://schemas.openxmlformats.org/drawingml/2006/main" noGrp="1"/>
          </p:cNvSpPr>
          <p:nvPr/>
        </p:nvSpPr>
        <p:spPr>
          <a:xfrm xmlns:a="http://schemas.openxmlformats.org/drawingml/2006/main">
            <a:off x="9620250" y="2457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5B5D59"/>
                </a:solidFill>
                <a:latin typeface="Avenir"/>
                <a:ea typeface="Avenir"/>
                <a:cs typeface="Avenir"/>
              </a:defRPr>
            </a:pPr>
            <a:r>
              <a:rPr sz="1050" b="1" i="0">
                <a:solidFill>
                  <a:srgbClr val="5B5D59"/>
                </a:solidFill>
                <a:latin typeface="Avenir"/>
                <a:ea typeface="Avenir"/>
                <a:cs typeface="Avenir"/>
              </a:rPr>
              <a:t>TIEMPO</a:t>
            </a:r>
          </a:p>
        </p:txBody>
      </p:sp>
      <p:sp>
        <p:nvSpPr>
          <p:cNvPr id="16" name="">
            <a:extLst xmlns:a="http://schemas.openxmlformats.org/drawingml/2006/main">
              <a:ext uri="{FF2B5EF4-FFF2-40B4-BE49-F238E27FC236}">
                <a16:creationId xmlns:a16="http://schemas.microsoft.com/office/drawing/2014/main" id="{B74056B7-3A32-4B49-9715-FE64D5D2BF2D}"/>
              </a:ext>
            </a:extLst>
          </p:cNvPr>
          <p:cNvSpPr>
            <a:spLocks xmlns:a="http://schemas.openxmlformats.org/drawingml/2006/main" noGrp="1"/>
          </p:cNvSpPr>
          <p:nvPr/>
        </p:nvSpPr>
        <p:spPr>
          <a:xfrm xmlns:a="http://schemas.openxmlformats.org/drawingml/2006/main">
            <a:off x="9601200" y="2933700"/>
            <a:ext cx="1190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181817"/>
                </a:solidFill>
                <a:latin typeface="Didot"/>
                <a:ea typeface="Didot"/>
                <a:cs typeface="Didot"/>
              </a:defRPr>
            </a:pPr>
            <a:r>
              <a:rPr sz="1800" b="0" i="0">
                <a:solidFill>
                  <a:srgbClr val="181817"/>
                </a:solidFill>
                <a:latin typeface="Didot"/>
                <a:ea typeface="Didot"/>
                <a:cs typeface="Didot"/>
              </a:rPr>
              <a:t>15</a:t>
            </a:r>
          </a:p>
          <a:p xmlns:a="http://schemas.openxmlformats.org/drawingml/2006/main">
            <a:pPr>
              <a:defRPr sz="1800" b="0" i="0">
                <a:solidFill>
                  <a:srgbClr val="181817"/>
                </a:solidFill>
                <a:latin typeface="Didot"/>
                <a:ea typeface="Didot"/>
                <a:cs typeface="Didot"/>
              </a:defRPr>
            </a:pPr>
            <a:r>
              <a:rPr sz="1800" b="0" i="0">
                <a:solidFill>
                  <a:srgbClr val="181817"/>
                </a:solidFill>
                <a:latin typeface="Didot"/>
                <a:ea typeface="Didot"/>
                <a:cs typeface="Didot"/>
              </a:rPr>
              <a:t>minutos</a:t>
            </a:r>
          </a:p>
        </p:txBody>
      </p:sp>
    </p:spTree>
    <p:extLst>
      <p:ext uri="{BB962C8B-B14F-4D97-AF65-F5344CB8AC3E}">
        <p14:creationId xmlns:p14="http://schemas.microsoft.com/office/powerpoint/2010/main" val="1899128868"/>
      </p:ext>
    </p:extLst>
  </p:cSld>
</p:sld>
</file>

<file path=ppt/slides/slide7.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E271D97-7D6F-4E73-9B1D-A0B99064E02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6AA818-4830-47C5-9A04-7B196EAF6EAD}"/>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3E3623C0-2A6A-42B1-B583-6B0F365CD028}"/>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07</a:t>
            </a:r>
          </a:p>
        </p:txBody>
      </p:sp>
      <p:sp>
        <p:nvSpPr>
          <p:cNvPr id="4" name="">
            <a:extLst xmlns:a="http://schemas.openxmlformats.org/drawingml/2006/main">
              <a:ext uri="{FF2B5EF4-FFF2-40B4-BE49-F238E27FC236}">
                <a16:creationId xmlns:a16="http://schemas.microsoft.com/office/drawing/2014/main" id="{BB9213BD-342E-46FC-9E9E-C4FC93557935}"/>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60F0A335-33D8-49B3-B52C-DD554355B0F9}"/>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A6AC7F-32F7-4817-A131-5D3C505EEE0A}"/>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68E46DE-67C9-4A5C-9A1C-5A6DC36D9DC4}"/>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B3BAAA31-4D64-40E4-85DC-34FD5C752425}"/>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Tribunal de explicaciones rivales</a:t>
            </a:r>
          </a:p>
        </p:txBody>
      </p:sp>
      <p:sp>
        <p:nvSpPr>
          <p:cNvPr id="9" name="">
            <a:extLst xmlns:a="http://schemas.openxmlformats.org/drawingml/2006/main">
              <a:ext uri="{FF2B5EF4-FFF2-40B4-BE49-F238E27FC236}">
                <a16:creationId xmlns:a16="http://schemas.microsoft.com/office/drawing/2014/main" id="{A3B83561-FC59-4BED-8731-531CAE9B8A7C}"/>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7D92A5DF-E27F-4BD3-9D2A-B8562F9652AB}"/>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24 MIN</a:t>
            </a:r>
          </a:p>
        </p:txBody>
      </p:sp>
      <p:sp>
        <p:nvSpPr>
          <p:cNvPr id="11" name="">
            <a:extLst xmlns:a="http://schemas.openxmlformats.org/drawingml/2006/main">
              <a:ext uri="{FF2B5EF4-FFF2-40B4-BE49-F238E27FC236}">
                <a16:creationId xmlns:a16="http://schemas.microsoft.com/office/drawing/2014/main" id="{0C920322-B90C-4BB2-B595-CC0483DAEF5C}"/>
              </a:ext>
            </a:extLst>
          </p:cNvPr>
          <p:cNvSpPr>
            <a:spLocks xmlns:a="http://schemas.openxmlformats.org/drawingml/2006/main" noGrp="1"/>
          </p:cNvSpPr>
          <p:nvPr/>
        </p:nvSpPr>
        <p:spPr>
          <a:xfrm xmlns:a="http://schemas.openxmlformats.org/drawingml/2006/main">
            <a:off x="704850" y="223837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3600" b="1" i="0">
                <a:solidFill>
                  <a:srgbClr val="181817"/>
                </a:solidFill>
                <a:latin typeface="Avenir"/>
                <a:ea typeface="Avenir"/>
                <a:cs typeface="Avenir"/>
              </a:defRPr>
            </a:pPr>
            <a:r>
              <a:rPr sz="3600" b="1" i="0">
                <a:solidFill>
                  <a:srgbClr val="181817"/>
                </a:solidFill>
                <a:latin typeface="Avenir"/>
                <a:ea typeface="Avenir"/>
                <a:cs typeface="Avenir"/>
              </a:rPr>
              <a:t>EVIDENCIA NUEVA</a:t>
            </a:r>
          </a:p>
        </p:txBody>
      </p:sp>
      <p:sp>
        <p:nvSpPr>
          <p:cNvPr id="12" name="">
            <a:extLst xmlns:a="http://schemas.openxmlformats.org/drawingml/2006/main">
              <a:ext uri="{FF2B5EF4-FFF2-40B4-BE49-F238E27FC236}">
                <a16:creationId xmlns:a16="http://schemas.microsoft.com/office/drawing/2014/main" id="{69961BAF-B17B-4DF1-B348-F67F4B2A777D}"/>
              </a:ext>
            </a:extLst>
          </p:cNvPr>
          <p:cNvSpPr>
            <a:spLocks xmlns:a="http://schemas.openxmlformats.org/drawingml/2006/main" noGrp="1"/>
          </p:cNvSpPr>
          <p:nvPr/>
        </p:nvSpPr>
        <p:spPr>
          <a:xfrm xmlns:a="http://schemas.openxmlformats.org/drawingml/2006/main">
            <a:off x="704850" y="3086100"/>
            <a:ext cx="1066800" cy="1143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6D93323-3BA8-4B64-A181-A202F9A0244F}"/>
              </a:ext>
            </a:extLst>
          </p:cNvPr>
          <p:cNvSpPr>
            <a:spLocks xmlns:a="http://schemas.openxmlformats.org/drawingml/2006/main" noGrp="1"/>
          </p:cNvSpPr>
          <p:nvPr/>
        </p:nvSpPr>
        <p:spPr>
          <a:xfrm xmlns:a="http://schemas.openxmlformats.org/drawingml/2006/main">
            <a:off x="704850" y="3524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500"/>
          </a:bodyPr>
          <a:lstStyle xmlns:a="http://schemas.openxmlformats.org/drawingml/2006/main"/>
          <a:p xmlns:a="http://schemas.openxmlformats.org/drawingml/2006/main">
            <a:pPr>
              <a:defRPr sz="2250" b="0" i="0">
                <a:solidFill>
                  <a:srgbClr val="181817"/>
                </a:solidFill>
                <a:latin typeface="Didot"/>
                <a:ea typeface="Didot"/>
                <a:cs typeface="Didot"/>
              </a:defRPr>
            </a:pPr>
            <a:r>
              <a:rPr sz="2250" b="0" i="0">
                <a:solidFill>
                  <a:srgbClr val="181817"/>
                </a:solidFill>
                <a:latin typeface="Didot"/>
                <a:ea typeface="Didot"/>
                <a:cs typeface="Didot"/>
              </a:rPr>
              <a:t>Tres subgrupos sostienen, respectivamente, falla técnica, incompatibilidad semántica y promesa comercial desacoplada. Cada uno presenta: evidencia favorable; evidencia que lo debilita; puente inferencial; supuesto crítico; dato ausente de mayor valor.…</a:t>
            </a:r>
          </a:p>
        </p:txBody>
      </p:sp>
      <p:sp>
        <p:nvSpPr>
          <p:cNvPr id="14" name="">
            <a:extLst xmlns:a="http://schemas.openxmlformats.org/drawingml/2006/main">
              <a:ext uri="{FF2B5EF4-FFF2-40B4-BE49-F238E27FC236}">
                <a16:creationId xmlns:a16="http://schemas.microsoft.com/office/drawing/2014/main" id="{C529F562-49AE-4E66-8D41-D672C55BB013}"/>
              </a:ext>
            </a:extLst>
          </p:cNvPr>
          <p:cNvSpPr>
            <a:spLocks xmlns:a="http://schemas.openxmlformats.org/drawingml/2006/main" noGrp="1"/>
          </p:cNvSpPr>
          <p:nvPr/>
        </p:nvSpPr>
        <p:spPr>
          <a:xfrm xmlns:a="http://schemas.openxmlformats.org/drawingml/2006/main">
            <a:off x="704850" y="516255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Localicen qué cambia, qué se sostiene y qué todavía falta probar.</a:t>
            </a:r>
          </a:p>
        </p:txBody>
      </p:sp>
    </p:spTree>
    <p:extLst>
      <p:ext uri="{BB962C8B-B14F-4D97-AF65-F5344CB8AC3E}">
        <p14:creationId xmlns:p14="http://schemas.microsoft.com/office/powerpoint/2010/main" val="1851423532"/>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9210427-2F6E-476D-99C8-7D934CF6C3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5ABDED-9E29-464A-A117-9C12EAB8B527}"/>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430032AC-5280-4249-B163-65D00B972C33}"/>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08</a:t>
            </a:r>
          </a:p>
        </p:txBody>
      </p:sp>
      <p:sp>
        <p:nvSpPr>
          <p:cNvPr id="4" name="">
            <a:extLst xmlns:a="http://schemas.openxmlformats.org/drawingml/2006/main">
              <a:ext uri="{FF2B5EF4-FFF2-40B4-BE49-F238E27FC236}">
                <a16:creationId xmlns:a16="http://schemas.microsoft.com/office/drawing/2014/main" id="{01FA4014-A9D2-4A7B-8C2D-2C9B3E6ED91C}"/>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AAF75DCE-25F1-4CBD-80DF-FB3F035C0217}"/>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6C81A0D-8E33-4ACC-8ECB-97DB8E2BB938}"/>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9634227-3161-403A-B36C-FF2DAAC3751C}"/>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E033F574-F9F1-4023-ADE3-F7E57586CC3B}"/>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Registro AED</a:t>
            </a:r>
          </a:p>
        </p:txBody>
      </p:sp>
      <p:sp>
        <p:nvSpPr>
          <p:cNvPr id="9" name="">
            <a:extLst xmlns:a="http://schemas.openxmlformats.org/drawingml/2006/main">
              <a:ext uri="{FF2B5EF4-FFF2-40B4-BE49-F238E27FC236}">
                <a16:creationId xmlns:a16="http://schemas.microsoft.com/office/drawing/2014/main" id="{894BCBA7-5F28-4C15-BD0F-15B62741AF91}"/>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BF995E04-C439-4033-B0E6-A10AB2FA82E5}"/>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17 MIN</a:t>
            </a:r>
          </a:p>
        </p:txBody>
      </p:sp>
      <p:sp>
        <p:nvSpPr>
          <p:cNvPr id="11" name="">
            <a:extLst xmlns:a="http://schemas.openxmlformats.org/drawingml/2006/main">
              <a:ext uri="{FF2B5EF4-FFF2-40B4-BE49-F238E27FC236}">
                <a16:creationId xmlns:a16="http://schemas.microsoft.com/office/drawing/2014/main" id="{3D34AFFB-38A7-4275-9580-28109E7382BE}"/>
              </a:ext>
            </a:extLst>
          </p:cNvPr>
          <p:cNvSpPr>
            <a:spLocks xmlns:a="http://schemas.openxmlformats.org/drawingml/2006/main" noGrp="1"/>
          </p:cNvSpPr>
          <p:nvPr/>
        </p:nvSpPr>
        <p:spPr>
          <a:xfrm xmlns:a="http://schemas.openxmlformats.org/drawingml/2006/main">
            <a:off x="704850" y="19526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Cada equipo completa afirmación, evidencia, decisión y revisión. Debe autorizar una acción proporcionada, asignar responsable, plazo y señal de revisión, y declarar qué decisión más amplia continúa vedada.</a:t>
            </a:r>
          </a:p>
        </p:txBody>
      </p:sp>
      <p:sp>
        <p:nvSpPr>
          <p:cNvPr id="12" name="">
            <a:extLst xmlns:a="http://schemas.openxmlformats.org/drawingml/2006/main">
              <a:ext uri="{FF2B5EF4-FFF2-40B4-BE49-F238E27FC236}">
                <a16:creationId xmlns:a16="http://schemas.microsoft.com/office/drawing/2014/main" id="{0E6FCBD3-C206-402D-9307-9286C3A0C4D2}"/>
              </a:ext>
            </a:extLst>
          </p:cNvPr>
          <p:cNvSpPr>
            <a:spLocks xmlns:a="http://schemas.openxmlformats.org/drawingml/2006/main" noGrp="1"/>
          </p:cNvSpPr>
          <p:nvPr/>
        </p:nvSpPr>
        <p:spPr>
          <a:xfrm xmlns:a="http://schemas.openxmlformats.org/drawingml/2006/main">
            <a:off x="704850" y="3000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01</a:t>
            </a:r>
          </a:p>
        </p:txBody>
      </p:sp>
      <p:sp>
        <p:nvSpPr>
          <p:cNvPr id="13" name="">
            <a:extLst xmlns:a="http://schemas.openxmlformats.org/drawingml/2006/main">
              <a:ext uri="{FF2B5EF4-FFF2-40B4-BE49-F238E27FC236}">
                <a16:creationId xmlns:a16="http://schemas.microsoft.com/office/drawing/2014/main" id="{D7D6F892-7B23-4D60-AFDB-40F751C14E64}"/>
              </a:ext>
            </a:extLst>
          </p:cNvPr>
          <p:cNvSpPr>
            <a:spLocks xmlns:a="http://schemas.openxmlformats.org/drawingml/2006/main" noGrp="1"/>
          </p:cNvSpPr>
          <p:nvPr/>
        </p:nvSpPr>
        <p:spPr>
          <a:xfrm xmlns:a="http://schemas.openxmlformats.org/drawingml/2006/main">
            <a:off x="1314450" y="294322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Citar el punto observado</a:t>
            </a:r>
          </a:p>
        </p:txBody>
      </p:sp>
      <p:sp>
        <p:nvSpPr>
          <p:cNvPr id="14" name="">
            <a:extLst xmlns:a="http://schemas.openxmlformats.org/drawingml/2006/main">
              <a:ext uri="{FF2B5EF4-FFF2-40B4-BE49-F238E27FC236}">
                <a16:creationId xmlns:a16="http://schemas.microsoft.com/office/drawing/2014/main" id="{C94596C4-ABB4-4410-A45D-0B159329E59C}"/>
              </a:ext>
            </a:extLst>
          </p:cNvPr>
          <p:cNvSpPr>
            <a:spLocks xmlns:a="http://schemas.openxmlformats.org/drawingml/2006/main" noGrp="1"/>
          </p:cNvSpPr>
          <p:nvPr/>
        </p:nvSpPr>
        <p:spPr>
          <a:xfrm xmlns:a="http://schemas.openxmlformats.org/drawingml/2006/main">
            <a:off x="1314450" y="3743325"/>
            <a:ext cx="4000500" cy="19050"/>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74C00FB-3DB1-4494-9728-3BEB5D5C256A}"/>
              </a:ext>
            </a:extLst>
          </p:cNvPr>
          <p:cNvSpPr>
            <a:spLocks xmlns:a="http://schemas.openxmlformats.org/drawingml/2006/main" noGrp="1"/>
          </p:cNvSpPr>
          <p:nvPr/>
        </p:nvSpPr>
        <p:spPr>
          <a:xfrm xmlns:a="http://schemas.openxmlformats.org/drawingml/2006/main">
            <a:off x="6086475" y="3000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02</a:t>
            </a:r>
          </a:p>
        </p:txBody>
      </p:sp>
      <p:sp>
        <p:nvSpPr>
          <p:cNvPr id="16" name="">
            <a:extLst xmlns:a="http://schemas.openxmlformats.org/drawingml/2006/main">
              <a:ext uri="{FF2B5EF4-FFF2-40B4-BE49-F238E27FC236}">
                <a16:creationId xmlns:a16="http://schemas.microsoft.com/office/drawing/2014/main" id="{EDE30103-3941-447A-9451-AA7F9C8C7D72}"/>
              </a:ext>
            </a:extLst>
          </p:cNvPr>
          <p:cNvSpPr>
            <a:spLocks xmlns:a="http://schemas.openxmlformats.org/drawingml/2006/main" noGrp="1"/>
          </p:cNvSpPr>
          <p:nvPr/>
        </p:nvSpPr>
        <p:spPr>
          <a:xfrm xmlns:a="http://schemas.openxmlformats.org/drawingml/2006/main">
            <a:off x="6696075" y="294322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Nombrar la relación débil</a:t>
            </a:r>
          </a:p>
        </p:txBody>
      </p:sp>
      <p:sp>
        <p:nvSpPr>
          <p:cNvPr id="17" name="">
            <a:extLst xmlns:a="http://schemas.openxmlformats.org/drawingml/2006/main">
              <a:ext uri="{FF2B5EF4-FFF2-40B4-BE49-F238E27FC236}">
                <a16:creationId xmlns:a16="http://schemas.microsoft.com/office/drawing/2014/main" id="{3B52309E-B3FA-408D-9F52-70EF7E6FBC28}"/>
              </a:ext>
            </a:extLst>
          </p:cNvPr>
          <p:cNvSpPr>
            <a:spLocks xmlns:a="http://schemas.openxmlformats.org/drawingml/2006/main" noGrp="1"/>
          </p:cNvSpPr>
          <p:nvPr/>
        </p:nvSpPr>
        <p:spPr>
          <a:xfrm xmlns:a="http://schemas.openxmlformats.org/drawingml/2006/main">
            <a:off x="6696075" y="3743325"/>
            <a:ext cx="4000500" cy="19050"/>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5C9A9A-2C13-46F6-AB3E-B280DB6EE85B}"/>
              </a:ext>
            </a:extLst>
          </p:cNvPr>
          <p:cNvSpPr>
            <a:spLocks xmlns:a="http://schemas.openxmlformats.org/drawingml/2006/main" noGrp="1"/>
          </p:cNvSpPr>
          <p:nvPr/>
        </p:nvSpPr>
        <p:spPr>
          <a:xfrm xmlns:a="http://schemas.openxmlformats.org/drawingml/2006/main">
            <a:off x="704850" y="423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03</a:t>
            </a:r>
          </a:p>
        </p:txBody>
      </p:sp>
      <p:sp>
        <p:nvSpPr>
          <p:cNvPr id="19" name="">
            <a:extLst xmlns:a="http://schemas.openxmlformats.org/drawingml/2006/main">
              <a:ext uri="{FF2B5EF4-FFF2-40B4-BE49-F238E27FC236}">
                <a16:creationId xmlns:a16="http://schemas.microsoft.com/office/drawing/2014/main" id="{209AD64B-1AED-486C-AB4B-73CE362F13B8}"/>
              </a:ext>
            </a:extLst>
          </p:cNvPr>
          <p:cNvSpPr>
            <a:spLocks xmlns:a="http://schemas.openxmlformats.org/drawingml/2006/main" noGrp="1"/>
          </p:cNvSpPr>
          <p:nvPr/>
        </p:nvSpPr>
        <p:spPr>
          <a:xfrm xmlns:a="http://schemas.openxmlformats.org/drawingml/2006/main">
            <a:off x="1314450" y="418147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Proponer una prueba</a:t>
            </a:r>
          </a:p>
        </p:txBody>
      </p:sp>
      <p:sp>
        <p:nvSpPr>
          <p:cNvPr id="20" name="">
            <a:extLst xmlns:a="http://schemas.openxmlformats.org/drawingml/2006/main">
              <a:ext uri="{FF2B5EF4-FFF2-40B4-BE49-F238E27FC236}">
                <a16:creationId xmlns:a16="http://schemas.microsoft.com/office/drawing/2014/main" id="{FF68D3C7-C401-42BC-BE7A-7E394474644E}"/>
              </a:ext>
            </a:extLst>
          </p:cNvPr>
          <p:cNvSpPr>
            <a:spLocks xmlns:a="http://schemas.openxmlformats.org/drawingml/2006/main" noGrp="1"/>
          </p:cNvSpPr>
          <p:nvPr/>
        </p:nvSpPr>
        <p:spPr>
          <a:xfrm xmlns:a="http://schemas.openxmlformats.org/drawingml/2006/main">
            <a:off x="1314450" y="4981575"/>
            <a:ext cx="4000500" cy="1905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F01A495-ACD3-4385-9CD5-C1622FF3B523}"/>
              </a:ext>
            </a:extLst>
          </p:cNvPr>
          <p:cNvSpPr>
            <a:spLocks xmlns:a="http://schemas.openxmlformats.org/drawingml/2006/main" noGrp="1"/>
          </p:cNvSpPr>
          <p:nvPr/>
        </p:nvSpPr>
        <p:spPr>
          <a:xfrm xmlns:a="http://schemas.openxmlformats.org/drawingml/2006/main">
            <a:off x="6086475" y="423862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04</a:t>
            </a:r>
          </a:p>
        </p:txBody>
      </p:sp>
      <p:sp>
        <p:nvSpPr>
          <p:cNvPr id="22" name="">
            <a:extLst xmlns:a="http://schemas.openxmlformats.org/drawingml/2006/main">
              <a:ext uri="{FF2B5EF4-FFF2-40B4-BE49-F238E27FC236}">
                <a16:creationId xmlns:a16="http://schemas.microsoft.com/office/drawing/2014/main" id="{4C39945A-8DAA-4AF0-B781-F49B72BF3906}"/>
              </a:ext>
            </a:extLst>
          </p:cNvPr>
          <p:cNvSpPr>
            <a:spLocks xmlns:a="http://schemas.openxmlformats.org/drawingml/2006/main" noGrp="1"/>
          </p:cNvSpPr>
          <p:nvPr/>
        </p:nvSpPr>
        <p:spPr>
          <a:xfrm xmlns:a="http://schemas.openxmlformats.org/drawingml/2006/main">
            <a:off x="6696075" y="418147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1" i="0">
                <a:solidFill>
                  <a:srgbClr val="181817"/>
                </a:solidFill>
                <a:latin typeface="Avenir"/>
                <a:ea typeface="Avenir"/>
                <a:cs typeface="Avenir"/>
              </a:defRPr>
            </a:pPr>
            <a:r>
              <a:rPr sz="2025" b="1" i="0">
                <a:solidFill>
                  <a:srgbClr val="181817"/>
                </a:solidFill>
                <a:latin typeface="Avenir"/>
                <a:ea typeface="Avenir"/>
                <a:cs typeface="Avenir"/>
              </a:rPr>
              <a:t>Evitar resolver por el otro equipo</a:t>
            </a:r>
          </a:p>
        </p:txBody>
      </p:sp>
      <p:sp>
        <p:nvSpPr>
          <p:cNvPr id="23" name="">
            <a:extLst xmlns:a="http://schemas.openxmlformats.org/drawingml/2006/main">
              <a:ext uri="{FF2B5EF4-FFF2-40B4-BE49-F238E27FC236}">
                <a16:creationId xmlns:a16="http://schemas.microsoft.com/office/drawing/2014/main" id="{B3EEF01F-F4A3-4C0E-B6C5-AB8219CD7549}"/>
              </a:ext>
            </a:extLst>
          </p:cNvPr>
          <p:cNvSpPr>
            <a:spLocks xmlns:a="http://schemas.openxmlformats.org/drawingml/2006/main" noGrp="1"/>
          </p:cNvSpPr>
          <p:nvPr/>
        </p:nvSpPr>
        <p:spPr>
          <a:xfrm xmlns:a="http://schemas.openxmlformats.org/drawingml/2006/main">
            <a:off x="6696075" y="4981575"/>
            <a:ext cx="4000500" cy="19050"/>
          </a:xfrm>
          <a:prstGeom xmlns:a="http://schemas.openxmlformats.org/drawingml/2006/main" prst="rect">
            <a:avLst/>
          </a:prstGeom>
          <a:solidFill xmlns:a="http://schemas.openxmlformats.org/drawingml/2006/main">
            <a:srgbClr val="AEB1AE"/>
          </a:solidFill>
          <a:ln xmlns:a="http://schemas.openxmlformats.org/drawingml/2006/main" w="0">
            <a:noFill/>
          </a:ln>
        </p:spPr>
      </p:sp>
    </p:spTree>
    <p:extLst>
      <p:ext uri="{BB962C8B-B14F-4D97-AF65-F5344CB8AC3E}">
        <p14:creationId xmlns:p14="http://schemas.microsoft.com/office/powerpoint/2010/main" val="1612326398"/>
      </p:ext>
    </p:extLst>
  </p:cSld>
</p:sld>
</file>

<file path=ppt/slides/slide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25F3A5B-5BF0-46C1-8C62-70D8CCD1B53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B61E1C-08BC-4CE3-B745-CB28A02F21BB}"/>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4DE1F1EB-A51B-499A-831F-F99093443F8E}"/>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09</a:t>
            </a:r>
          </a:p>
        </p:txBody>
      </p:sp>
      <p:sp>
        <p:nvSpPr>
          <p:cNvPr id="4" name="">
            <a:extLst xmlns:a="http://schemas.openxmlformats.org/drawingml/2006/main">
              <a:ext uri="{FF2B5EF4-FFF2-40B4-BE49-F238E27FC236}">
                <a16:creationId xmlns:a16="http://schemas.microsoft.com/office/drawing/2014/main" id="{EE78970F-8620-408D-AE6C-2A6472A4B97E}"/>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ENCUENTRO</a:t>
            </a:r>
          </a:p>
        </p:txBody>
      </p:sp>
      <p:sp>
        <p:nvSpPr>
          <p:cNvPr id="5" name="">
            <a:extLst xmlns:a="http://schemas.openxmlformats.org/drawingml/2006/main">
              <a:ext uri="{FF2B5EF4-FFF2-40B4-BE49-F238E27FC236}">
                <a16:creationId xmlns:a16="http://schemas.microsoft.com/office/drawing/2014/main" id="{0CE01742-3F9B-4D3B-8485-C6ABF32283B0}"/>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445CDD9-EE02-4DC5-9DA8-813C50700F92}"/>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46D6DBC-158A-4E06-9662-18EC06138841}"/>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89C0B9BB-20F8-4EE8-98A3-2FDFF6666F7E}"/>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Cierre individual y puente</a:t>
            </a:r>
          </a:p>
        </p:txBody>
      </p:sp>
      <p:sp>
        <p:nvSpPr>
          <p:cNvPr id="9" name="">
            <a:extLst xmlns:a="http://schemas.openxmlformats.org/drawingml/2006/main">
              <a:ext uri="{FF2B5EF4-FFF2-40B4-BE49-F238E27FC236}">
                <a16:creationId xmlns:a16="http://schemas.microsoft.com/office/drawing/2014/main" id="{AB39E61B-F37F-415E-A889-F418D86F191E}"/>
              </a:ext>
            </a:extLst>
          </p:cNvPr>
          <p:cNvSpPr>
            <a:spLocks xmlns:a="http://schemas.openxmlformats.org/drawingml/2006/main" noGrp="1"/>
          </p:cNvSpPr>
          <p:nvPr/>
        </p:nvSpPr>
        <p:spPr>
          <a:xfrm xmlns:a="http://schemas.openxmlformats.org/drawingml/2006/main">
            <a:off x="10001250" y="1200150"/>
            <a:ext cx="1238250" cy="514350"/>
          </a:xfrm>
          <a:prstGeom xmlns:a="http://schemas.openxmlformats.org/drawingml/2006/main" prst="roundRect">
            <a:avLst>
              <a:gd name="adj" fmla="val 14815"/>
            </a:avLst>
          </a:prstGeom>
          <a:solidFill xmlns:a="http://schemas.openxmlformats.org/drawingml/2006/main">
            <a:srgbClr val="E4E6E5"/>
          </a:solidFill>
          <a:ln xmlns:a="http://schemas.openxmlformats.org/drawingml/2006/main" w="9525">
            <a:solidFill>
              <a:srgbClr val="AEB1AE"/>
            </a:solidFill>
          </a:ln>
        </p:spPr>
      </p:sp>
      <p:sp>
        <p:nvSpPr>
          <p:cNvPr id="10" name="">
            <a:extLst xmlns:a="http://schemas.openxmlformats.org/drawingml/2006/main">
              <a:ext uri="{FF2B5EF4-FFF2-40B4-BE49-F238E27FC236}">
                <a16:creationId xmlns:a16="http://schemas.microsoft.com/office/drawing/2014/main" id="{A72D2453-AFC3-4A9B-9C96-2140BB1FD744}"/>
              </a:ext>
            </a:extLst>
          </p:cNvPr>
          <p:cNvSpPr>
            <a:spLocks xmlns:a="http://schemas.openxmlformats.org/drawingml/2006/main" noGrp="1"/>
          </p:cNvSpPr>
          <p:nvPr/>
        </p:nvSpPr>
        <p:spPr>
          <a:xfrm xmlns:a="http://schemas.openxmlformats.org/drawingml/2006/main">
            <a:off x="10001250" y="132397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defRPr sz="1125" b="1" i="0">
                <a:solidFill>
                  <a:srgbClr val="181817"/>
                </a:solidFill>
                <a:latin typeface="Avenir"/>
                <a:ea typeface="Avenir"/>
                <a:cs typeface="Avenir"/>
              </a:defRPr>
            </a:pPr>
            <a:r>
              <a:rPr sz="1125" b="1" i="0">
                <a:solidFill>
                  <a:srgbClr val="181817"/>
                </a:solidFill>
                <a:latin typeface="Avenir"/>
                <a:ea typeface="Avenir"/>
                <a:cs typeface="Avenir"/>
              </a:rPr>
              <a:t>8 MIN</a:t>
            </a:r>
          </a:p>
        </p:txBody>
      </p:sp>
      <p:sp>
        <p:nvSpPr>
          <p:cNvPr id="11" name="">
            <a:extLst xmlns:a="http://schemas.openxmlformats.org/drawingml/2006/main">
              <a:ext uri="{FF2B5EF4-FFF2-40B4-BE49-F238E27FC236}">
                <a16:creationId xmlns:a16="http://schemas.microsoft.com/office/drawing/2014/main" id="{1D36D551-1409-44CF-BB5D-1D4FA13754F4}"/>
              </a:ext>
            </a:extLst>
          </p:cNvPr>
          <p:cNvSpPr>
            <a:spLocks xmlns:a="http://schemas.openxmlformats.org/drawingml/2006/main" noGrp="1"/>
          </p:cNvSpPr>
          <p:nvPr/>
        </p:nvSpPr>
        <p:spPr>
          <a:xfrm xmlns:a="http://schemas.openxmlformats.org/drawingml/2006/main">
            <a:off x="704850" y="195262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612"/>
          </a:bodyPr>
          <a:lstStyle xmlns:a="http://schemas.openxmlformats.org/drawingml/2006/main"/>
          <a:p xmlns:a="http://schemas.openxmlformats.org/drawingml/2006/main">
            <a:pPr>
              <a:defRPr sz="1500" b="0" i="0">
                <a:solidFill>
                  <a:srgbClr val="5B5D59"/>
                </a:solidFill>
                <a:latin typeface="Avenir"/>
                <a:ea typeface="Avenir"/>
                <a:cs typeface="Avenir"/>
              </a:defRPr>
            </a:pPr>
            <a:r>
              <a:rPr sz="1500" b="0" i="0">
                <a:solidFill>
                  <a:srgbClr val="5B5D59"/>
                </a:solidFill>
                <a:latin typeface="Avenir"/>
                <a:ea typeface="Avenir"/>
                <a:cs typeface="Avenir"/>
              </a:rPr>
              <a:t>Cada persona reescribe una frase de su expediente con un verbo que revele su estatus: observamos, estimamos, inferimos, suponemos o recomendamos. Luego identifica qué actor pudo producir o cuestionar evidencia, preparando N05.</a:t>
            </a:r>
          </a:p>
        </p:txBody>
      </p:sp>
      <p:sp>
        <p:nvSpPr>
          <p:cNvPr id="12" name="">
            <a:extLst xmlns:a="http://schemas.openxmlformats.org/drawingml/2006/main">
              <a:ext uri="{FF2B5EF4-FFF2-40B4-BE49-F238E27FC236}">
                <a16:creationId xmlns:a16="http://schemas.microsoft.com/office/drawing/2014/main" id="{04ECAAFC-A1F1-4182-9C85-34F41AEB1740}"/>
              </a:ext>
            </a:extLst>
          </p:cNvPr>
          <p:cNvSpPr>
            <a:spLocks xmlns:a="http://schemas.openxmlformats.org/drawingml/2006/main" noGrp="1"/>
          </p:cNvSpPr>
          <p:nvPr/>
        </p:nvSpPr>
        <p:spPr>
          <a:xfrm xmlns:a="http://schemas.openxmlformats.org/drawingml/2006/main">
            <a:off x="762000" y="28575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01</a:t>
            </a:r>
          </a:p>
        </p:txBody>
      </p:sp>
      <p:sp>
        <p:nvSpPr>
          <p:cNvPr id="13" name="">
            <a:extLst xmlns:a="http://schemas.openxmlformats.org/drawingml/2006/main">
              <a:ext uri="{FF2B5EF4-FFF2-40B4-BE49-F238E27FC236}">
                <a16:creationId xmlns:a16="http://schemas.microsoft.com/office/drawing/2014/main" id="{E994AB5A-3D70-4F67-A015-0FB43379F1F3}"/>
              </a:ext>
            </a:extLst>
          </p:cNvPr>
          <p:cNvSpPr>
            <a:spLocks xmlns:a="http://schemas.openxmlformats.org/drawingml/2006/main" noGrp="1"/>
          </p:cNvSpPr>
          <p:nvPr/>
        </p:nvSpPr>
        <p:spPr>
          <a:xfrm xmlns:a="http://schemas.openxmlformats.org/drawingml/2006/main">
            <a:off x="1571625" y="27908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181817"/>
                </a:solidFill>
                <a:latin typeface="Didot"/>
                <a:ea typeface="Didot"/>
                <a:cs typeface="Didot"/>
              </a:defRPr>
            </a:pPr>
            <a:r>
              <a:rPr sz="2025" b="0" i="0">
                <a:solidFill>
                  <a:srgbClr val="181817"/>
                </a:solidFill>
                <a:latin typeface="Didot"/>
                <a:ea typeface="Didot"/>
                <a:cs typeface="Didot"/>
              </a:rPr>
              <a:t>Qué sostenemos</a:t>
            </a:r>
          </a:p>
        </p:txBody>
      </p:sp>
      <p:sp>
        <p:nvSpPr>
          <p:cNvPr id="14" name="">
            <a:extLst xmlns:a="http://schemas.openxmlformats.org/drawingml/2006/main">
              <a:ext uri="{FF2B5EF4-FFF2-40B4-BE49-F238E27FC236}">
                <a16:creationId xmlns:a16="http://schemas.microsoft.com/office/drawing/2014/main" id="{912EA2BF-4123-4721-AF3B-4FFFCE216A07}"/>
              </a:ext>
            </a:extLst>
          </p:cNvPr>
          <p:cNvSpPr>
            <a:spLocks xmlns:a="http://schemas.openxmlformats.org/drawingml/2006/main" noGrp="1"/>
          </p:cNvSpPr>
          <p:nvPr/>
        </p:nvSpPr>
        <p:spPr>
          <a:xfrm xmlns:a="http://schemas.openxmlformats.org/drawingml/2006/main">
            <a:off x="9667875" y="2990850"/>
            <a:ext cx="1238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EC1146D-7193-4E68-A65F-555036B92A0C}"/>
              </a:ext>
            </a:extLst>
          </p:cNvPr>
          <p:cNvSpPr>
            <a:spLocks xmlns:a="http://schemas.openxmlformats.org/drawingml/2006/main" noGrp="1"/>
          </p:cNvSpPr>
          <p:nvPr/>
        </p:nvSpPr>
        <p:spPr>
          <a:xfrm xmlns:a="http://schemas.openxmlformats.org/drawingml/2006/main">
            <a:off x="762000" y="35433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02</a:t>
            </a:r>
          </a:p>
        </p:txBody>
      </p:sp>
      <p:sp>
        <p:nvSpPr>
          <p:cNvPr id="16" name="">
            <a:extLst xmlns:a="http://schemas.openxmlformats.org/drawingml/2006/main">
              <a:ext uri="{FF2B5EF4-FFF2-40B4-BE49-F238E27FC236}">
                <a16:creationId xmlns:a16="http://schemas.microsoft.com/office/drawing/2014/main" id="{7B1AB848-327A-41B6-8025-4C2530631C6A}"/>
              </a:ext>
            </a:extLst>
          </p:cNvPr>
          <p:cNvSpPr>
            <a:spLocks xmlns:a="http://schemas.openxmlformats.org/drawingml/2006/main" noGrp="1"/>
          </p:cNvSpPr>
          <p:nvPr/>
        </p:nvSpPr>
        <p:spPr>
          <a:xfrm xmlns:a="http://schemas.openxmlformats.org/drawingml/2006/main">
            <a:off x="1571625" y="34766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181817"/>
                </a:solidFill>
                <a:latin typeface="Didot"/>
                <a:ea typeface="Didot"/>
                <a:cs typeface="Didot"/>
              </a:defRPr>
            </a:pPr>
            <a:r>
              <a:rPr sz="2025" b="0" i="0">
                <a:solidFill>
                  <a:srgbClr val="181817"/>
                </a:solidFill>
                <a:latin typeface="Didot"/>
                <a:ea typeface="Didot"/>
                <a:cs typeface="Didot"/>
              </a:rPr>
              <a:t>Qué evidencia usamos</a:t>
            </a:r>
          </a:p>
        </p:txBody>
      </p:sp>
      <p:sp>
        <p:nvSpPr>
          <p:cNvPr id="17" name="">
            <a:extLst xmlns:a="http://schemas.openxmlformats.org/drawingml/2006/main">
              <a:ext uri="{FF2B5EF4-FFF2-40B4-BE49-F238E27FC236}">
                <a16:creationId xmlns:a16="http://schemas.microsoft.com/office/drawing/2014/main" id="{D9914A0C-7F86-4D15-97D8-9A5346F93E89}"/>
              </a:ext>
            </a:extLst>
          </p:cNvPr>
          <p:cNvSpPr>
            <a:spLocks xmlns:a="http://schemas.openxmlformats.org/drawingml/2006/main" noGrp="1"/>
          </p:cNvSpPr>
          <p:nvPr/>
        </p:nvSpPr>
        <p:spPr>
          <a:xfrm xmlns:a="http://schemas.openxmlformats.org/drawingml/2006/main">
            <a:off x="9667875" y="3676650"/>
            <a:ext cx="1238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9245717-EC46-4849-91CD-C2362E2A75D8}"/>
              </a:ext>
            </a:extLst>
          </p:cNvPr>
          <p:cNvSpPr>
            <a:spLocks xmlns:a="http://schemas.openxmlformats.org/drawingml/2006/main" noGrp="1"/>
          </p:cNvSpPr>
          <p:nvPr/>
        </p:nvSpPr>
        <p:spPr>
          <a:xfrm xmlns:a="http://schemas.openxmlformats.org/drawingml/2006/main">
            <a:off x="762000" y="42291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03</a:t>
            </a:r>
          </a:p>
        </p:txBody>
      </p:sp>
      <p:sp>
        <p:nvSpPr>
          <p:cNvPr id="19" name="">
            <a:extLst xmlns:a="http://schemas.openxmlformats.org/drawingml/2006/main">
              <a:ext uri="{FF2B5EF4-FFF2-40B4-BE49-F238E27FC236}">
                <a16:creationId xmlns:a16="http://schemas.microsoft.com/office/drawing/2014/main" id="{0ACA7BCB-32E3-45B0-8B3C-736FE778771C}"/>
              </a:ext>
            </a:extLst>
          </p:cNvPr>
          <p:cNvSpPr>
            <a:spLocks xmlns:a="http://schemas.openxmlformats.org/drawingml/2006/main" noGrp="1"/>
          </p:cNvSpPr>
          <p:nvPr/>
        </p:nvSpPr>
        <p:spPr>
          <a:xfrm xmlns:a="http://schemas.openxmlformats.org/drawingml/2006/main">
            <a:off x="1571625" y="41624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181817"/>
                </a:solidFill>
                <a:latin typeface="Didot"/>
                <a:ea typeface="Didot"/>
                <a:cs typeface="Didot"/>
              </a:defRPr>
            </a:pPr>
            <a:r>
              <a:rPr sz="2025" b="0" i="0">
                <a:solidFill>
                  <a:srgbClr val="181817"/>
                </a:solidFill>
                <a:latin typeface="Didot"/>
                <a:ea typeface="Didot"/>
                <a:cs typeface="Didot"/>
              </a:rPr>
              <a:t>Qué decidimos</a:t>
            </a:r>
          </a:p>
        </p:txBody>
      </p:sp>
      <p:sp>
        <p:nvSpPr>
          <p:cNvPr id="20" name="">
            <a:extLst xmlns:a="http://schemas.openxmlformats.org/drawingml/2006/main">
              <a:ext uri="{FF2B5EF4-FFF2-40B4-BE49-F238E27FC236}">
                <a16:creationId xmlns:a16="http://schemas.microsoft.com/office/drawing/2014/main" id="{315F9140-C4CA-4FD9-8D7C-9F2F2DC9FE3C}"/>
              </a:ext>
            </a:extLst>
          </p:cNvPr>
          <p:cNvSpPr>
            <a:spLocks xmlns:a="http://schemas.openxmlformats.org/drawingml/2006/main" noGrp="1"/>
          </p:cNvSpPr>
          <p:nvPr/>
        </p:nvSpPr>
        <p:spPr>
          <a:xfrm xmlns:a="http://schemas.openxmlformats.org/drawingml/2006/main">
            <a:off x="9667875" y="4362450"/>
            <a:ext cx="1238250" cy="28575"/>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C333AC9-7AB3-4734-A550-09A47C18302A}"/>
              </a:ext>
            </a:extLst>
          </p:cNvPr>
          <p:cNvSpPr>
            <a:spLocks xmlns:a="http://schemas.openxmlformats.org/drawingml/2006/main" noGrp="1"/>
          </p:cNvSpPr>
          <p:nvPr/>
        </p:nvSpPr>
        <p:spPr>
          <a:xfrm xmlns:a="http://schemas.openxmlformats.org/drawingml/2006/main">
            <a:off x="762000" y="4914900"/>
            <a:ext cx="619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04</a:t>
            </a:r>
          </a:p>
        </p:txBody>
      </p:sp>
      <p:sp>
        <p:nvSpPr>
          <p:cNvPr id="22" name="">
            <a:extLst xmlns:a="http://schemas.openxmlformats.org/drawingml/2006/main">
              <a:ext uri="{FF2B5EF4-FFF2-40B4-BE49-F238E27FC236}">
                <a16:creationId xmlns:a16="http://schemas.microsoft.com/office/drawing/2014/main" id="{BDC30A06-A458-495F-B795-6797C6423B15}"/>
              </a:ext>
            </a:extLst>
          </p:cNvPr>
          <p:cNvSpPr>
            <a:spLocks xmlns:a="http://schemas.openxmlformats.org/drawingml/2006/main" noGrp="1"/>
          </p:cNvSpPr>
          <p:nvPr/>
        </p:nvSpPr>
        <p:spPr>
          <a:xfrm xmlns:a="http://schemas.openxmlformats.org/drawingml/2006/main">
            <a:off x="1571625" y="48482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2025" b="0" i="0">
                <a:solidFill>
                  <a:srgbClr val="181817"/>
                </a:solidFill>
                <a:latin typeface="Didot"/>
                <a:ea typeface="Didot"/>
                <a:cs typeface="Didot"/>
              </a:defRPr>
            </a:pPr>
            <a:r>
              <a:rPr sz="2025" b="0" i="0">
                <a:solidFill>
                  <a:srgbClr val="181817"/>
                </a:solidFill>
                <a:latin typeface="Didot"/>
                <a:ea typeface="Didot"/>
                <a:cs typeface="Didot"/>
              </a:rPr>
              <a:t>Qué podría hacernos revisar</a:t>
            </a:r>
          </a:p>
        </p:txBody>
      </p:sp>
      <p:sp>
        <p:nvSpPr>
          <p:cNvPr id="23" name="">
            <a:extLst xmlns:a="http://schemas.openxmlformats.org/drawingml/2006/main">
              <a:ext uri="{FF2B5EF4-FFF2-40B4-BE49-F238E27FC236}">
                <a16:creationId xmlns:a16="http://schemas.microsoft.com/office/drawing/2014/main" id="{1B5D5528-D8DB-45E0-91B8-0FEAF26FFC3E}"/>
              </a:ext>
            </a:extLst>
          </p:cNvPr>
          <p:cNvSpPr>
            <a:spLocks xmlns:a="http://schemas.openxmlformats.org/drawingml/2006/main" noGrp="1"/>
          </p:cNvSpPr>
          <p:nvPr/>
        </p:nvSpPr>
        <p:spPr>
          <a:xfrm xmlns:a="http://schemas.openxmlformats.org/drawingml/2006/main">
            <a:off x="9667875" y="5048250"/>
            <a:ext cx="1238250" cy="28575"/>
          </a:xfrm>
          <a:prstGeom xmlns:a="http://schemas.openxmlformats.org/drawingml/2006/main" prst="rect">
            <a:avLst/>
          </a:prstGeom>
          <a:solidFill xmlns:a="http://schemas.openxmlformats.org/drawingml/2006/main">
            <a:srgbClr val="CFFF00"/>
          </a:solidFill>
          <a:ln xmlns:a="http://schemas.openxmlformats.org/drawingml/2006/main" w="0">
            <a:noFill/>
          </a:ln>
        </p:spPr>
      </p:sp>
    </p:spTree>
    <p:extLst>
      <p:ext uri="{BB962C8B-B14F-4D97-AF65-F5344CB8AC3E}">
        <p14:creationId xmlns:p14="http://schemas.microsoft.com/office/powerpoint/2010/main" val="1343854012"/>
      </p:ext>
    </p:extLst>
  </p:cSld>
</p:sld>
</file>

<file path=ppt/slides/slide10.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B3105F1-0383-4F04-BB5A-9EC5D58B8DB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FFF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38CA1B-AAC7-4C96-881A-D16F16DB4E8F}"/>
              </a:ext>
            </a:extLst>
          </p:cNvPr>
          <p:cNvSpPr>
            <a:spLocks xmlns:a="http://schemas.openxmlformats.org/drawingml/2006/main" noGrp="1"/>
          </p:cNvSpPr>
          <p:nvPr/>
        </p:nvSpPr>
        <p:spPr>
          <a:xfrm xmlns:a="http://schemas.openxmlformats.org/drawingml/2006/main">
            <a:off x="514350" y="3238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5B5D59"/>
                </a:solidFill>
                <a:latin typeface="Avenir"/>
                <a:ea typeface="Avenir"/>
                <a:cs typeface="Avenir"/>
              </a:defRPr>
            </a:pPr>
            <a:r>
              <a:rPr sz="1200" b="1" i="0">
                <a:solidFill>
                  <a:srgbClr val="5B5D59"/>
                </a:solidFill>
                <a:latin typeface="Avenir"/>
                <a:ea typeface="Avenir"/>
                <a:cs typeface="Avenir"/>
              </a:rPr>
              <a:t>N04  ·  METSI</a:t>
            </a:r>
          </a:p>
        </p:txBody>
      </p:sp>
      <p:sp>
        <p:nvSpPr>
          <p:cNvPr id="3" name="">
            <a:extLst xmlns:a="http://schemas.openxmlformats.org/drawingml/2006/main">
              <a:ext uri="{FF2B5EF4-FFF2-40B4-BE49-F238E27FC236}">
                <a16:creationId xmlns:a16="http://schemas.microsoft.com/office/drawing/2014/main" id="{B2077598-6928-4CA9-A065-4136B859A89F}"/>
              </a:ext>
            </a:extLst>
          </p:cNvPr>
          <p:cNvSpPr>
            <a:spLocks xmlns:a="http://schemas.openxmlformats.org/drawingml/2006/main" noGrp="1"/>
          </p:cNvSpPr>
          <p:nvPr/>
        </p:nvSpPr>
        <p:spPr>
          <a:xfrm xmlns:a="http://schemas.openxmlformats.org/drawingml/2006/main">
            <a:off x="10858500" y="29527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81817"/>
                </a:solidFill>
                <a:latin typeface="Avenir"/>
                <a:ea typeface="Avenir"/>
                <a:cs typeface="Avenir"/>
              </a:defRPr>
            </a:pPr>
            <a:r>
              <a:rPr sz="1350" b="1" i="0">
                <a:solidFill>
                  <a:srgbClr val="181817"/>
                </a:solidFill>
                <a:latin typeface="Avenir"/>
                <a:ea typeface="Avenir"/>
                <a:cs typeface="Avenir"/>
              </a:rPr>
              <a:t>10</a:t>
            </a:r>
          </a:p>
        </p:txBody>
      </p:sp>
      <p:sp>
        <p:nvSpPr>
          <p:cNvPr id="4" name="">
            <a:extLst xmlns:a="http://schemas.openxmlformats.org/drawingml/2006/main">
              <a:ext uri="{FF2B5EF4-FFF2-40B4-BE49-F238E27FC236}">
                <a16:creationId xmlns:a16="http://schemas.microsoft.com/office/drawing/2014/main" id="{CF4C20F9-220B-4237-BD8E-B2E567D62FC8}"/>
              </a:ext>
            </a:extLst>
          </p:cNvPr>
          <p:cNvSpPr>
            <a:spLocks xmlns:a="http://schemas.openxmlformats.org/drawingml/2006/main" noGrp="1"/>
          </p:cNvSpPr>
          <p:nvPr/>
        </p:nvSpPr>
        <p:spPr>
          <a:xfrm xmlns:a="http://schemas.openxmlformats.org/drawingml/2006/main">
            <a:off x="7239000" y="352425"/>
            <a:ext cx="3381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939"/>
          </a:bodyPr>
          <a:lstStyle xmlns:a="http://schemas.openxmlformats.org/drawingml/2006/main"/>
          <a:p xmlns:a="http://schemas.openxmlformats.org/drawingml/2006/main">
            <a:pPr>
              <a:defRPr sz="825" b="1" i="0">
                <a:solidFill>
                  <a:srgbClr val="5B5D59"/>
                </a:solidFill>
                <a:latin typeface="Avenir"/>
                <a:ea typeface="Avenir"/>
                <a:cs typeface="Avenir"/>
              </a:defRPr>
            </a:pPr>
            <a:r>
              <a:rPr sz="825" b="1" i="0">
                <a:solidFill>
                  <a:srgbClr val="5B5D59"/>
                </a:solidFill>
                <a:latin typeface="Avenir"/>
                <a:ea typeface="Avenir"/>
                <a:cs typeface="Avenir"/>
              </a:rPr>
              <a:t>BLOQUE A · ENCUADRE  ·  CIERRE</a:t>
            </a:r>
          </a:p>
        </p:txBody>
      </p:sp>
      <p:sp>
        <p:nvSpPr>
          <p:cNvPr id="5" name="">
            <a:extLst xmlns:a="http://schemas.openxmlformats.org/drawingml/2006/main">
              <a:ext uri="{FF2B5EF4-FFF2-40B4-BE49-F238E27FC236}">
                <a16:creationId xmlns:a16="http://schemas.microsoft.com/office/drawing/2014/main" id="{741E523D-9287-4AA1-AA45-0A477C5D9C4E}"/>
              </a:ext>
            </a:extLst>
          </p:cNvPr>
          <p:cNvSpPr>
            <a:spLocks xmlns:a="http://schemas.openxmlformats.org/drawingml/2006/main" noGrp="1"/>
          </p:cNvSpPr>
          <p:nvPr/>
        </p:nvSpPr>
        <p:spPr>
          <a:xfrm xmlns:a="http://schemas.openxmlformats.org/drawingml/2006/main">
            <a:off x="514350" y="781050"/>
            <a:ext cx="11049000" cy="19050"/>
          </a:xfrm>
          <a:prstGeom xmlns:a="http://schemas.openxmlformats.org/drawingml/2006/main" prst="rect">
            <a:avLst/>
          </a:prstGeom>
          <a:solidFill xmlns:a="http://schemas.openxmlformats.org/drawingml/2006/main">
            <a:srgbClr val="18181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A576BEA-42FA-4467-8C81-A983C89C4D94}"/>
              </a:ext>
            </a:extLst>
          </p:cNvPr>
          <p:cNvSpPr>
            <a:spLocks xmlns:a="http://schemas.openxmlformats.org/drawingml/2006/main" noGrp="1"/>
          </p:cNvSpPr>
          <p:nvPr/>
        </p:nvSpPr>
        <p:spPr>
          <a:xfrm xmlns:a="http://schemas.openxmlformats.org/drawingml/2006/main">
            <a:off x="514350" y="6486525"/>
            <a:ext cx="11049000" cy="9525"/>
          </a:xfrm>
          <a:prstGeom xmlns:a="http://schemas.openxmlformats.org/drawingml/2006/main" prst="rect">
            <a:avLst/>
          </a:prstGeom>
          <a:solidFill xmlns:a="http://schemas.openxmlformats.org/drawingml/2006/main">
            <a:srgbClr val="AEB1A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17AED8-C620-4654-9B5F-8557A5AE1354}"/>
              </a:ext>
            </a:extLst>
          </p:cNvPr>
          <p:cNvSpPr>
            <a:spLocks xmlns:a="http://schemas.openxmlformats.org/drawingml/2006/main" noGrp="1"/>
          </p:cNvSpPr>
          <p:nvPr/>
        </p:nvSpPr>
        <p:spPr>
          <a:xfrm xmlns:a="http://schemas.openxmlformats.org/drawingml/2006/main">
            <a:off x="514350" y="6553200"/>
            <a:ext cx="533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788"/>
          </a:bodyPr>
          <a:lstStyle xmlns:a="http://schemas.openxmlformats.org/drawingml/2006/main"/>
          <a:p xmlns:a="http://schemas.openxmlformats.org/drawingml/2006/main">
            <a:pPr>
              <a:defRPr sz="825" b="0" i="0">
                <a:solidFill>
                  <a:srgbClr val="5B5D59"/>
                </a:solidFill>
                <a:latin typeface="Avenir"/>
                <a:ea typeface="Avenir"/>
                <a:cs typeface="Avenir"/>
              </a:defRPr>
            </a:pPr>
            <a:r>
              <a:rPr sz="825" b="0" i="0">
                <a:solidFill>
                  <a:srgbClr val="5B5D59"/>
                </a:solidFill>
                <a:latin typeface="Avenir"/>
                <a:ea typeface="Avenir"/>
                <a:cs typeface="Avenir"/>
              </a:rPr>
              <a:t>Metodología de Sistemas de Información · FCE UBA</a:t>
            </a:r>
          </a:p>
        </p:txBody>
      </p:sp>
      <p:sp>
        <p:nvSpPr>
          <p:cNvPr id="8" name="">
            <a:extLst xmlns:a="http://schemas.openxmlformats.org/drawingml/2006/main">
              <a:ext uri="{FF2B5EF4-FFF2-40B4-BE49-F238E27FC236}">
                <a16:creationId xmlns:a16="http://schemas.microsoft.com/office/drawing/2014/main" id="{AE485A5E-7ACA-4028-BDB9-3A61E40CB77A}"/>
              </a:ext>
            </a:extLst>
          </p:cNvPr>
          <p:cNvSpPr>
            <a:spLocks xmlns:a="http://schemas.openxmlformats.org/drawingml/2006/main" noGrp="1"/>
          </p:cNvSpPr>
          <p:nvPr/>
        </p:nvSpPr>
        <p:spPr>
          <a:xfrm xmlns:a="http://schemas.openxmlformats.org/drawingml/2006/main">
            <a:off x="704850" y="1066800"/>
            <a:ext cx="8763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0" i="0">
                <a:solidFill>
                  <a:srgbClr val="181817"/>
                </a:solidFill>
                <a:latin typeface="Didot"/>
                <a:ea typeface="Didot"/>
                <a:cs typeface="Didot"/>
              </a:defRPr>
            </a:pPr>
            <a:r>
              <a:rPr sz="3000" b="0" i="0">
                <a:solidFill>
                  <a:srgbClr val="181817"/>
                </a:solidFill>
                <a:latin typeface="Didot"/>
                <a:ea typeface="Didot"/>
                <a:cs typeface="Didot"/>
              </a:rPr>
              <a:t>Puente a N05</a:t>
            </a:r>
          </a:p>
        </p:txBody>
      </p:sp>
      <p:sp>
        <p:nvSpPr>
          <p:cNvPr id="9" name="">
            <a:extLst xmlns:a="http://schemas.openxmlformats.org/drawingml/2006/main">
              <a:ext uri="{FF2B5EF4-FFF2-40B4-BE49-F238E27FC236}">
                <a16:creationId xmlns:a16="http://schemas.microsoft.com/office/drawing/2014/main" id="{013C9A6C-53A1-43BA-BFAD-358132FE701F}"/>
              </a:ext>
            </a:extLst>
          </p:cNvPr>
          <p:cNvSpPr>
            <a:spLocks xmlns:a="http://schemas.openxmlformats.org/drawingml/2006/main" noGrp="1"/>
          </p:cNvSpPr>
          <p:nvPr/>
        </p:nvSpPr>
        <p:spPr>
          <a:xfrm xmlns:a="http://schemas.openxmlformats.org/drawingml/2006/main">
            <a:off x="704850" y="21907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ANTES PENSABA</a:t>
            </a:r>
          </a:p>
        </p:txBody>
      </p:sp>
      <p:sp>
        <p:nvSpPr>
          <p:cNvPr id="10" name="">
            <a:extLst xmlns:a="http://schemas.openxmlformats.org/drawingml/2006/main">
              <a:ext uri="{FF2B5EF4-FFF2-40B4-BE49-F238E27FC236}">
                <a16:creationId xmlns:a16="http://schemas.microsoft.com/office/drawing/2014/main" id="{889FF3BE-AC8B-4C68-81DD-8847A1C4E245}"/>
              </a:ext>
            </a:extLst>
          </p:cNvPr>
          <p:cNvSpPr>
            <a:spLocks xmlns:a="http://schemas.openxmlformats.org/drawingml/2006/main" noGrp="1"/>
          </p:cNvSpPr>
          <p:nvPr/>
        </p:nvSpPr>
        <p:spPr>
          <a:xfrm xmlns:a="http://schemas.openxmlformats.org/drawingml/2006/main">
            <a:off x="4476750" y="21907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AHORA SOSTENGO</a:t>
            </a:r>
          </a:p>
        </p:txBody>
      </p:sp>
      <p:sp>
        <p:nvSpPr>
          <p:cNvPr id="11" name="">
            <a:extLst xmlns:a="http://schemas.openxmlformats.org/drawingml/2006/main">
              <a:ext uri="{FF2B5EF4-FFF2-40B4-BE49-F238E27FC236}">
                <a16:creationId xmlns:a16="http://schemas.microsoft.com/office/drawing/2014/main" id="{99F8337E-D0D9-4B39-BCEC-87FED090E2A0}"/>
              </a:ext>
            </a:extLst>
          </p:cNvPr>
          <p:cNvSpPr>
            <a:spLocks xmlns:a="http://schemas.openxmlformats.org/drawingml/2006/main" noGrp="1"/>
          </p:cNvSpPr>
          <p:nvPr/>
        </p:nvSpPr>
        <p:spPr>
          <a:xfrm xmlns:a="http://schemas.openxmlformats.org/drawingml/2006/main">
            <a:off x="8248650" y="21907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B5D59"/>
                </a:solidFill>
                <a:latin typeface="Avenir"/>
                <a:ea typeface="Avenir"/>
                <a:cs typeface="Avenir"/>
              </a:defRPr>
            </a:pPr>
            <a:r>
              <a:rPr sz="1125" b="1" i="0">
                <a:solidFill>
                  <a:srgbClr val="5B5D59"/>
                </a:solidFill>
                <a:latin typeface="Avenir"/>
                <a:ea typeface="Avenir"/>
                <a:cs typeface="Avenir"/>
              </a:rPr>
              <a:t>TODAVÍA REVISARÍA SI</a:t>
            </a:r>
          </a:p>
        </p:txBody>
      </p:sp>
      <p:sp>
        <p:nvSpPr>
          <p:cNvPr id="12" name="">
            <a:extLst xmlns:a="http://schemas.openxmlformats.org/drawingml/2006/main">
              <a:ext uri="{FF2B5EF4-FFF2-40B4-BE49-F238E27FC236}">
                <a16:creationId xmlns:a16="http://schemas.microsoft.com/office/drawing/2014/main" id="{25A10566-6783-4E92-9501-F5D917082767}"/>
              </a:ext>
            </a:extLst>
          </p:cNvPr>
          <p:cNvSpPr>
            <a:spLocks xmlns:a="http://schemas.openxmlformats.org/drawingml/2006/main" noGrp="1"/>
          </p:cNvSpPr>
          <p:nvPr/>
        </p:nvSpPr>
        <p:spPr>
          <a:xfrm xmlns:a="http://schemas.openxmlformats.org/drawingml/2006/main">
            <a:off x="704850" y="2647950"/>
            <a:ext cx="32194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AEB1AE"/>
            </a:solidFill>
          </a:ln>
        </p:spPr>
      </p:sp>
      <p:sp>
        <p:nvSpPr>
          <p:cNvPr id="13" name="">
            <a:extLst xmlns:a="http://schemas.openxmlformats.org/drawingml/2006/main">
              <a:ext uri="{FF2B5EF4-FFF2-40B4-BE49-F238E27FC236}">
                <a16:creationId xmlns:a16="http://schemas.microsoft.com/office/drawing/2014/main" id="{4A82950C-6DBE-4A81-B3AE-396DBD3733B1}"/>
              </a:ext>
            </a:extLst>
          </p:cNvPr>
          <p:cNvSpPr>
            <a:spLocks xmlns:a="http://schemas.openxmlformats.org/drawingml/2006/main" noGrp="1"/>
          </p:cNvSpPr>
          <p:nvPr/>
        </p:nvSpPr>
        <p:spPr>
          <a:xfrm xmlns:a="http://schemas.openxmlformats.org/drawingml/2006/main">
            <a:off x="4476750" y="2647950"/>
            <a:ext cx="3219450" cy="2190750"/>
          </a:xfrm>
          <a:prstGeom xmlns:a="http://schemas.openxmlformats.org/drawingml/2006/main" prst="rect">
            <a:avLst/>
          </a:prstGeom>
          <a:solidFill xmlns:a="http://schemas.openxmlformats.org/drawingml/2006/main">
            <a:srgbClr val="E4E6E5"/>
          </a:solidFill>
          <a:ln xmlns:a="http://schemas.openxmlformats.org/drawingml/2006/main" w="9525">
            <a:solidFill>
              <a:srgbClr val="AEB1AE"/>
            </a:solidFill>
          </a:ln>
        </p:spPr>
      </p:sp>
      <p:sp>
        <p:nvSpPr>
          <p:cNvPr id="14" name="">
            <a:extLst xmlns:a="http://schemas.openxmlformats.org/drawingml/2006/main">
              <a:ext uri="{FF2B5EF4-FFF2-40B4-BE49-F238E27FC236}">
                <a16:creationId xmlns:a16="http://schemas.microsoft.com/office/drawing/2014/main" id="{AE74CD53-5200-4571-867A-5B59B4EC6E7F}"/>
              </a:ext>
            </a:extLst>
          </p:cNvPr>
          <p:cNvSpPr>
            <a:spLocks xmlns:a="http://schemas.openxmlformats.org/drawingml/2006/main" noGrp="1"/>
          </p:cNvSpPr>
          <p:nvPr/>
        </p:nvSpPr>
        <p:spPr>
          <a:xfrm xmlns:a="http://schemas.openxmlformats.org/drawingml/2006/main">
            <a:off x="8248650" y="2647950"/>
            <a:ext cx="32194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AEB1AE"/>
            </a:solidFill>
          </a:ln>
        </p:spPr>
      </p:sp>
      <p:sp>
        <p:nvSpPr>
          <p:cNvPr id="15" name="">
            <a:extLst xmlns:a="http://schemas.openxmlformats.org/drawingml/2006/main">
              <a:ext uri="{FF2B5EF4-FFF2-40B4-BE49-F238E27FC236}">
                <a16:creationId xmlns:a16="http://schemas.microsoft.com/office/drawing/2014/main" id="{20628D26-E71F-412C-9B0B-4C333874F901}"/>
              </a:ext>
            </a:extLst>
          </p:cNvPr>
          <p:cNvSpPr>
            <a:spLocks xmlns:a="http://schemas.openxmlformats.org/drawingml/2006/main" noGrp="1"/>
          </p:cNvSpPr>
          <p:nvPr/>
        </p:nvSpPr>
        <p:spPr>
          <a:xfrm xmlns:a="http://schemas.openxmlformats.org/drawingml/2006/main">
            <a:off x="704850" y="52197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i="0">
                <a:solidFill>
                  <a:srgbClr val="5B5D59"/>
                </a:solidFill>
                <a:latin typeface="Avenir"/>
                <a:ea typeface="Avenir"/>
                <a:cs typeface="Avenir"/>
              </a:defRPr>
            </a:pPr>
            <a:r>
              <a:rPr sz="1425" b="0" i="0">
                <a:solidFill>
                  <a:srgbClr val="5B5D59"/>
                </a:solidFill>
                <a:latin typeface="Avenir"/>
                <a:ea typeface="Avenir"/>
                <a:cs typeface="Avenir"/>
              </a:rPr>
              <a:t>Cada equipo entrega un registro AED de HH-04 que conserva procedencia, contrasta explicaciones rivales y autoriza una decisión acotada con una condición explícita de revisión.</a:t>
            </a:r>
          </a:p>
        </p:txBody>
      </p:sp>
    </p:spTree>
    <p:extLst>
      <p:ext uri="{BB962C8B-B14F-4D97-AF65-F5344CB8AC3E}">
        <p14:creationId xmlns:p14="http://schemas.microsoft.com/office/powerpoint/2010/main" val="9368274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2026-09-15T15:46:45.4820000Z</dcterms:created>
  <dcterms:modified xsi:type="dcterms:W3CDTF">2026-09-15T15:46:45.4820000Z</dcterms:modified>
</coreProperties>
</file>