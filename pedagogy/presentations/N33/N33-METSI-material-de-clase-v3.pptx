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5b8953936bc419f" /><Relationship Type="http://schemas.openxmlformats.org/officeDocument/2006/relationships/extended-properties" Target="/docProps/app.xml" Id="R063fd61920424983" /><Relationship Type="http://schemas.openxmlformats.org/officeDocument/2006/relationships/officeDocument" Target="/ppt/presentation.xml" Id="R134ae7ff245c410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bc70c39885a461d"/>
  </p:sldMasterIdLst>
  <p:notesMasterIdLst>
    <p:notesMasterId xmlns:r="http://schemas.openxmlformats.org/officeDocument/2006/relationships" r:id="Rd6273bc2602444c7"/>
  </p:notesMasterIdLst>
  <p:sldIdLst>
    <p:sldId xmlns:r="http://schemas.openxmlformats.org/officeDocument/2006/relationships" id="256" r:id="R7706ce36f31e4195"/>
    <p:sldId xmlns:r="http://schemas.openxmlformats.org/officeDocument/2006/relationships" id="257" r:id="Rf8025a7bc5fc45b7"/>
    <p:sldId xmlns:r="http://schemas.openxmlformats.org/officeDocument/2006/relationships" id="258" r:id="R8172cf44becd4445"/>
    <p:sldId xmlns:r="http://schemas.openxmlformats.org/officeDocument/2006/relationships" id="259" r:id="R9b5b15dc58164d25"/>
    <p:sldId xmlns:r="http://schemas.openxmlformats.org/officeDocument/2006/relationships" id="260" r:id="Ra8cb53fb3e4047e0"/>
    <p:sldId xmlns:r="http://schemas.openxmlformats.org/officeDocument/2006/relationships" id="261" r:id="R302f43d497b74434"/>
    <p:sldId xmlns:r="http://schemas.openxmlformats.org/officeDocument/2006/relationships" id="262" r:id="Rd69eadf6d5594396"/>
    <p:sldId xmlns:r="http://schemas.openxmlformats.org/officeDocument/2006/relationships" id="263" r:id="Rc455416400604b4b"/>
    <p:sldId xmlns:r="http://schemas.openxmlformats.org/officeDocument/2006/relationships" id="264" r:id="R31e586cb92fc404f"/>
    <p:sldId xmlns:r="http://schemas.openxmlformats.org/officeDocument/2006/relationships" id="265" r:id="R492a3ffd5e314a8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4c12f27dc9349c1" /><Relationship Type="http://schemas.openxmlformats.org/officeDocument/2006/relationships/slideMaster" Target="/ppt/slideMasters/slideMaster1.xml" Id="R4bc70c39885a461d" /><Relationship Type="http://schemas.openxmlformats.org/officeDocument/2006/relationships/notesMaster" Target="/ppt/notesMasters/notesMaster1.xml" Id="Rd6273bc2602444c7" /><Relationship Type="http://schemas.openxmlformats.org/officeDocument/2006/relationships/presProps" Target="/ppt/presProps.xml" Id="R692e22e5ec584fd3" /><Relationship Type="http://schemas.openxmlformats.org/officeDocument/2006/relationships/tableStyles" Target="/ppt/tableStyles.xml" Id="R752541e321b54f14" /><Relationship Type="http://schemas.openxmlformats.org/officeDocument/2006/relationships/slide" Target="/ppt/slides/slide1.xml" Id="R7706ce36f31e4195" /><Relationship Type="http://schemas.openxmlformats.org/officeDocument/2006/relationships/slide" Target="/ppt/slides/slide2.xml" Id="Rf8025a7bc5fc45b7" /><Relationship Type="http://schemas.openxmlformats.org/officeDocument/2006/relationships/slide" Target="/ppt/slides/slide3.xml" Id="R8172cf44becd4445" /><Relationship Type="http://schemas.openxmlformats.org/officeDocument/2006/relationships/slide" Target="/ppt/slides/slide4.xml" Id="R9b5b15dc58164d25" /><Relationship Type="http://schemas.openxmlformats.org/officeDocument/2006/relationships/slide" Target="/ppt/slides/slide5.xml" Id="Ra8cb53fb3e4047e0" /><Relationship Type="http://schemas.openxmlformats.org/officeDocument/2006/relationships/slide" Target="/ppt/slides/slide6.xml" Id="R302f43d497b74434" /><Relationship Type="http://schemas.openxmlformats.org/officeDocument/2006/relationships/slide" Target="/ppt/slides/slide7.xml" Id="Rd69eadf6d5594396" /><Relationship Type="http://schemas.openxmlformats.org/officeDocument/2006/relationships/slide" Target="/ppt/slides/slide8.xml" Id="Rc455416400604b4b" /><Relationship Type="http://schemas.openxmlformats.org/officeDocument/2006/relationships/slide" Target="/ppt/slides/slide9.xml" Id="R31e586cb92fc404f" /><Relationship Type="http://schemas.openxmlformats.org/officeDocument/2006/relationships/slide" Target="/ppt/slides/slide10.xml" Id="R492a3ffd5e314a8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faeebdb93dc4e8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76c87795a984359" /><Relationship Type="http://schemas.openxmlformats.org/officeDocument/2006/relationships/notesMaster" Target="/ppt/notesMasters/notesMaster1.xml" Id="R09d0ccf962124a8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2dcc20579d147b7" /><Relationship Type="http://schemas.openxmlformats.org/officeDocument/2006/relationships/notesMaster" Target="/ppt/notesMasters/notesMaster1.xml" Id="R85dab0c742ae4eb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3d5650439fa4269" /><Relationship Type="http://schemas.openxmlformats.org/officeDocument/2006/relationships/notesMaster" Target="/ppt/notesMasters/notesMaster1.xml" Id="R926d55a28757431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8d13c0b50314bc6" /><Relationship Type="http://schemas.openxmlformats.org/officeDocument/2006/relationships/notesMaster" Target="/ppt/notesMasters/notesMaster1.xml" Id="Rd651b84c6bf04a5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2ad4ba04038474f" /><Relationship Type="http://schemas.openxmlformats.org/officeDocument/2006/relationships/notesMaster" Target="/ppt/notesMasters/notesMaster1.xml" Id="R7a03d81020b6402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c4b774810194013" /><Relationship Type="http://schemas.openxmlformats.org/officeDocument/2006/relationships/notesMaster" Target="/ppt/notesMasters/notesMaster1.xml" Id="R02bb0ce4fab1497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7291138c44d4d8c" /><Relationship Type="http://schemas.openxmlformats.org/officeDocument/2006/relationships/notesMaster" Target="/ppt/notesMasters/notesMaster1.xml" Id="R327f65521585407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ab0a92cdb1c4988" /><Relationship Type="http://schemas.openxmlformats.org/officeDocument/2006/relationships/notesMaster" Target="/ppt/notesMasters/notesMaster1.xml" Id="Rba5300eb7e974a9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a011fdfe28240c8" /><Relationship Type="http://schemas.openxmlformats.org/officeDocument/2006/relationships/notesMaster" Target="/ppt/notesMasters/notesMaster1.xml" Id="R194de8e2aed1400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96db204ca2a4579" /><Relationship Type="http://schemas.openxmlformats.org/officeDocument/2006/relationships/notesMaster" Target="/ppt/notesMasters/notesMaster1.xml" Id="R4e0cd245b539422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PROPÓSITO DE LA PANTALLA</a:t>
            </a:r>
          </a:p>
          <a:p xmlns:a="http://schemas.openxmlformats.org/drawingml/2006/main">
            <a:r>
              <a:t>Pregunta profesional de N33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FACILITACIÓN SINCRÓNICA</a:t>
            </a:r>
          </a:p>
          <a:p xmlns:a="http://schemas.openxmlformats.org/drawingml/2006/main">
            <a:r>
              <a:t>Preguntar qué cambia después de aprobar.</a:t>
            </a:r>
          </a:p>
          <a:p xmlns:a="http://schemas.openxmlformats.org/drawingml/2006/main">
            <a:r>
              <a:t>Señal para avanzar: Aparecen obligaciones persistentes.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USO ASINCRÓNICO</a:t>
            </a:r>
          </a:p>
          <a:p xmlns:a="http://schemas.openxmlformats.org/drawingml/2006/main">
            <a:r>
              <a:t>Llegar con un registro vivo que permita gobernar un sistema de IA después de su aprobación inicial.</a:t>
            </a:r>
          </a:p>
          <a:p xmlns:a="http://schemas.openxmlformats.org/drawingml/2006/main">
            <a:r>
              <a:t>Presentar esta pantalla como una estación de trabajo. Pedir evidencia visible antes de habilitar la siguiente y abrir una devolución breve entre pares. No convertirla en explicación grabada del texto ya leído.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PREGUNTAS DE SONDEO POSIBLES</a:t>
            </a:r>
          </a:p>
          <a:p xmlns:a="http://schemas.openxmlformats.org/drawingml/2006/main">
            <a:r>
              <a:t>• ¿Qué uso no figura en el inventario?</a:t>
            </a:r>
          </a:p>
          <a:p xmlns:a="http://schemas.openxmlformats.org/drawingml/2006/main">
            <a:r>
              <a:t>• ¿Quién tiene autoridad para detener?</a:t>
            </a:r>
          </a:p>
          <a:p xmlns:a="http://schemas.openxmlformats.org/drawingml/2006/main">
            <a:r>
              <a:t>• ¿Qué cambió en el proveedor?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DEL ENCUENTRO</a:t>
            </a:r>
          </a:p>
          <a:p xmlns:a="http://schemas.openxmlformats.org/drawingml/2006/main">
            <a:r>
              <a:t>Cada equipo entrega un sistema vivo de gobierno HH-33 capaz de detectar cambio, responder incidentes, reparar y retirar.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PROPÓSITO DE LA PANTALLA</a:t>
            </a:r>
          </a:p>
          <a:p xmlns:a="http://schemas.openxmlformats.org/drawingml/2006/main">
            <a:r>
              <a:t>Inventario incompleto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CONSIGNA VISIBLE Y TIEMPO</a:t>
            </a:r>
          </a:p>
          <a:p xmlns:a="http://schemas.openxmlformats.org/drawingml/2006/main">
            <a:r>
              <a:t>Censo de usos ocultos · 10 minutos</a:t>
            </a:r>
          </a:p>
          <a:p xmlns:a="http://schemas.openxmlformats.org/drawingml/2006/main">
            <a:r>
              <a:t>Los equipos encuentran IA en herramientas, proveedores y prácticas no registradas y delimitan la frontera real.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FACILITACIÓN SINCRÓNICA</a:t>
            </a:r>
          </a:p>
          <a:p xmlns:a="http://schemas.openxmlformats.org/drawingml/2006/main">
            <a:r>
              <a:t>Buscar usos indirectos y no usos.</a:t>
            </a:r>
          </a:p>
          <a:p xmlns:a="http://schemas.openxmlformats.org/drawingml/2006/main">
            <a:r>
              <a:t>Señal para avanzar: La frontera es sociotécnica.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USO ASINCRÓNICO</a:t>
            </a:r>
          </a:p>
          <a:p xmlns:a="http://schemas.openxmlformats.org/drawingml/2006/main">
            <a:r>
              <a:t>Llegar con un registro vivo que permita gobernar un sistema de IA después de su aprobación inicial.</a:t>
            </a:r>
          </a:p>
          <a:p xmlns:a="http://schemas.openxmlformats.org/drawingml/2006/main">
            <a:r>
              <a:t>Presentar esta pantalla como una estación de trabajo. Pedir evidencia visible antes de habilitar la siguiente y abrir una devolución breve entre pares. No convertirla en explicación grabada del texto ya leído.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PREGUNTAS DE SONDEO POSIBLES</a:t>
            </a:r>
          </a:p>
          <a:p xmlns:a="http://schemas.openxmlformats.org/drawingml/2006/main">
            <a:r>
              <a:t>• ¿Quién tiene autoridad para detener?</a:t>
            </a:r>
          </a:p>
          <a:p xmlns:a="http://schemas.openxmlformats.org/drawingml/2006/main">
            <a:r>
              <a:t>• ¿Qué cambió en el proveedor?</a:t>
            </a:r>
          </a:p>
          <a:p xmlns:a="http://schemas.openxmlformats.org/drawingml/2006/main">
            <a:r>
              <a:t>• ¿Qué señal revela daño sin caída técnica?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DEL ENCUENTRO</a:t>
            </a:r>
          </a:p>
          <a:p xmlns:a="http://schemas.openxmlformats.org/drawingml/2006/main">
            <a:r>
              <a:t>Cada equipo entrega un sistema vivo de gobierno HH-33 capaz de detectar cambio, responder incidentes, reparar y retirar.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PROPÓSITO DE LA PANTALLA</a:t>
            </a:r>
          </a:p>
          <a:p xmlns:a="http://schemas.openxmlformats.org/drawingml/2006/main">
            <a:r>
              <a:t>Ownership con autoridad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CONSIGNA VISIBLE Y TIEMPO</a:t>
            </a:r>
          </a:p>
          <a:p xmlns:a="http://schemas.openxmlformats.org/drawingml/2006/main">
            <a:r>
              <a:t>Asignación de obligaciones · 15 minutos</a:t>
            </a:r>
          </a:p>
          <a:p xmlns:a="http://schemas.openxmlformats.org/drawingml/2006/main">
            <a:r>
              <a:t>Cada riesgo recibe decisor, autoridad, evidencia, escalamiento y rendición de cuentas.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FACILITACIÓN SINCRÓNICA</a:t>
            </a:r>
          </a:p>
          <a:p xmlns:a="http://schemas.openxmlformats.org/drawingml/2006/main">
            <a:r>
              <a:t>Separar nombre y capacidad.</a:t>
            </a:r>
          </a:p>
          <a:p xmlns:a="http://schemas.openxmlformats.org/drawingml/2006/main">
            <a:r>
              <a:t>Señal para avanzar: Existe rendición de cuentas.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USO ASINCRÓNICO</a:t>
            </a:r>
          </a:p>
          <a:p xmlns:a="http://schemas.openxmlformats.org/drawingml/2006/main">
            <a:r>
              <a:t>Llegar con un registro vivo que permita gobernar un sistema de IA después de su aprobación inicial.</a:t>
            </a:r>
          </a:p>
          <a:p xmlns:a="http://schemas.openxmlformats.org/drawingml/2006/main">
            <a:r>
              <a:t>Presentar esta pantalla como una estación de trabajo. Pedir evidencia visible antes de habilitar la siguiente y abrir una devolución breve entre pares. No convertirla en explicación grabada del texto ya leído.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PREGUNTAS DE SONDEO POSIBLES</a:t>
            </a:r>
          </a:p>
          <a:p xmlns:a="http://schemas.openxmlformats.org/drawingml/2006/main">
            <a:r>
              <a:t>• ¿Qué cambió en el proveedor?</a:t>
            </a:r>
          </a:p>
          <a:p xmlns:a="http://schemas.openxmlformats.org/drawingml/2006/main">
            <a:r>
              <a:t>• ¿Qué señal revela daño sin caída técnica?</a:t>
            </a:r>
          </a:p>
          <a:p xmlns:a="http://schemas.openxmlformats.org/drawingml/2006/main">
            <a:r>
              <a:t>• ¿Cómo puede impugnar una persona?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DEL ENCUENTRO</a:t>
            </a:r>
          </a:p>
          <a:p xmlns:a="http://schemas.openxmlformats.org/drawingml/2006/main">
            <a:r>
              <a:t>Cada equipo entrega un sistema vivo de gobierno HH-33 capaz de detectar cambio, responder incidentes, reparar y retirar.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PROPÓSITO DE LA PANTALLA</a:t>
            </a:r>
          </a:p>
          <a:p xmlns:a="http://schemas.openxmlformats.org/drawingml/2006/main">
            <a:r>
              <a:t>Cadena de procedencia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CONSIGNA VISIBLE Y TIEMPO</a:t>
            </a:r>
          </a:p>
          <a:p xmlns:a="http://schemas.openxmlformats.org/drawingml/2006/main">
            <a:r>
              <a:t>Cadena de procedencia · 15 minutos</a:t>
            </a:r>
          </a:p>
          <a:p xmlns:a="http://schemas.openxmlformats.org/drawingml/2006/main">
            <a:r>
              <a:t>Se rastrean datos, modelo, configuración, versión, proveedor y condiciones de uso.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FACILITACIÓN SINCRÓNICA</a:t>
            </a:r>
          </a:p>
          <a:p xmlns:a="http://schemas.openxmlformats.org/drawingml/2006/main">
            <a:r>
              <a:t>Rastrear versión y proveedor.</a:t>
            </a:r>
          </a:p>
          <a:p xmlns:a="http://schemas.openxmlformats.org/drawingml/2006/main">
            <a:r>
              <a:t>Señal para avanzar: El uso puede reconstruirse.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USO ASINCRÓNICO</a:t>
            </a:r>
          </a:p>
          <a:p xmlns:a="http://schemas.openxmlformats.org/drawingml/2006/main">
            <a:r>
              <a:t>Llegar con un registro vivo que permita gobernar un sistema de IA después de su aprobación inicial.</a:t>
            </a:r>
          </a:p>
          <a:p xmlns:a="http://schemas.openxmlformats.org/drawingml/2006/main">
            <a:r>
              <a:t>Presentar esta pantalla como una estación de trabajo. Pedir evidencia visible antes de habilitar la siguiente y abrir una devolución breve entre pares. No convertirla en explicación grabada del texto ya leído.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PREGUNTAS DE SONDEO POSIBLES</a:t>
            </a:r>
          </a:p>
          <a:p xmlns:a="http://schemas.openxmlformats.org/drawingml/2006/main">
            <a:r>
              <a:t>• ¿Qué señal revela daño sin caída técnica?</a:t>
            </a:r>
          </a:p>
          <a:p xmlns:a="http://schemas.openxmlformats.org/drawingml/2006/main">
            <a:r>
              <a:t>• ¿Cómo puede impugnar una persona?</a:t>
            </a:r>
          </a:p>
          <a:p xmlns:a="http://schemas.openxmlformats.org/drawingml/2006/main">
            <a:r>
              <a:t>• ¿Qué persiste después del retiro?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DEL ENCUENTRO</a:t>
            </a:r>
          </a:p>
          <a:p xmlns:a="http://schemas.openxmlformats.org/drawingml/2006/main">
            <a:r>
              <a:t>Cada equipo entrega un sistema vivo de gobierno HH-33 capaz de detectar cambio, responder incidentes, reparar y retirar.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PROPÓSITO DE LA PANTALLA</a:t>
            </a:r>
          </a:p>
          <a:p xmlns:a="http://schemas.openxmlformats.org/drawingml/2006/main">
            <a:r>
              <a:t>Clasificación de cambios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CONSIGNA VISIBLE Y TIEMPO</a:t>
            </a:r>
          </a:p>
          <a:p xmlns:a="http://schemas.openxmlformats.org/drawingml/2006/main">
            <a:r>
              <a:t>Mesa de control de cambios · 18 minutos</a:t>
            </a:r>
          </a:p>
          <a:p xmlns:a="http://schemas.openxmlformats.org/drawingml/2006/main">
            <a:r>
              <a:t>Se clasifican cambios por impacto y se define qué exige prueba, aprobación, comunicación o detención.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FACILITACIÓN SINCRÓNICA</a:t>
            </a:r>
          </a:p>
          <a:p xmlns:a="http://schemas.openxmlformats.org/drawingml/2006/main">
            <a:r>
              <a:t>Graduar prueba y aprobación.</a:t>
            </a:r>
          </a:p>
          <a:p xmlns:a="http://schemas.openxmlformats.org/drawingml/2006/main">
            <a:r>
              <a:t>Señal para avanzar: No todo cambio pasa silencioso.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USO ASINCRÓNICO</a:t>
            </a:r>
          </a:p>
          <a:p xmlns:a="http://schemas.openxmlformats.org/drawingml/2006/main">
            <a:r>
              <a:t>Llegar con un registro vivo que permita gobernar un sistema de IA después de su aprobación inicial.</a:t>
            </a:r>
          </a:p>
          <a:p xmlns:a="http://schemas.openxmlformats.org/drawingml/2006/main">
            <a:r>
              <a:t>Presentar esta pantalla como una estación de trabajo. Pedir evidencia visible antes de habilitar la siguiente y abrir una devolución breve entre pares. No convertirla en explicación grabada del texto ya leído.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PREGUNTAS DE SONDEO POSIBLES</a:t>
            </a:r>
          </a:p>
          <a:p xmlns:a="http://schemas.openxmlformats.org/drawingml/2006/main">
            <a:r>
              <a:t>• ¿Cómo puede impugnar una persona?</a:t>
            </a:r>
          </a:p>
          <a:p xmlns:a="http://schemas.openxmlformats.org/drawingml/2006/main">
            <a:r>
              <a:t>• ¿Qué persiste después del retiro?</a:t>
            </a:r>
          </a:p>
          <a:p xmlns:a="http://schemas.openxmlformats.org/drawingml/2006/main">
            <a:r>
              <a:t>• ¿Qué uso no figura en el inventario?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DEL ENCUENTRO</a:t>
            </a:r>
          </a:p>
          <a:p xmlns:a="http://schemas.openxmlformats.org/drawingml/2006/main">
            <a:r>
              <a:t>Cada equipo entrega un sistema vivo de gobierno HH-33 capaz de detectar cambio, responder incidentes, reparar y retirar.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PROPÓSITO DE LA PANTALLA</a:t>
            </a:r>
          </a:p>
          <a:p xmlns:a="http://schemas.openxmlformats.org/drawingml/2006/main">
            <a:r>
              <a:t>Deriva HH-33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CONSIGNA VISIBLE Y TIEMPO</a:t>
            </a:r>
          </a:p>
          <a:p xmlns:a="http://schemas.openxmlformats.org/drawingml/2006/main">
            <a:r>
              <a:t>Deriva silenciosa HH-33 · 18 minutos</a:t>
            </a:r>
          </a:p>
          <a:p xmlns:a="http://schemas.openxmlformats.org/drawingml/2006/main">
            <a:r>
              <a:t>La disponibilidad permanece verde, pero un subgrupo empeora. El equipo detecta, contiene y reevalúa.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FACILITACIÓN SINCRÓNICA</a:t>
            </a:r>
          </a:p>
          <a:p xmlns:a="http://schemas.openxmlformats.org/drawingml/2006/main">
            <a:r>
              <a:t>Mirar grupos y outcome.</a:t>
            </a:r>
          </a:p>
          <a:p xmlns:a="http://schemas.openxmlformats.org/drawingml/2006/main">
            <a:r>
              <a:t>Señal para avanzar: Se detecta más que disponibilidad.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USO ASINCRÓNICO</a:t>
            </a:r>
          </a:p>
          <a:p xmlns:a="http://schemas.openxmlformats.org/drawingml/2006/main">
            <a:r>
              <a:t>Llegar con un registro vivo que permita gobernar un sistema de IA después de su aprobación inicial.</a:t>
            </a:r>
          </a:p>
          <a:p xmlns:a="http://schemas.openxmlformats.org/drawingml/2006/main">
            <a:r>
              <a:t>Presentar esta pantalla como una estación de trabajo. Pedir evidencia visible antes de habilitar la siguiente y abrir una devolución breve entre pares. No convertirla en explicación grabada del texto ya leído.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PREGUNTAS DE SONDEO POSIBLES</a:t>
            </a:r>
          </a:p>
          <a:p xmlns:a="http://schemas.openxmlformats.org/drawingml/2006/main">
            <a:r>
              <a:t>• ¿Qué persiste después del retiro?</a:t>
            </a:r>
          </a:p>
          <a:p xmlns:a="http://schemas.openxmlformats.org/drawingml/2006/main">
            <a:r>
              <a:t>• ¿Qué uso no figura en el inventario?</a:t>
            </a:r>
          </a:p>
          <a:p xmlns:a="http://schemas.openxmlformats.org/drawingml/2006/main">
            <a:r>
              <a:t>• ¿Quién tiene autoridad para detener?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DEL ENCUENTRO</a:t>
            </a:r>
          </a:p>
          <a:p xmlns:a="http://schemas.openxmlformats.org/drawingml/2006/main">
            <a:r>
              <a:t>Cada equipo entrega un sistema vivo de gobierno HH-33 capaz de detectar cambio, responder incidentes, reparar y retirar.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PROPÓSITO DE LA PANTALLA</a:t>
            </a:r>
          </a:p>
          <a:p xmlns:a="http://schemas.openxmlformats.org/drawingml/2006/main">
            <a:r>
              <a:t>Contestación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CONSIGNA VISIBLE Y TIEMPO</a:t>
            </a:r>
          </a:p>
          <a:p xmlns:a="http://schemas.openxmlformats.org/drawingml/2006/main">
            <a:r>
              <a:t>Audiencia de contestación · 16 minutos</a:t>
            </a:r>
          </a:p>
          <a:p xmlns:a="http://schemas.openxmlformats.org/drawingml/2006/main">
            <a:r>
              <a:t>Una persona afectada cuestiona una decisión. Se reconstruye fundamento, revisión humana y reparación efectiva.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FACILITACIÓN SINCRÓNICA</a:t>
            </a:r>
          </a:p>
          <a:p xmlns:a="http://schemas.openxmlformats.org/drawingml/2006/main">
            <a:r>
              <a:t>Dar información y acción a la persona.</a:t>
            </a:r>
          </a:p>
          <a:p xmlns:a="http://schemas.openxmlformats.org/drawingml/2006/main">
            <a:r>
              <a:t>Señal para avanzar: La revisión puede reparar.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USO ASINCRÓNICO</a:t>
            </a:r>
          </a:p>
          <a:p xmlns:a="http://schemas.openxmlformats.org/drawingml/2006/main">
            <a:r>
              <a:t>Llegar con un registro vivo que permita gobernar un sistema de IA después de su aprobación inicial.</a:t>
            </a:r>
          </a:p>
          <a:p xmlns:a="http://schemas.openxmlformats.org/drawingml/2006/main">
            <a:r>
              <a:t>Presentar esta pantalla como una estación de trabajo. Pedir evidencia visible antes de habilitar la siguiente y abrir una devolución breve entre pares. No convertirla en explicación grabada del texto ya leído.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PREGUNTAS DE SONDEO POSIBLES</a:t>
            </a:r>
          </a:p>
          <a:p xmlns:a="http://schemas.openxmlformats.org/drawingml/2006/main">
            <a:r>
              <a:t>• ¿Qué uso no figura en el inventario?</a:t>
            </a:r>
          </a:p>
          <a:p xmlns:a="http://schemas.openxmlformats.org/drawingml/2006/main">
            <a:r>
              <a:t>• ¿Quién tiene autoridad para detener?</a:t>
            </a:r>
          </a:p>
          <a:p xmlns:a="http://schemas.openxmlformats.org/drawingml/2006/main">
            <a:r>
              <a:t>• ¿Qué cambió en el proveedor?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DEL ENCUENTRO</a:t>
            </a:r>
          </a:p>
          <a:p xmlns:a="http://schemas.openxmlformats.org/drawingml/2006/main">
            <a:r>
              <a:t>Cada equipo entrega un sistema vivo de gobierno HH-33 capaz de detectar cambio, responder incidentes, reparar y retirar.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PROPÓSITO DE LA PANTALLA</a:t>
            </a:r>
          </a:p>
          <a:p xmlns:a="http://schemas.openxmlformats.org/drawingml/2006/main">
            <a:r>
              <a:t>Incidente de IA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CONSIGNA VISIBLE Y TIEMPO</a:t>
            </a:r>
          </a:p>
          <a:p xmlns:a="http://schemas.openxmlformats.org/drawingml/2006/main">
            <a:r>
              <a:t>Simulacro de retiro · 20 minutos</a:t>
            </a:r>
          </a:p>
          <a:p xmlns:a="http://schemas.openxmlformats.org/drawingml/2006/main">
            <a:r>
              <a:t>Se apaga el sistema por etapas, se sostiene continuidad y se preservan registros, obligaciones y vías de reparación.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FACILITACIÓN SINCRÓNICA</a:t>
            </a:r>
          </a:p>
          <a:p xmlns:a="http://schemas.openxmlformats.org/drawingml/2006/main">
            <a:r>
              <a:t>Coordinar técnica, negocio y derechos.</a:t>
            </a:r>
          </a:p>
          <a:p xmlns:a="http://schemas.openxmlformats.org/drawingml/2006/main">
            <a:r>
              <a:t>Señal para avanzar: Hay contención y comunicación.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USO ASINCRÓNICO</a:t>
            </a:r>
          </a:p>
          <a:p xmlns:a="http://schemas.openxmlformats.org/drawingml/2006/main">
            <a:r>
              <a:t>Llegar con un registro vivo que permita gobernar un sistema de IA después de su aprobación inicial.</a:t>
            </a:r>
          </a:p>
          <a:p xmlns:a="http://schemas.openxmlformats.org/drawingml/2006/main">
            <a:r>
              <a:t>Presentar esta pantalla como una estación de trabajo. Pedir evidencia visible antes de habilitar la siguiente y abrir una devolución breve entre pares. No convertirla en explicación grabada del texto ya leído.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PREGUNTAS DE SONDEO POSIBLES</a:t>
            </a:r>
          </a:p>
          <a:p xmlns:a="http://schemas.openxmlformats.org/drawingml/2006/main">
            <a:r>
              <a:t>• ¿Quién tiene autoridad para detener?</a:t>
            </a:r>
          </a:p>
          <a:p xmlns:a="http://schemas.openxmlformats.org/drawingml/2006/main">
            <a:r>
              <a:t>• ¿Qué cambió en el proveedor?</a:t>
            </a:r>
          </a:p>
          <a:p xmlns:a="http://schemas.openxmlformats.org/drawingml/2006/main">
            <a:r>
              <a:t>• ¿Qué señal revela daño sin caída técnica?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DEL ENCUENTRO</a:t>
            </a:r>
          </a:p>
          <a:p xmlns:a="http://schemas.openxmlformats.org/drawingml/2006/main">
            <a:r>
              <a:t>Cada equipo entrega un sistema vivo de gobierno HH-33 capaz de detectar cambio, responder incidentes, reparar y retirar.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PROPÓSITO DE LA PANTALLA</a:t>
            </a:r>
          </a:p>
          <a:p xmlns:a="http://schemas.openxmlformats.org/drawingml/2006/main">
            <a:r>
              <a:t>Retiro por etapas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CONSIGNA VISIBLE Y TIEMPO</a:t>
            </a:r>
          </a:p>
          <a:p xmlns:a="http://schemas.openxmlformats.org/drawingml/2006/main">
            <a:r>
              <a:t>Cierre y puente · 8 minutos</a:t>
            </a:r>
          </a:p>
          <a:p xmlns:a="http://schemas.openxmlformats.org/drawingml/2006/main">
            <a:r>
              <a:t>Se seleccionan evidencias del curso que N34 integrará en una cadena defendible.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FACILITACIÓN SINCRÓNICA</a:t>
            </a:r>
          </a:p>
          <a:p xmlns:a="http://schemas.openxmlformats.org/drawingml/2006/main">
            <a:r>
              <a:t>Mantener continuidad.</a:t>
            </a:r>
          </a:p>
          <a:p xmlns:a="http://schemas.openxmlformats.org/drawingml/2006/main">
            <a:r>
              <a:t>Señal para avanzar: Las obligaciones sobreviven al sistema.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USO ASINCRÓNICO</a:t>
            </a:r>
          </a:p>
          <a:p xmlns:a="http://schemas.openxmlformats.org/drawingml/2006/main">
            <a:r>
              <a:t>Llegar con un registro vivo que permita gobernar un sistema de IA después de su aprobación inicial.</a:t>
            </a:r>
          </a:p>
          <a:p xmlns:a="http://schemas.openxmlformats.org/drawingml/2006/main">
            <a:r>
              <a:t>Presentar esta pantalla como una estación de trabajo. Pedir evidencia visible antes de habilitar la siguiente y abrir una devolución breve entre pares. No convertirla en explicación grabada del texto ya leído.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PREGUNTAS DE SONDEO POSIBLES</a:t>
            </a:r>
          </a:p>
          <a:p xmlns:a="http://schemas.openxmlformats.org/drawingml/2006/main">
            <a:r>
              <a:t>• ¿Qué cambió en el proveedor?</a:t>
            </a:r>
          </a:p>
          <a:p xmlns:a="http://schemas.openxmlformats.org/drawingml/2006/main">
            <a:r>
              <a:t>• ¿Qué señal revela daño sin caída técnica?</a:t>
            </a:r>
          </a:p>
          <a:p xmlns:a="http://schemas.openxmlformats.org/drawingml/2006/main">
            <a:r>
              <a:t>• ¿Cómo puede impugnar una persona?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DEL ENCUENTRO</a:t>
            </a:r>
          </a:p>
          <a:p xmlns:a="http://schemas.openxmlformats.org/drawingml/2006/main">
            <a:r>
              <a:t>Cada equipo entrega un sistema vivo de gobierno HH-33 capaz de detectar cambio, responder incidentes, reparar y retirar.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PROPÓSITO DE LA PANTALLA</a:t>
            </a:r>
          </a:p>
          <a:p xmlns:a="http://schemas.openxmlformats.org/drawingml/2006/main">
            <a:r>
              <a:t>Puente a N34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FACILITACIÓN SINCRÓNICA</a:t>
            </a:r>
          </a:p>
          <a:p xmlns:a="http://schemas.openxmlformats.org/drawingml/2006/main">
            <a:r>
              <a:t>Elegir evidencias conectadas.</a:t>
            </a:r>
          </a:p>
          <a:p xmlns:a="http://schemas.openxmlformats.org/drawingml/2006/main">
            <a:r>
              <a:t>Señal para avanzar: Surge cadena integral.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USO ASINCRÓNICO</a:t>
            </a:r>
          </a:p>
          <a:p xmlns:a="http://schemas.openxmlformats.org/drawingml/2006/main">
            <a:r>
              <a:t>Llegar con un registro vivo que permita gobernar un sistema de IA después de su aprobación inicial.</a:t>
            </a:r>
          </a:p>
          <a:p xmlns:a="http://schemas.openxmlformats.org/drawingml/2006/main">
            <a:r>
              <a:t>Presentar esta pantalla como una estación de trabajo. Pedir evidencia visible antes de habilitar la siguiente y abrir una devolución breve entre pares. No convertirla en explicación grabada del texto ya leído.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PREGUNTAS DE SONDEO POSIBLES</a:t>
            </a:r>
          </a:p>
          <a:p xmlns:a="http://schemas.openxmlformats.org/drawingml/2006/main">
            <a:r>
              <a:t>• ¿Qué señal revela daño sin caída técnica?</a:t>
            </a:r>
          </a:p>
          <a:p xmlns:a="http://schemas.openxmlformats.org/drawingml/2006/main">
            <a:r>
              <a:t>• ¿Cómo puede impugnar una persona?</a:t>
            </a:r>
          </a:p>
          <a:p xmlns:a="http://schemas.openxmlformats.org/drawingml/2006/main">
            <a:r>
              <a:t>• ¿Qué persiste después del retiro?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DEL ENCUENTRO</a:t>
            </a:r>
          </a:p>
          <a:p xmlns:a="http://schemas.openxmlformats.org/drawingml/2006/main">
            <a:r>
              <a:t>Cada equipo entrega un sistema vivo de gobierno HH-33 capaz de detectar cambio, responder incidentes, reparar y retirar.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f296e697823417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9712ce122dd4d77" /><Relationship Type="http://schemas.openxmlformats.org/officeDocument/2006/relationships/slideLayout" Target="/ppt/slideLayouts/slideLayout1.xml" Id="R83f0a6dd8089489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3f0a6dd8089489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4b607bea044d6e" /><Relationship Type="http://schemas.openxmlformats.org/officeDocument/2006/relationships/notesSlide" Target="/ppt/notesSlides/notesSlide1.xml" Id="R570e07b4f1aa45c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eef00ef80ac48e1" /><Relationship Type="http://schemas.openxmlformats.org/officeDocument/2006/relationships/notesSlide" Target="/ppt/notesSlides/notesSlide2.xml" Id="R488cf0a61d39404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eb4a2491ca4f69" /><Relationship Type="http://schemas.openxmlformats.org/officeDocument/2006/relationships/notesSlide" Target="/ppt/notesSlides/notesSlide3.xml" Id="R1016b381a3084c4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f12701fca34f87" /><Relationship Type="http://schemas.openxmlformats.org/officeDocument/2006/relationships/notesSlide" Target="/ppt/notesSlides/notesSlide4.xml" Id="Rea9044d598ec41b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99312674bf4987" /><Relationship Type="http://schemas.openxmlformats.org/officeDocument/2006/relationships/notesSlide" Target="/ppt/notesSlides/notesSlide5.xml" Id="Rab4629e1d4c4417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e8c556f5af4d3d" /><Relationship Type="http://schemas.openxmlformats.org/officeDocument/2006/relationships/notesSlide" Target="/ppt/notesSlides/notesSlide6.xml" Id="Ra5f3bded8d874bb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436b1a7044457c" /><Relationship Type="http://schemas.openxmlformats.org/officeDocument/2006/relationships/notesSlide" Target="/ppt/notesSlides/notesSlide7.xml" Id="R70ce351037244d7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cdb7dc58f2435c" /><Relationship Type="http://schemas.openxmlformats.org/officeDocument/2006/relationships/notesSlide" Target="/ppt/notesSlides/notesSlide8.xml" Id="R4f6b9f5530e9441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975e8a99a84cb0" /><Relationship Type="http://schemas.openxmlformats.org/officeDocument/2006/relationships/notesSlide" Target="/ppt/notesSlides/notesSlide9.xml" Id="R7086105a1bf0415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05654fe26e41ef" /><Relationship Type="http://schemas.openxmlformats.org/officeDocument/2006/relationships/notesSlide" Target="/ppt/notesSlides/notesSlide10.xml" Id="Rd55346f11a374ae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69CC2B4-CC9F-4F23-BEEB-98D531F0C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62F7CB2-4395-4CA5-ADDD-5B53B306C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N33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5392C01-33A0-44A9-A487-78F1A713E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4E168A4-7B55-4C71-881B-1C91E24FB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2425"/>
            <a:ext cx="3381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BLOQUE G · IA  ·  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79E28B5-A8ED-41DA-AE7C-BEB935677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1DDDAD6-D2ED-47FE-8DA7-FD0F4EC7C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B5C21C0-A575-4932-BD07-9E7FE8E71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5A784E0-A7AD-4EA3-AE04-16F06FD51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239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PREGUNTA PROFESIONAL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E42162C-8C1B-42E3-AE0C-4248ECC50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123950"/>
            <a:ext cx="3667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Gobierno vivo de IA: inventario, responsabilidad, datos, proveedores, cambios, incidentes, reparación y retiro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6CBA1BE-23FC-4AE4-9703-9A35F7750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19250"/>
            <a:ext cx="990600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4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4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¿Cómo mantener bajo control un sistema de inteligencia artificial que cambia mientras se usa y depende de datos, modelos, personas y proveedores distintos?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3BFB6EC-FB9F-4FA6-8908-353B67609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895850"/>
            <a:ext cx="8382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E0B84D2-88D6-4A0A-8C04-0DD746828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219700"/>
            <a:ext cx="8667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65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Respondé antes de explicar. La primera posición queda registrada para revisarla al cierre.</a:t>
            </a:r>
          </a:p>
        </p:txBody>
      </p:sp>
    </p:spTree>
    <p:extLst>
      <p:ext uri="{BB962C8B-B14F-4D97-AF65-F5344CB8AC3E}">
        <p14:creationId xmlns:p14="http://schemas.microsoft.com/office/powerpoint/2010/main" val="19154651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D222FC8-5AA7-4C01-951C-531C7B893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59CAC8A-A2C4-4B2D-9FC4-721091E69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N33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B87538D-C29E-4FCF-A052-042D4D762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D1B347E-674C-495F-91C4-8BB8D9C1B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2425"/>
            <a:ext cx="3381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BLOQUE G · IA  ·  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2407DA-B6FF-4351-9620-D493E9503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757166-6D26-4118-BB49-47DC91262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333F779-F290-4831-B1CB-AB4E4C297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D9C42C6-2564-43EA-AE69-637AB2C9E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876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0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Censo de usos ocultos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329AC5D-F762-4F46-BEC5-773D78CE1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200150"/>
            <a:ext cx="1238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4E6E5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D119718-A6FC-4064-B227-9790FDE5C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323975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10 MIN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071A507-AD48-4B1C-B13D-08AC052F5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52625"/>
            <a:ext cx="10287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50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Los equipos encuentran IA en herramientas, proveedores y prácticas no registradas y delimitan la frontera real.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309E766-2D86-464A-B13A-5AFC4FC3E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905125"/>
            <a:ext cx="10763250" cy="2076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6E5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3E35D67-3FCC-4F8B-AFFF-8AE7303CA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2385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POSICIÓN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5532EB3-C9B4-4207-8B3F-CC1413F42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714750"/>
            <a:ext cx="28098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2BD3C44-D1F9-4075-A8ED-64B32F79F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962400"/>
            <a:ext cx="27813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425" b="0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Una frase antes de debatir.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D26F580-131F-4461-998D-A9710B8FC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32385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RAZÓN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4D3892A-3136-4A3B-8FB9-6821301EA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3714750"/>
            <a:ext cx="28098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DD5BA9C-98A0-47E8-80B4-81ABB49E3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3962400"/>
            <a:ext cx="27813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425" b="0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Una relación que otra persona pueda revisar.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B6645B5-1498-41BF-83DD-77BEC9275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2385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EVIDENCIA FALTANTE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FDAB45A-B0F5-4190-A313-7B6E9C325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714750"/>
            <a:ext cx="28098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415B8E9-3116-4076-94B0-AAFF25D7A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962400"/>
            <a:ext cx="27813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425" b="0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Una relación que otra persona pueda revisar.</a:t>
            </a:r>
          </a:p>
        </p:txBody>
      </p:sp>
    </p:spTree>
    <p:extLst>
      <p:ext uri="{BB962C8B-B14F-4D97-AF65-F5344CB8AC3E}">
        <p14:creationId xmlns:p14="http://schemas.microsoft.com/office/powerpoint/2010/main" val="140996375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2A2CB39-D0F8-4EC6-BE69-FB7D220AD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0CC0D1C-B9FE-4C79-92FA-55A1CC2A5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N33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CEB3401-6410-4D9F-935C-73EE6FFBD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246791-D5FE-4FF3-B92A-F85F54FFA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2425"/>
            <a:ext cx="3381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BLOQUE G · IA  ·  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1B1E17A-7EA0-44B2-B7F4-2725B8076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049A45C-1E55-4B0B-942C-1C8DC9EF2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A320CBE-1DB1-4FB7-86BF-E2FC42CDB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98A1193-C22D-4735-8C8C-42E54D66B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876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0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Asignación de obligaciones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BD9CD58-F8E2-4BF6-8218-051F34218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200150"/>
            <a:ext cx="1238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4E6E5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A319DBC-EF42-40E4-B1F7-E378343C2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323975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15 MIN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9194E02-E0DE-4B75-9FB6-37B33F424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52625"/>
            <a:ext cx="10287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50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Cada riesgo recibe decisor, autoridad, evidencia, escalamiento y rendición de cuentas.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B3D65F3-7F19-490F-9A23-29BA1A2A1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91465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88F4B49-6B01-43C2-945B-0028B92E0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295650"/>
            <a:ext cx="3143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3C781B3-9BF5-4817-8F8E-8237AAA73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543300"/>
            <a:ext cx="3143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1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Primera lectura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9FFA907-2B48-4759-BC0C-F8DC15124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572000"/>
            <a:ext cx="304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35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¿Qué diferencia cambia la decisión?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C7F6B28-C907-4350-8C31-45150C651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91465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C90C5E2-C146-4E09-B2D8-0A79F2BC2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295650"/>
            <a:ext cx="3143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8438B76-20AF-4DC5-AB86-13B4619F0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543300"/>
            <a:ext cx="3143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1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Tensión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ECD1BE8-8DFD-4602-881E-B752BA81B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4572000"/>
            <a:ext cx="304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35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¿Qué diferencia cambia la decisión?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A2A92DC-0F03-4E03-9828-E03033793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91465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7999ECB-69C6-4041-8BF9-1F22749FE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295650"/>
            <a:ext cx="3143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6631855-0D4B-439D-A072-A25EE707C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543300"/>
            <a:ext cx="3143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1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Decisión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5B448E3-7726-4EE1-914F-9C1B573AE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4572000"/>
            <a:ext cx="304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35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¿Qué diferencia cambia la decisión?</a:t>
            </a:r>
          </a:p>
        </p:txBody>
      </p:sp>
    </p:spTree>
    <p:extLst>
      <p:ext uri="{BB962C8B-B14F-4D97-AF65-F5344CB8AC3E}">
        <p14:creationId xmlns:p14="http://schemas.microsoft.com/office/powerpoint/2010/main" val="144979662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5962D29-FDBB-45F1-8345-7E499C40A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3E1C6A4-EE7E-4DC5-A6A7-06434A018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N33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D144D96-8BD2-44BD-A25B-084C53450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8E5A205-C14B-4BB2-ACEE-C6BD698CB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2425"/>
            <a:ext cx="3381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BLOQUE G · IA  ·  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B8A08D5-0CEF-4737-8255-BB33E1E94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48B7B98-2512-40F5-AC49-57906DBCA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2F6B36A-F3F5-4FF1-AD06-111A30D15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DB4B976-9386-4FEA-BB31-001B3CB1A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876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0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Cadena de procedencia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8304935-000A-4AE1-9E9A-DF7E5839F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200150"/>
            <a:ext cx="1238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4E6E5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F37BA63-2EEB-43A6-A477-E61504433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323975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15 MIN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16B089A-7976-497D-976E-12CD8F417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52625"/>
            <a:ext cx="10287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50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Se rastrean datos, modelo, configuración, versión, proveedor y condiciones de uso.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13932FC-7252-4521-A1ED-8DCBF8B6A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43250"/>
            <a:ext cx="571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304"/>
          </a:bodyPr>
          <a:lstStyle xmlns:a="http://schemas.openxmlformats.org/drawingml/2006/main"/>
          <a:p xmlns:a="http://schemas.openxmlformats.org/drawingml/2006/main">
            <a:pPr>
              <a:defRPr sz="34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4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A46D30E-CA23-413F-B8AA-0FF26471A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143250"/>
            <a:ext cx="3905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0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Lo que el artefacto afirma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617440E-C37C-4C9A-B1A9-A61711FCA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819400"/>
            <a:ext cx="19050" cy="2628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1A7D7B6-D84D-4A4F-8F10-D5C7A6D96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143250"/>
            <a:ext cx="571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304"/>
          </a:bodyPr>
          <a:lstStyle xmlns:a="http://schemas.openxmlformats.org/drawingml/2006/main"/>
          <a:p xmlns:a="http://schemas.openxmlformats.org/drawingml/2006/main">
            <a:pPr>
              <a:defRPr sz="34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4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B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B4B4A8E-2B83-4985-96D2-E9CA9A533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143250"/>
            <a:ext cx="3905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0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Lo que la evidencia permite afirmar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A911FC6-5610-460C-8C63-12292A941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648200"/>
            <a:ext cx="9334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75" b="0" i="0">
                <a:solidFill>
                  <a:srgbClr val="5B5D59"/>
                </a:solidFill>
                <a:latin typeface="Didot"/>
                <a:ea typeface="Didot"/>
                <a:cs typeface="Didot"/>
              </a:defRPr>
            </a:pPr>
            <a:r>
              <a:rPr sz="2175" b="0" i="0">
                <a:solidFill>
                  <a:srgbClr val="5B5D59"/>
                </a:solidFill>
                <a:latin typeface="Didot"/>
                <a:ea typeface="Didot"/>
                <a:cs typeface="Didot"/>
              </a:rPr>
              <a:t>La diferencia debe conducir a una revisión observable.</a:t>
            </a:r>
          </a:p>
        </p:txBody>
      </p:sp>
    </p:spTree>
    <p:extLst>
      <p:ext uri="{BB962C8B-B14F-4D97-AF65-F5344CB8AC3E}">
        <p14:creationId xmlns:p14="http://schemas.microsoft.com/office/powerpoint/2010/main" val="112688806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9EC28F8-88C4-40FA-97EB-DFDEA7069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EBA03C8-583B-44A9-8F88-92F673A87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N33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C409571-C0C5-4DA0-B23E-375300164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0123229-7A23-456B-ADA4-1980ADE0D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2425"/>
            <a:ext cx="3381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BLOQUE G · IA  ·  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9FB8207-75B1-4656-991E-703BB6DEA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C963D0E-3BDD-4E93-9E25-A5FE3EC01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C2C3EFE-CD5F-4726-AE57-D8A48C993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8251769-6091-4FC2-9045-6458B5E54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876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0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Mesa de control de cambios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AC1A443-D128-4270-8F5A-1187349DE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200150"/>
            <a:ext cx="1238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4E6E5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75F0E0C-D60E-4FEB-A2D1-F466E8FE1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323975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18 MIN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C7849F7-8AC1-4CBC-8E0C-AA3D4AB70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52625"/>
            <a:ext cx="10287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50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Se clasifican cambios por impacto y se define qué exige prueba, aprobación, comunicación o detención.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904DF38-857D-4164-827E-0A7012658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575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817B731-DC01-4551-AF65-F72025009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819400"/>
            <a:ext cx="885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80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Qué se intenta sostener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ADB1933-EB10-49CB-9E1A-9474A431B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257550"/>
            <a:ext cx="8858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47953E0-3E8F-43B6-A509-B18E4898A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433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D2754BD-C013-438C-BD84-203E2072E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505200"/>
            <a:ext cx="885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800" b="0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Qué evidencia existe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44AED65-CB69-4798-8493-4A778C385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943350"/>
            <a:ext cx="8858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37CDF90-D7F0-4AE9-BC6C-97948B8CA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2291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8E76EC6-9361-4346-A145-F7F975A79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191000"/>
            <a:ext cx="885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800" b="0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Qué falta distinguir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0BB46FD-076D-47F5-8470-D3B4E4852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629150"/>
            <a:ext cx="8858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87700BB-8B96-4992-AF2B-1B3434C6D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149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047C9D8-C27E-494C-B8C0-272B5CD25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876800"/>
            <a:ext cx="885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800" b="0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Qué decisión cambia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E725403-3AB0-4E43-A24F-6C310656F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314950"/>
            <a:ext cx="8858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167213130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F2864BD-A3DC-4F3F-B6DD-FDE8F9145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F0E0620-E54A-4433-960F-258AAD862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N33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DD11BC2-0286-45F4-BA8B-B73FB9196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CDE51C8-3F18-4C0F-AEE6-63BEBD9E7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2425"/>
            <a:ext cx="3381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BLOQUE G · IA  ·  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4AD7886-C003-4C66-BE9C-AED888A4F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918B089-3836-43D0-ACEB-EC5B6D445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86E4C6F-7CDC-4809-B1F5-8120305CE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FE91F10-C03C-4AFB-A0EA-1A985BA5A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876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0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Deriva silenciosa HH-33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07B70FF-E23B-4B36-8328-308F3E7FD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200150"/>
            <a:ext cx="1238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4E6E5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A69DA44-39D6-40EE-AEB7-AB2577AA6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323975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18 MIN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7D7E0F4-DD77-4F7C-996A-DE4B71303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14550"/>
            <a:ext cx="10763250" cy="3371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6E5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F6779B2-61D1-4301-8A1C-500C8F49A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3622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TRABAJO DE EQUIPO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D7BDE96-140C-421D-84DA-592C5759D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800350"/>
            <a:ext cx="7810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5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Deriva HH-33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83ECCCD-B26E-458B-8BCB-A7A70B4A3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638550"/>
            <a:ext cx="809625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575" b="0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La disponibilidad permanece verde, pero un subgrupo empeora. El equipo detecta, contiene y reevalúa.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890ADC7-421E-48C8-A09F-4705DA617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4574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05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TIEMPO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A3FB6F8-A689-4AA8-A890-2DAD2F495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933700"/>
            <a:ext cx="119062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18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18</a:t>
            </a:r>
          </a:p>
          <a:p xmlns:a="http://schemas.openxmlformats.org/drawingml/2006/main">
            <a:pPr>
              <a:defRPr sz="18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18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minutos</a:t>
            </a:r>
          </a:p>
        </p:txBody>
      </p:sp>
    </p:spTree>
    <p:extLst>
      <p:ext uri="{BB962C8B-B14F-4D97-AF65-F5344CB8AC3E}">
        <p14:creationId xmlns:p14="http://schemas.microsoft.com/office/powerpoint/2010/main" val="79913884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3B144EC-71B9-4948-903B-C6F80C90D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D67F3C-0EE3-453A-B2A9-E7DE44F98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N33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DEA44D8-717D-4891-95A1-AB74360A1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B86159D-925E-4400-91EB-97BE87D4F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2425"/>
            <a:ext cx="3381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BLOQUE G · IA  ·  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B6B5A1F-F771-405C-ACCB-DA124D344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4FEA4D4-A85A-4F4B-8045-78EB7CA72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3627348-6D6C-40E9-A961-2407356F1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91F5D54-37F0-4DD1-835F-4CF8B06D3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876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0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Audiencia de contestación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6AE0737-52FF-4E4F-B639-319A87A68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200150"/>
            <a:ext cx="1238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4E6E5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E8D40A1-08C7-459F-BF88-281112486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323975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16 MIN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2B098A1-06AA-422B-90CD-D9173FB8C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238375"/>
            <a:ext cx="10382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>
              <a:defRPr sz="360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360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EVIDENCIA NUEVA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FFDF809-B05B-4A66-AFA4-2CFD1679A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086100"/>
            <a:ext cx="10668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BA2F06E-488D-4A60-A1F3-1DACECEBE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524250"/>
            <a:ext cx="10001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2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Una persona afectada cuestiona una decisión. Se reconstruye fundamento, revisión humana y reparación efectiva.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01BC07D-4279-49D7-82D2-E919130A2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162550"/>
            <a:ext cx="1000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50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Localicen qué cambia, qué se sostiene y qué todavía falta probar.</a:t>
            </a:r>
          </a:p>
        </p:txBody>
      </p:sp>
    </p:spTree>
    <p:extLst>
      <p:ext uri="{BB962C8B-B14F-4D97-AF65-F5344CB8AC3E}">
        <p14:creationId xmlns:p14="http://schemas.microsoft.com/office/powerpoint/2010/main" val="97117233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12B0530-D896-4C4A-A5FB-86AFF0B3E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F006945-7197-4EE4-8411-10AD233C1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N33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97C1315-6A4E-4681-B2F9-5D44F3A76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3D205FD-B8F3-43BB-BF34-5DE559BC1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2425"/>
            <a:ext cx="3381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BLOQUE G · IA  ·  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7F5C4A-AB3B-4AE0-A35E-26A479B55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9393CA4-5528-4C4D-A0C5-0EEA9D958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4350165-14B1-42AB-93B2-CA519ECDD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7AB142C-87C8-4DBF-A361-FE02DC892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876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0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Simulacro de retiro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A2774B7-E0C7-4D3D-8BB1-7BD09C77D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200150"/>
            <a:ext cx="1238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4E6E5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A7F598A-8E88-4A43-8FFD-374CDD1D2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323975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20 MIN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FCADBFD-9D1C-469B-8A4E-2EF1437D6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52625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50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Se apaga el sistema por etapas, se sostiene continuidad y se preservan registros, obligaciones y vías de reparación.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9A2F8A8-6040-4C44-8102-CDC642DF4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000375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B00A6DD-150B-49A5-824F-79C66BC7F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943225"/>
            <a:ext cx="4286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0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Citar el punto observado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C81F9D9-4416-4AD5-9616-3359F7673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743325"/>
            <a:ext cx="4000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1A29DD2-C5D8-42E9-AEC0-09C9C885A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3000375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4BF8589-E95B-49FB-808B-76606C7C8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2943225"/>
            <a:ext cx="4286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0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Nombrar la relación débil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91B4C08-03B7-4DEA-91B7-AD315A431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3743325"/>
            <a:ext cx="4000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C89C5A9-FE52-46E3-B0EE-F0457A5CC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238625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89ABDE0-D228-4E18-8C22-58AC81328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181475"/>
            <a:ext cx="4286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0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Proponer una prueba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10C53AA-B5D5-43ED-909B-74BA0DE8A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981575"/>
            <a:ext cx="4000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839FFB7-DE59-4585-ADAD-1FCC44521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4238625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A0BC817-ACAB-4F61-BB41-3D7826A0C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4181475"/>
            <a:ext cx="4286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0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Evitar resolver por el otro equipo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D640CE9-8201-465A-8001-B7D1B3549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4981575"/>
            <a:ext cx="4000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92798982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C6B111F-9ED3-4DDC-89B0-6C5D269B3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DF9A64-1BEC-4546-81F6-CF62E752D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N33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086E759-5B6D-4E7C-B3B8-B49C18B0E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E07826-CF72-4053-B8A4-9B02F016D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2425"/>
            <a:ext cx="3381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BLOQUE G · IA  ·  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BE03B77-1E2F-4773-BD88-AD2D28C87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8CF65A0-BC69-4A54-874C-FC8A4EFDE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838CADA-55B1-4047-9F92-83A4C129A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D0ED381-0D93-4D0B-BA9B-41EEF1EE3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876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0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Cierre y puente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7A0FE0A-1E6A-4715-85DE-7CCEF9C8C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200150"/>
            <a:ext cx="1238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4E6E5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F825B74-AEAE-4E20-999A-3C9FEE4FB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323975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8 MIN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E3A0E78-CB41-4E57-9D6F-58931A12F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52625"/>
            <a:ext cx="10287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50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Se seleccionan evidencias del curso que N34 integrará en una cadena defendible.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A3AF620-FC9B-4A85-B40E-3B0D40E95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57500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F41C0F2-00FA-481A-9A15-B15BAA454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2790825"/>
            <a:ext cx="8001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025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Qué sostenemos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AA269B1-5B9F-44D3-89CA-C9547A8E7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2990850"/>
            <a:ext cx="1238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C1FF320-F22D-4ACA-9011-42D910B52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43300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68E6D79-B626-436A-9CF7-9FD4CFC31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476625"/>
            <a:ext cx="8001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025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Qué evidencia usamos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8AB9A8D-B90F-430A-8FF7-9D0BDD643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3676650"/>
            <a:ext cx="1238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AD0D463-8916-4CE7-B3E8-0F5EE649F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29100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13FFF80-3BB8-400E-8644-D2CD5578E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4162425"/>
            <a:ext cx="8001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025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Qué decidimos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5AB34E0-E991-490D-AD38-9B375D576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4362450"/>
            <a:ext cx="1238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92FFE1E-6318-49C2-A7E1-6D789B09C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14900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6271A4F-189A-464E-97F1-C846021AC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4848225"/>
            <a:ext cx="8001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025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Qué podría hacernos revisar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189453A-586C-4AEE-8B28-C06ACDE58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5048250"/>
            <a:ext cx="1238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43404855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3F52CE5-5171-4EC7-B3EE-66208B520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8BF67F9-9FAA-46A8-AE03-288C700D9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N33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E17488F-7460-4549-A3AD-7395AED74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AF6C80D-68B1-49B8-95E3-E608F55E0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2425"/>
            <a:ext cx="3381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BLOQUE G · IA  ·  CIERRE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5AD9E1D-DC50-4E92-AD5F-D6D35A6C6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F73AD40-DA53-40CF-9907-9309ADCD6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9E5AD8D-5243-4D60-AE40-509189981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9E889BB-D835-43EF-9A6B-54846340F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876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0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Puente a N34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D734926-950B-410F-AA88-9719408A0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9075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ANTES PENSABA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9E43CDA-D774-4BF6-97E6-36F7D63F1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19075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AHORA SOSTENGO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2F4B1DC-423D-442C-891C-1930E494A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19075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TODAVÍA REVISARÍA SI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0494B5E-2C38-4F81-BC86-ED196CA6E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647950"/>
            <a:ext cx="32194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3196339-B8F4-4F70-8369-0D20C98FC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647950"/>
            <a:ext cx="32194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6E5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0FCB3EB-120A-43DE-BA52-55E75E46E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647950"/>
            <a:ext cx="32194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92837B7-BB90-4E8F-BE28-F4141613F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219700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4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Cada equipo entrega un sistema vivo de gobierno HH-33 capaz de detectar cambio, responder incidentes, reparar y retirar.</a:t>
            </a:r>
          </a:p>
        </p:txBody>
      </p:sp>
    </p:spTree>
    <p:extLst>
      <p:ext uri="{BB962C8B-B14F-4D97-AF65-F5344CB8AC3E}">
        <p14:creationId xmlns:p14="http://schemas.microsoft.com/office/powerpoint/2010/main" val="160765283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2026-09-14T03:54:56.5990000Z</dcterms:created>
  <dcterms:modified xsi:type="dcterms:W3CDTF">2026-09-14T03:54:56.5990000Z</dcterms:modified>
</coreProperties>
</file>