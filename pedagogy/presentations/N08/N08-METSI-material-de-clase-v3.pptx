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730c7f6fad3484a" /><Relationship Type="http://schemas.openxmlformats.org/officeDocument/2006/relationships/extended-properties" Target="/docProps/app.xml" Id="R24532d27c84140d7" /><Relationship Type="http://schemas.openxmlformats.org/officeDocument/2006/relationships/officeDocument" Target="/ppt/presentation.xml" Id="R46b6bfd8e21e4e7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dc796defa5e44a3"/>
  </p:sldMasterIdLst>
  <p:notesMasterIdLst>
    <p:notesMasterId xmlns:r="http://schemas.openxmlformats.org/officeDocument/2006/relationships" r:id="R7fbc4aa86f494886"/>
  </p:notesMasterIdLst>
  <p:sldIdLst>
    <p:sldId xmlns:r="http://schemas.openxmlformats.org/officeDocument/2006/relationships" id="256" r:id="Rf692bee25bb44f5d"/>
    <p:sldId xmlns:r="http://schemas.openxmlformats.org/officeDocument/2006/relationships" id="257" r:id="R5eecf6a6a78e480e"/>
    <p:sldId xmlns:r="http://schemas.openxmlformats.org/officeDocument/2006/relationships" id="258" r:id="Rc896fef2dec54672"/>
    <p:sldId xmlns:r="http://schemas.openxmlformats.org/officeDocument/2006/relationships" id="259" r:id="R77edf79701234251"/>
    <p:sldId xmlns:r="http://schemas.openxmlformats.org/officeDocument/2006/relationships" id="260" r:id="R939cbf9893d34ede"/>
    <p:sldId xmlns:r="http://schemas.openxmlformats.org/officeDocument/2006/relationships" id="261" r:id="R4cf6e167b271452b"/>
    <p:sldId xmlns:r="http://schemas.openxmlformats.org/officeDocument/2006/relationships" id="262" r:id="Re9eed28145194d3a"/>
    <p:sldId xmlns:r="http://schemas.openxmlformats.org/officeDocument/2006/relationships" id="263" r:id="Rac51fbc680414938"/>
    <p:sldId xmlns:r="http://schemas.openxmlformats.org/officeDocument/2006/relationships" id="264" r:id="R10f99f05101b4baa"/>
    <p:sldId xmlns:r="http://schemas.openxmlformats.org/officeDocument/2006/relationships" id="265" r:id="R94a149c2ee3f42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fdfa401270c4d86" /><Relationship Type="http://schemas.openxmlformats.org/officeDocument/2006/relationships/slideMaster" Target="/ppt/slideMasters/slideMaster1.xml" Id="R5dc796defa5e44a3" /><Relationship Type="http://schemas.openxmlformats.org/officeDocument/2006/relationships/notesMaster" Target="/ppt/notesMasters/notesMaster1.xml" Id="R7fbc4aa86f494886" /><Relationship Type="http://schemas.openxmlformats.org/officeDocument/2006/relationships/presProps" Target="/ppt/presProps.xml" Id="Rd445f991321845e2" /><Relationship Type="http://schemas.openxmlformats.org/officeDocument/2006/relationships/tableStyles" Target="/ppt/tableStyles.xml" Id="Re21527afae4d46ee" /><Relationship Type="http://schemas.openxmlformats.org/officeDocument/2006/relationships/slide" Target="/ppt/slides/slide1.xml" Id="Rf692bee25bb44f5d" /><Relationship Type="http://schemas.openxmlformats.org/officeDocument/2006/relationships/slide" Target="/ppt/slides/slide2.xml" Id="R5eecf6a6a78e480e" /><Relationship Type="http://schemas.openxmlformats.org/officeDocument/2006/relationships/slide" Target="/ppt/slides/slide3.xml" Id="Rc896fef2dec54672" /><Relationship Type="http://schemas.openxmlformats.org/officeDocument/2006/relationships/slide" Target="/ppt/slides/slide4.xml" Id="R77edf79701234251" /><Relationship Type="http://schemas.openxmlformats.org/officeDocument/2006/relationships/slide" Target="/ppt/slides/slide5.xml" Id="R939cbf9893d34ede" /><Relationship Type="http://schemas.openxmlformats.org/officeDocument/2006/relationships/slide" Target="/ppt/slides/slide6.xml" Id="R4cf6e167b271452b" /><Relationship Type="http://schemas.openxmlformats.org/officeDocument/2006/relationships/slide" Target="/ppt/slides/slide7.xml" Id="Re9eed28145194d3a" /><Relationship Type="http://schemas.openxmlformats.org/officeDocument/2006/relationships/slide" Target="/ppt/slides/slide8.xml" Id="Rac51fbc680414938" /><Relationship Type="http://schemas.openxmlformats.org/officeDocument/2006/relationships/slide" Target="/ppt/slides/slide9.xml" Id="R10f99f05101b4baa" /><Relationship Type="http://schemas.openxmlformats.org/officeDocument/2006/relationships/slide" Target="/ppt/slides/slide10.xml" Id="R94a149c2ee3f42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8cd977bbc5144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fbab7e315474f0e" /><Relationship Type="http://schemas.openxmlformats.org/officeDocument/2006/relationships/notesMaster" Target="/ppt/notesMasters/notesMaster1.xml" Id="R04471cb3e1c144b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a348dbfd6a43c7" /><Relationship Type="http://schemas.openxmlformats.org/officeDocument/2006/relationships/notesMaster" Target="/ppt/notesMasters/notesMaster1.xml" Id="Rf5fa868530b2423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3f3bfa89d8446f" /><Relationship Type="http://schemas.openxmlformats.org/officeDocument/2006/relationships/notesMaster" Target="/ppt/notesMasters/notesMaster1.xml" Id="Rddb74186f67e47d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7415cb3c2b4a50" /><Relationship Type="http://schemas.openxmlformats.org/officeDocument/2006/relationships/notesMaster" Target="/ppt/notesMasters/notesMaster1.xml" Id="Rdbf3128bec83412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02160ec016d4203" /><Relationship Type="http://schemas.openxmlformats.org/officeDocument/2006/relationships/notesMaster" Target="/ppt/notesMasters/notesMaster1.xml" Id="R49de4cbc4915439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ef7f10236e84521" /><Relationship Type="http://schemas.openxmlformats.org/officeDocument/2006/relationships/notesMaster" Target="/ppt/notesMasters/notesMaster1.xml" Id="Rba0cd5d2055143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f3466f7b9d142be" /><Relationship Type="http://schemas.openxmlformats.org/officeDocument/2006/relationships/notesMaster" Target="/ppt/notesMasters/notesMaster1.xml" Id="R20456d5077e8484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90b42104ae4bea" /><Relationship Type="http://schemas.openxmlformats.org/officeDocument/2006/relationships/notesMaster" Target="/ppt/notesMasters/notesMaster1.xml" Id="Rdb646aea500648a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b238eae741b4220" /><Relationship Type="http://schemas.openxmlformats.org/officeDocument/2006/relationships/notesMaster" Target="/ppt/notesMasters/notesMaster1.xml" Id="R800e1d76a2fd485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86731c36454afc" /><Relationship Type="http://schemas.openxmlformats.org/officeDocument/2006/relationships/notesMaster" Target="/ppt/notesMasters/notesMaster1.xml" Id="R46ad4ce8a9c349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Pregunta profesional de N08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cómo debería funcionar la escena.</a:t>
            </a:r>
          </a:p>
          <a:p xmlns:a="http://schemas.openxmlformats.org/drawingml/2006/main">
            <a:r>
              <a:t>Señal para avanzar: Queda una predicción explícita.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guía para observar un episodio completo sin confundir procedimiento, descripción, interpretación y evaluación de personas.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ocurrió y qué se está interpretando?</a:t>
            </a:r>
          </a:p>
          <a:p xmlns:a="http://schemas.openxmlformats.org/drawingml/2006/main">
            <a:r>
              <a:t>• ¿Qué esperaba el procedimiento que no ocurrió?</a:t>
            </a:r>
          </a:p>
          <a:p xmlns:a="http://schemas.openxmlformats.org/drawingml/2006/main">
            <a:r>
              <a:t>• ¿Qué función conserva esta adaptación?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Reglas de observación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Predicción del procedimiento · 10 minutos</a:t>
            </a:r>
          </a:p>
          <a:p xmlns:a="http://schemas.openxmlformats.org/drawingml/2006/main">
            <a:r>
              <a:t>Sin observar la escena, cada equipo escribe cómo supone que debería resolverse el episodio. Distingue lo imaginado de lo documentado.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Prohibir explicación y recomendación durante la primera pasada.</a:t>
            </a:r>
          </a:p>
          <a:p xmlns:a="http://schemas.openxmlformats.org/drawingml/2006/main">
            <a:r>
              <a:t>Señal para avanzar: Los registros contienen eventos y tiempos.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guía para observar un episodio completo sin confundir procedimiento, descripción, interpretación y evaluación de personas.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esperaba el procedimiento que no ocurrió?</a:t>
            </a:r>
          </a:p>
          <a:p xmlns:a="http://schemas.openxmlformats.org/drawingml/2006/main">
            <a:r>
              <a:t>• ¿Qué función conserva esta adaptación?</a:t>
            </a:r>
          </a:p>
          <a:p xmlns:a="http://schemas.openxmlformats.org/drawingml/2006/main">
            <a:r>
              <a:t>• ¿Qué información viaja y qué significado debe acompañarla?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Cinco focos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Primera observación silenciosa · 15 minutos</a:t>
            </a:r>
          </a:p>
          <a:p xmlns:a="http://schemas.openxmlformats.org/drawingml/2006/main">
            <a:r>
              <a:t>Se ejecuta HH-08. Cada persona registra sólo eventos visibles y tiempos desde un foco asignado. No puede explicar causas ni formular recomendaciones.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Distribuir tiempo, información, coordinación, autoridad y reparación.</a:t>
            </a:r>
          </a:p>
          <a:p xmlns:a="http://schemas.openxmlformats.org/drawingml/2006/main">
            <a:r>
              <a:t>Señal para avanzar: Las observaciones parciales pueden combinarse.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guía para observar un episodio completo sin confundir procedimiento, descripción, interpretación y evaluación de personas.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función conserva esta adaptación?</a:t>
            </a:r>
          </a:p>
          <a:p xmlns:a="http://schemas.openxmlformats.org/drawingml/2006/main">
            <a:r>
              <a:t>• ¿Qué información viaja y qué significado debe acompañarla?</a:t>
            </a:r>
          </a:p>
          <a:p xmlns:a="http://schemas.openxmlformats.org/drawingml/2006/main">
            <a:r>
              <a:t>• ¿Quién autoriza esta microdecisión?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Capas vacías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Clínica de capas · 10 minutos</a:t>
            </a:r>
          </a:p>
          <a:p xmlns:a="http://schemas.openxmlformats.org/drawingml/2006/main">
            <a:r>
              <a:t>El docente compara descripciones incompatibles para distinguir evento, interpretación, pregunta y función sostenida.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Separar recorrido, contacto, trabajo interno, sistemas y reglas.</a:t>
            </a:r>
          </a:p>
          <a:p xmlns:a="http://schemas.openxmlformats.org/drawingml/2006/main">
            <a:r>
              <a:t>Señal para avanzar: Cada tarjeta tiene posición y relación.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guía para observar un episodio completo sin confundir procedimiento, descripción, interpretación y evaluación de personas.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información viaja y qué significado debe acompañarla?</a:t>
            </a:r>
          </a:p>
          <a:p xmlns:a="http://schemas.openxmlformats.org/drawingml/2006/main">
            <a:r>
              <a:t>• ¿Quién autoriza esta microdecisión?</a:t>
            </a:r>
          </a:p>
          <a:p xmlns:a="http://schemas.openxmlformats.org/drawingml/2006/main">
            <a:r>
              <a:t>• ¿Qué cambia al retirar la práctica informal?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Primera reconstrucción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Reconstrucción con artefactos · 25 minutos</a:t>
            </a:r>
          </a:p>
          <a:p xmlns:a="http://schemas.openxmlformats.org/drawingml/2006/main">
            <a:r>
              <a:t>Los equipos ordenan tarjetas y construyen un service blueprint con recorrido, contacto, trabajo visible, trabajo interno, sistemas y reglas. Marcan transferencias, esperas, verificaciones, microdecisiones y reparaciones.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Preguntar qué quedó invisible para cada observador.</a:t>
            </a:r>
          </a:p>
          <a:p xmlns:a="http://schemas.openxmlformats.org/drawingml/2006/main">
            <a:r>
              <a:t>Señal para avanzar: Aparecen transferencias y microdecisiones.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guía para observar un episodio completo sin confundir procedimiento, descripción, interpretación y evaluación de personas.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¿Quién autoriza esta microdecisión?</a:t>
            </a:r>
          </a:p>
          <a:p xmlns:a="http://schemas.openxmlformats.org/drawingml/2006/main">
            <a:r>
              <a:t>• ¿Qué cambia al retirar la práctica informal?</a:t>
            </a:r>
          </a:p>
          <a:p xmlns:a="http://schemas.openxmlformats.org/drawingml/2006/main">
            <a:r>
              <a:t>• ¿Qué debería observarse después del rediseño?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Escena perturbada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Segunda observación perturbada · 18 minutos</a:t>
            </a:r>
          </a:p>
          <a:p xmlns:a="http://schemas.openxmlformats.org/drawingml/2006/main">
            <a:r>
              <a:t>La escena se repite sin una nota informal o sin la persona que conoce la excepción. El equipo observa qué capacidad desaparece, qué riesgo aparece y qué parte del procedimiento oficial resulta insuficiente.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Retirar una práctica que parecía informal.</a:t>
            </a:r>
          </a:p>
          <a:p xmlns:a="http://schemas.openxmlformats.org/drawingml/2006/main">
            <a:r>
              <a:t>Señal para avanzar: Se identifica la función que sostenía.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guía para observar un episodio completo sin confundir procedimiento, descripción, interpretación y evaluación de personas.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cambia al retirar la práctica informal?</a:t>
            </a:r>
          </a:p>
          <a:p xmlns:a="http://schemas.openxmlformats.org/drawingml/2006/main">
            <a:r>
              <a:t>• ¿Qué debería observarse después del rediseño?</a:t>
            </a:r>
          </a:p>
          <a:p xmlns:a="http://schemas.openxmlformats.org/drawingml/2006/main">
            <a:r>
              <a:t>• ¿Qué ocurrió y qué se está interpretando?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Consulta no punitiva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Consulta a quien realiza el trabajo · 17 minutos</a:t>
            </a:r>
          </a:p>
          <a:p xmlns:a="http://schemas.openxmlformats.org/drawingml/2006/main">
            <a:r>
              <a:t>Los equipos formulan preguntas sobre decisiones observadas, sin acusar ni romantizar la adaptación. La persona que representa el rol puede corregir interpretaciones y explicar restricciones.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Pedir decisión y restricción, no justificar conducta personal.</a:t>
            </a:r>
          </a:p>
          <a:p xmlns:a="http://schemas.openxmlformats.org/drawingml/2006/main">
            <a:r>
              <a:t>Señal para avanzar: Las interpretaciones pueden corregirse.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guía para observar un episodio completo sin confundir procedimiento, descripción, interpretación y evaluación de personas.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debería observarse después del rediseño?</a:t>
            </a:r>
          </a:p>
          <a:p xmlns:a="http://schemas.openxmlformats.org/drawingml/2006/main">
            <a:r>
              <a:t>• ¿Qué ocurrió y qué se está interpretando?</a:t>
            </a:r>
          </a:p>
          <a:p xmlns:a="http://schemas.openxmlformats.org/drawingml/2006/main">
            <a:r>
              <a:t>• ¿Qué esperaba el procedimiento que no ocurrió?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Prueba de transformación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Transformación responsable · 17 minutos</a:t>
            </a:r>
          </a:p>
          <a:p xmlns:a="http://schemas.openxmlformats.org/drawingml/2006/main">
            <a:r>
              <a:t>Cada equipo propone un cambio que conserve la función útil y reduzca riesgo o carga. Declara qué deberá observarse después y qué no puede concluirse con una escena.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Conservar capacidad y reducir riesgo o carga.</a:t>
            </a:r>
          </a:p>
          <a:p xmlns:a="http://schemas.openxmlformats.org/drawingml/2006/main">
            <a:r>
              <a:t>Señal para avanzar: El cambio incluye evidencia posterior.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guía para observar un episodio completo sin confundir procedimiento, descripción, interpretación y evaluación de personas.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ocurrió y qué se está interpretando?</a:t>
            </a:r>
          </a:p>
          <a:p xmlns:a="http://schemas.openxmlformats.org/drawingml/2006/main">
            <a:r>
              <a:t>• ¿Qué esperaba el procedimiento que no ocurrió?</a:t>
            </a:r>
          </a:p>
          <a:p xmlns:a="http://schemas.openxmlformats.org/drawingml/2006/main">
            <a:r>
              <a:t>• ¿Qué función conserva esta adaptación?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Límite de inferencia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CONSIGNA VISIBLE Y TIEMPO</a:t>
            </a:r>
          </a:p>
          <a:p xmlns:a="http://schemas.openxmlformats.org/drawingml/2006/main">
            <a:r>
              <a:t>Cierre y puente · 8 minutos</a:t>
            </a:r>
          </a:p>
          <a:p xmlns:a="http://schemas.openxmlformats.org/drawingml/2006/main">
            <a:r>
              <a:t>Cada persona identifica una barrera vivida por quien recibe el servicio y una carga trasladada, preparando el recorrido de experiencia de N09.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Recordar muestra, reactividad y condiciones observadas.</a:t>
            </a:r>
          </a:p>
          <a:p xmlns:a="http://schemas.openxmlformats.org/drawingml/2006/main">
            <a:r>
              <a:t>Señal para avanzar: No se generaliza desde un caso sin declarar alcance.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guía para observar un episodio completo sin confundir procedimiento, descripción, interpretación y evaluación de personas.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esperaba el procedimiento que no ocurrió?</a:t>
            </a:r>
          </a:p>
          <a:p xmlns:a="http://schemas.openxmlformats.org/drawingml/2006/main">
            <a:r>
              <a:t>• ¿Qué función conserva esta adaptación?</a:t>
            </a:r>
          </a:p>
          <a:p xmlns:a="http://schemas.openxmlformats.org/drawingml/2006/main">
            <a:r>
              <a:t>• ¿Qué información viaja y qué significado debe acompañarla?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PROPÓSITO DE LA PANTALLA</a:t>
            </a:r>
          </a:p>
          <a:p xmlns:a="http://schemas.openxmlformats.org/drawingml/2006/main">
            <a:r>
              <a:t>Puente a N09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FACILITACIÓN SINCRÓNICA</a:t>
            </a:r>
          </a:p>
          <a:p xmlns:a="http://schemas.openxmlformats.org/drawingml/2006/main">
            <a:r>
              <a:t>Seguir el episodio desde quien recibe el servicio.</a:t>
            </a:r>
          </a:p>
          <a:p xmlns:a="http://schemas.openxmlformats.org/drawingml/2006/main">
            <a:r>
              <a:t>Señal para avanzar: Aparecen barrera, asistencia y reparación.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USO ASINCRÓNICO</a:t>
            </a:r>
          </a:p>
          <a:p xmlns:a="http://schemas.openxmlformats.org/drawingml/2006/main">
            <a:r>
              <a:t>Llegar con una guía para observar un episodio completo sin confundir procedimiento, descripción, interpretación y evaluación de personas.</a:t>
            </a:r>
          </a:p>
          <a:p xmlns:a="http://schemas.openxmlformats.org/drawingml/2006/main">
            <a:r>
              <a:t>Presentar esta pantalla como una estación de trabajo. Pedir evidencia visible antes de habilitar la siguiente y abrir una devolución breve entre pares. No convertirla en explicación grabada del texto ya leído.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PREGUNTAS DE SONDEO POSIBLES</a:t>
            </a:r>
          </a:p>
          <a:p xmlns:a="http://schemas.openxmlformats.org/drawingml/2006/main">
            <a:r>
              <a:t>• ¿Qué función conserva esta adaptación?</a:t>
            </a:r>
          </a:p>
          <a:p xmlns:a="http://schemas.openxmlformats.org/drawingml/2006/main">
            <a:r>
              <a:t>• ¿Qué información viaja y qué significado debe acompañarla?</a:t>
            </a:r>
          </a:p>
          <a:p xmlns:a="http://schemas.openxmlformats.org/drawingml/2006/main">
            <a:r>
              <a:t>• ¿Quién autoriza esta microdecisión?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RESULTADO DEL ENCUENTRO</a:t>
            </a:r>
          </a:p>
          <a:p xmlns:a="http://schemas.openxmlformats.org/drawingml/2006/main">
            <a: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b0a4a78d575481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bd7116e0d940df" /><Relationship Type="http://schemas.openxmlformats.org/officeDocument/2006/relationships/slideLayout" Target="/ppt/slideLayouts/slideLayout1.xml" Id="Rb4ebe1194b1d471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4ebe1194b1d471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ed6cae3b064f84" /><Relationship Type="http://schemas.openxmlformats.org/officeDocument/2006/relationships/notesSlide" Target="/ppt/notesSlides/notesSlide1.xml" Id="Rb17010a0aeb1449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55ea80e2ab4c0d" /><Relationship Type="http://schemas.openxmlformats.org/officeDocument/2006/relationships/notesSlide" Target="/ppt/notesSlides/notesSlide2.xml" Id="R999ba52dbd0844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d4ab986974cc1" /><Relationship Type="http://schemas.openxmlformats.org/officeDocument/2006/relationships/notesSlide" Target="/ppt/notesSlides/notesSlide3.xml" Id="R442ed6eb221f43e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44eecd9cb94701" /><Relationship Type="http://schemas.openxmlformats.org/officeDocument/2006/relationships/notesSlide" Target="/ppt/notesSlides/notesSlide4.xml" Id="Rb8b5c400a756493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d8d6da70e64ef5" /><Relationship Type="http://schemas.openxmlformats.org/officeDocument/2006/relationships/notesSlide" Target="/ppt/notesSlides/notesSlide5.xml" Id="R8119d7265d154c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c4b5d6b00b4859" /><Relationship Type="http://schemas.openxmlformats.org/officeDocument/2006/relationships/notesSlide" Target="/ppt/notesSlides/notesSlide6.xml" Id="Refa45c336f5340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7876e0879d4259" /><Relationship Type="http://schemas.openxmlformats.org/officeDocument/2006/relationships/notesSlide" Target="/ppt/notesSlides/notesSlide7.xml" Id="Rb981305740f64b8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6dfd15cef44e56" /><Relationship Type="http://schemas.openxmlformats.org/officeDocument/2006/relationships/notesSlide" Target="/ppt/notesSlides/notesSlide8.xml" Id="Re8c21981da9945a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4a2b7f9144465" /><Relationship Type="http://schemas.openxmlformats.org/officeDocument/2006/relationships/notesSlide" Target="/ppt/notesSlides/notesSlide9.xml" Id="R627a05ab0ce645a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2c7a69db54825" /><Relationship Type="http://schemas.openxmlformats.org/officeDocument/2006/relationships/notesSlide" Target="/ppt/notesSlides/notesSlide10.xml" Id="R7e01c57df1df496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57919-737D-4D95-9603-EC1367AD2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B9DAC2-45B2-467A-B7DA-1A24AED45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A7A46B-87BC-4C64-B26B-AD0899A4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088102-6B16-4617-B742-A6B72F5D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ADCBD2-CA36-446F-AFF2-786B05E3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A37906D-147F-4F88-8552-1683969DE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16AD2-93C6-4DE5-B729-C7ECF9EBF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A72A93-4364-4E4D-8E5E-A772DE210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1239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PREGUNTA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348384-D2C0-41E7-9CE2-FB7990EA4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123950"/>
            <a:ext cx="3667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Observar el trabajo invisible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725C98-68B9-48BD-92E3-73AA1A6D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19250"/>
            <a:ext cx="9906000" cy="2667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7971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¿Qué parte decisiva de un sistema sólo aparece cuando se deja de mirar el procedimiento y se sigue lo que las personas hacen, esperan, verifican, recuerdan, coordinan y reparan para que el servicio funcione?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AF76A1-CB29-4902-82B0-843CC2436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95850"/>
            <a:ext cx="8382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D8B12-8141-45AC-9C70-8E9772C07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8667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6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Respondé antes de explicar. La primera posición queda registrada para revisarla al cierre.</a:t>
            </a:r>
          </a:p>
        </p:txBody>
      </p:sp>
    </p:spTree>
    <p:extLst>
      <p:ext uri="{BB962C8B-B14F-4D97-AF65-F5344CB8AC3E}">
        <p14:creationId xmlns:p14="http://schemas.microsoft.com/office/powerpoint/2010/main" val="2500067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F4B89F-6125-4A4B-9D0A-C1C96D852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58F47-1A6C-4507-8F13-1AB27AAF2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3AD53B-1A04-4CE6-956C-7D5ABD108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1EFE6D-BC32-4768-8E91-B4F72801A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1CDBED-5364-4CC6-8BAB-954FBC67F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CDF38F-1799-4190-AF3C-4EFBD7763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C84AC8-1F74-4695-8A5C-CFC0E9B4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EC3266-AC2D-42EF-B89F-C290F77B9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Predicción del procedimiento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3EDEB3-8464-4264-8BE6-898F2EC8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14D330-6AB0-497B-9A94-8741AE469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D7CC5-0979-48F3-A3DF-9D2077508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Sin observar la escena, cada equipo escribe cómo supone que debería resolverse el episodio. Distingue lo imaginado de lo documentado.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E30D86-9925-4E4D-ABB2-7E6B7189A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10763250" cy="2076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E9F3EB-C44E-4586-B0BE-AFDCCB1B7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POSICIÓN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188B914-D9BD-48AB-825D-6F59162E3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5AFC05-1EF8-4AC1-9536-19C056BF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frase antes de debatir.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D01EF0-D864-4500-BC3A-0CAECE0C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RAZÓN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A88DB3-D55D-4E4B-80B2-550AD7E36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C522718-7B4F-4825-A2F1-FB4689AD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50791A-50E8-4F6B-88F6-9023AABA4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23850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EVIDENCIA FALTANTE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9A5AF0-DEFB-4F99-A0FB-2A222FD00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714750"/>
            <a:ext cx="28098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2A0E4ED-96B1-470B-A302-648211501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3962400"/>
            <a:ext cx="27813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Una relación que otra persona pueda revisar.</a:t>
            </a:r>
          </a:p>
        </p:txBody>
      </p:sp>
    </p:spTree>
    <p:extLst>
      <p:ext uri="{BB962C8B-B14F-4D97-AF65-F5344CB8AC3E}">
        <p14:creationId xmlns:p14="http://schemas.microsoft.com/office/powerpoint/2010/main" val="18286597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76B4A01-9DF0-43B1-A371-8AEA5FD20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38426A-8344-49B5-B89C-8EDD7DED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9FDD56-DD69-429A-B1FF-3C79A120B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4E9068-ACA0-4067-9522-9F04FB790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DFA059D-3EE0-4BAE-88ED-B7563B832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B67ED3-B311-4401-BD7E-66D0F43E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709334-8EAE-49BF-A261-3F2C288A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771428-124C-466E-AFE5-167339F8C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observación silenciosa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12B305-81E9-4D23-86D2-F2242202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753188-FB87-4890-82FD-35F9BB0AA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035A6-F4C3-4403-8A10-D323BF5FC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Se ejecuta HH-08. Cada persona registra sólo eventos visibles y tiempos desde un foco asignado. No puede explicar causas ni formular recomendaciones.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A78305-7563-4560-B87F-6EB8F494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CC73E9-A182-49C7-A111-87CCF319D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A1D791-2534-4BD3-93F3-C006FC66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Primera lectura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5A2ED1-9B16-4333-949D-91CA9E406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6A2ED8-50A0-466B-834C-32458DBF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BBE5504-F2BE-422E-8BD6-021960440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046FAA-E9B4-431D-AF53-4125483E4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Tensión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2F2FA-A903-43C3-85C4-4D0939A63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5D9192-950A-47D9-B221-14F8F842A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146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FDA00B-6E11-457F-8D5C-AC34FE72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295650"/>
            <a:ext cx="3143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7A5D60-86D4-46F6-9B6B-594A2DE2B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543300"/>
            <a:ext cx="314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1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Decisión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2CF0C4-FC2B-4F6C-8053-BAD4B518F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572000"/>
            <a:ext cx="3048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35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¿Qué diferencia cambia la decisión?</a:t>
            </a:r>
          </a:p>
        </p:txBody>
      </p:sp>
    </p:spTree>
    <p:extLst>
      <p:ext uri="{BB962C8B-B14F-4D97-AF65-F5344CB8AC3E}">
        <p14:creationId xmlns:p14="http://schemas.microsoft.com/office/powerpoint/2010/main" val="516586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336B1D9-A1F9-4B15-8BB2-E85E09338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478316-715C-4BDD-A38A-068470C3C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75336F-8617-4B3E-A71D-0D25867BC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B2C0A32-6984-4CB0-94F0-87455996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D67174-14DE-496D-BD8A-B9263925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CE3E91-9157-4482-99E5-4EE8EE5C1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A453B3-F97A-4481-8AD2-E0F4AA0F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51CD35-D07E-4697-8F30-7576786DF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Clínica de capas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6826B3-012F-44E1-BA28-85BB08E5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8D61F6-9A16-4C6B-AA04-592DEDE6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2BFC37-32BD-41A0-97CE-F9B2F2824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El docente compara descripciones incompatibles para distinguir evento, interpretación, pregunta y función sostenida.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CF2E6-3232-4AD8-A2CD-769FED6B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12DE45-B2D2-4C57-9E58-EFC655D28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el artefacto afirma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BA4B46-91B5-42ED-8664-EB6F5C7DE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819400"/>
            <a:ext cx="19050" cy="2628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131AF1C-0CF7-43E6-A3FA-6E21107B4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43250"/>
            <a:ext cx="571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304"/>
          </a:bodyPr>
          <a:lstStyle xmlns:a="http://schemas.openxmlformats.org/drawingml/2006/main"/>
          <a:p xmlns:a="http://schemas.openxmlformats.org/drawingml/2006/main">
            <a:pPr>
              <a:defRPr sz="34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4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B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0AD48A-5404-44D1-94BE-BD98D452F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143250"/>
            <a:ext cx="3905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Lo que la evidencia permite afirmar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F0F962-5C1F-4FDA-9DD5-04C9A10AB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482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 i="0">
                <a:solidFill>
                  <a:srgbClr val="5B5D59"/>
                </a:solidFill>
                <a:latin typeface="Didot"/>
                <a:ea typeface="Didot"/>
                <a:cs typeface="Didot"/>
              </a:defRPr>
            </a:pPr>
            <a:r>
              <a:rPr sz="2175" b="0" i="0">
                <a:solidFill>
                  <a:srgbClr val="5B5D59"/>
                </a:solidFill>
                <a:latin typeface="Didot"/>
                <a:ea typeface="Didot"/>
                <a:cs typeface="Didot"/>
              </a:rPr>
              <a:t>La diferencia debe conducir a una revisión observable.</a:t>
            </a:r>
          </a:p>
        </p:txBody>
      </p:sp>
    </p:spTree>
    <p:extLst>
      <p:ext uri="{BB962C8B-B14F-4D97-AF65-F5344CB8AC3E}">
        <p14:creationId xmlns:p14="http://schemas.microsoft.com/office/powerpoint/2010/main" val="53489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CD38006-C597-4AD7-989B-89894AAF3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B4BDCA-2677-40FE-96C2-A7A813259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40A97-C828-435B-9810-A7F4534E6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506C9DA-47B0-478F-B449-077B2991B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D7203D-A605-4210-838A-1DB1C8DF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8A98E4-6D87-43C8-9B7A-7BB73E7AF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290AD7-52D8-48FA-A96A-688C2B3A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1ABBDBD-788E-4DE1-92BB-D2B08E83C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Reconstrucción con artefactos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FEDF82-1A5B-42A4-853F-853EA87E9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E975CB-760A-4AD8-A281-2138660CF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25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A9404B7-6231-485E-ABA0-FAD416AF0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Los equipos ordenan tarjetas y construyen un service blueprint con recorrido, contacto, trabajo visible, trabajo interno, sistemas y reglas. Marcan transferencias, esperas, verificaciones, microdecisiones y reparaciones.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F871D9-B40B-456E-805D-B55489B8B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2CAFDA-18BD-416E-AF46-3738A3D9F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8194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se intenta sostener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404645-46F5-4133-9D98-20861FB8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2575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654752E-0593-4514-8CFF-F6663741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567BEEE-ED8D-4778-A1C7-BE13B54B8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5052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evidencia existe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4EF606-B018-4AFA-AE49-D5F43F8B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9433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9799A3-0CAD-4E78-8BA4-035A42FB7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2291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BDA9652-BD7A-4010-90FB-5DDE658CA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1910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falta distinguir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774BC4-466A-4EAF-9C8A-60418CF9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9ADF7BC-1580-4817-A60E-473A0695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1490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61A62FF-4919-4820-8E19-3ABA8AF08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76800"/>
            <a:ext cx="8858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800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Qué decisión cambia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E22727-90FB-4E4C-B9F2-53F31BE21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314950"/>
            <a:ext cx="8858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751871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E93F2DE-EF56-4E2A-9211-E24FD32A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A483C-312D-4EA6-9BD3-D0EC63A40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A8B90E-B0EE-47A1-A759-143AB8A51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98DD4-3C18-480B-9614-D2723C860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107FA7-A00C-41A7-9AD8-BD5A3B92D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532E1D-52CD-4B20-A00B-48F5A1C0D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11974-730E-44D5-9C3A-9028860C8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8B452AF-A3EF-4012-A014-30471A5F5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Segunda observación perturbada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D57B22-7415-40DC-98BE-4CAF8F812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87F260-F537-445A-952D-329AFAB61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6D3B72-3588-4BEB-B200-60DB4D1D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14550"/>
            <a:ext cx="107632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C45E70-5F8C-4B10-9D11-C50A7EDDA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622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TRABAJO DE EQUIPO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0E2293-7689-404B-9EDF-388DB1886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003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5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5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Escena perturbada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EB5085-F99E-412E-AB62-85C5F6C3D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38550"/>
            <a:ext cx="80962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575" b="0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La escena se repite sin una nota informal o sin la persona que conoce la excepción. El equipo observa qué capacidad desaparece, qué riesgo aparece y qué parte del procedimiento oficial resulta insuficiente.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E59894-2C78-4D2A-A0E7-96DD4F57E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4574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05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TIEMPO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FBA2A2-9D13-4A19-B1DA-C64C79BE2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1190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18</a:t>
            </a:r>
          </a:p>
          <a:p xmlns:a="http://schemas.openxmlformats.org/drawingml/2006/main">
            <a:pPr>
              <a:defRPr sz="18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18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minutos</a:t>
            </a:r>
          </a:p>
        </p:txBody>
      </p:sp>
    </p:spTree>
    <p:extLst>
      <p:ext uri="{BB962C8B-B14F-4D97-AF65-F5344CB8AC3E}">
        <p14:creationId xmlns:p14="http://schemas.microsoft.com/office/powerpoint/2010/main" val="121758469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9ED044-7108-41D1-B6DD-0A9E2B95E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5B86D3C-DA1B-4EBA-B88D-94799EF50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CF13BCB-F817-4845-B128-462CD648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95348D-4EA5-4551-8131-3188B2056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32093F-3D2E-41DC-B454-F032EA011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66B2FB-84A1-4257-8D7E-935E05BB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DCE0A6-5811-433C-8EF9-DF884E92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C1F18C-C351-4E79-88D9-FDE7AAAE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Consulta a quien realiza el trabajo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060072-9EC7-41D6-867E-A11C14CB8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8872C-EBD1-4B36-992C-BDF5354FD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2CC9A1-9485-447A-9599-B61F3FD7B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238375"/>
            <a:ext cx="1038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4444"/>
          </a:bodyPr>
          <a:lstStyle xmlns:a="http://schemas.openxmlformats.org/drawingml/2006/main"/>
          <a:p xmlns:a="http://schemas.openxmlformats.org/drawingml/2006/main">
            <a:pPr>
              <a:defRPr sz="360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360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EVIDENCIA NUEVA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1F4CF-FE48-4891-8FE3-03D5F6FD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86100"/>
            <a:ext cx="10668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DB02A54-1E52-4A2A-998F-D6CC403D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10001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25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Los equipos formulan preguntas sobre decisiones observadas, sin acusar ni romantizar la adaptación. La persona que representa el rol puede corregir interpretaciones y explicar restricciones.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B5AD00-4FB9-4058-94C9-9CE239A81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162550"/>
            <a:ext cx="10001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Localicen qué cambia, qué se sostiene y qué todavía falta probar.</a:t>
            </a:r>
          </a:p>
        </p:txBody>
      </p:sp>
    </p:spTree>
    <p:extLst>
      <p:ext uri="{BB962C8B-B14F-4D97-AF65-F5344CB8AC3E}">
        <p14:creationId xmlns:p14="http://schemas.microsoft.com/office/powerpoint/2010/main" val="20330329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060F46-0CA8-47EC-8977-FFA2659B8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462C7A-CC18-46FC-8E2C-C48011735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BAB4D6-37D8-4B55-B68B-5B21578CC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6384A8-A285-4F8C-81BA-77B547B20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711B82-524D-4B26-B365-5B66B4548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C6E63-B187-42E3-8D61-1E09BACAD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2C5C68-4F41-4D55-BAC2-BA7B935F5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85164E-8C9A-47E8-A715-B1120649E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Transformación responsable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26762D-ABED-4937-A82D-1927BFF5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DCDF92-96A7-42EA-AC71-214283B3D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17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5268BEA-B80C-4437-842A-B6C2CBA04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propone un cambio que conserve la función útil y reduzca riesgo o carga. Declara qué deberá observarse después y qué no puede concluirse con una escena.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283DF4-97D0-41E9-81E9-C78A62D4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BEA834-C13A-47FB-B09C-98938BE85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Citar el punto observado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31DE1A1-0CE2-4862-8A50-D1E8869BA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1AB7ED-E513-4DA2-8387-45C6FD0C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300037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44DCAE-595B-43CE-BE44-CB2302AF6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294322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Nombrar la relación débil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70CB5D-8E5E-446D-AD37-A401CF5F1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374332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9917768-10F0-451A-AC78-5EB71F51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8831A45-1736-447C-B0E0-FA3744919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Proponer una prueba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235ABF2-59D9-4382-8339-B0F48400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BBE53FD-7C77-4554-AE25-151D17129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6475" y="4238625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FAC8F7-3D87-4913-8C77-411E5DC5F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181475"/>
            <a:ext cx="4286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20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Evitar resolver por el otro equipo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AECA691-2C8C-47D7-8AE2-DB8D1BC61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6075" y="4981575"/>
            <a:ext cx="4000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9928943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E32EB9-F0A0-48CB-BD94-B8D51489A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F740DF-8801-4307-8E6F-B378468A7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A5B566-3197-4250-AFA8-011E2D60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C53A66-E213-453E-9F52-42C530150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ENCUENTRO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699E57-4A7C-4434-BB17-17EDF561C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21AB29-9D2F-46F1-9CFE-A78537B899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B1146D7-D39D-49F7-B0CB-129228252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7D62C96-4678-4F9D-A6CA-F367647AC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Cierre y puente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1CC249-E660-49DC-B3E7-EF1A5CFCF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200150"/>
            <a:ext cx="12382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72309A-D142-4286-8611-945FF92A0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323975"/>
            <a:ext cx="1238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1111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8 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81E536-9C7E-42A2-8072-72D7E3341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52625"/>
            <a:ext cx="10287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500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persona identifica una barrera vivida por quien recibe el servicio y una carga trasladada, preparando el recorrido de experiencia de N09.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435D40-3991-4355-9601-5D2DB5C6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575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E061D6-0B7C-43B9-A62B-86DC945BD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7908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sostenemos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236CBE-A23E-4784-868E-8B34EFBDE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908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AD03E7-337A-4102-B3CD-43981F9D8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47E14ED-849F-469B-B8E5-A51BF2E2A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4766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evidencia usamos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FC0BF1-DA32-4246-ADFB-68986A38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766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BC619-33B4-4C57-B070-A7820F5F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291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90C02F-A86C-42D8-AAC5-DFE81AF5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1624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decidimos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4FD1E1-AEEE-4916-A2C1-3DB8117C1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3624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7F43C5-C5B7-4CC1-9BB5-8943278A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14900"/>
            <a:ext cx="619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501A68-EB46-4EF2-BE2E-CC7333977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848225"/>
            <a:ext cx="800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2025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Qué podría hacernos revisar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8B7A2FB-AD78-44EC-9125-56191D17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48250"/>
            <a:ext cx="1238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42695141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CD8193-E748-40F4-B9D0-87BC1FA8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FF00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BD3E7A-1D9A-41EC-AB55-A1EE99FE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200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N08  ·  METSI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7D7182-BCDF-4632-A93A-DDB5BE448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295275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1" i="0">
                <a:solidFill>
                  <a:srgbClr val="181817"/>
                </a:solidFill>
                <a:latin typeface="Avenir"/>
                <a:ea typeface="Avenir"/>
                <a:cs typeface="Avenir"/>
              </a:defRPr>
            </a:pPr>
            <a:r>
              <a:rPr sz="1350" b="1" i="0">
                <a:solidFill>
                  <a:srgbClr val="181817"/>
                </a:solidFill>
                <a:latin typeface="Avenir"/>
                <a:ea typeface="Avenir"/>
                <a:cs typeface="Avenir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C8CE10-0216-43A6-B7A9-2F681E86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2425"/>
            <a:ext cx="3381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93939"/>
          </a:bodyPr>
          <a:lstStyle xmlns:a="http://schemas.openxmlformats.org/drawingml/2006/main"/>
          <a:p xmlns:a="http://schemas.openxmlformats.org/drawingml/2006/main">
            <a:pPr>
              <a:defRPr sz="8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BLOQUE B · INVESTIGACIÓN  ·  CIERRE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9C93A2-86F8-4B9E-B728-4B17FAFA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8105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7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576DD6-10A3-4A73-8E4A-984571B0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86525"/>
            <a:ext cx="11049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EB1A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D8AC30-D69A-4F88-84AA-7A879CCB6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553200"/>
            <a:ext cx="533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78788"/>
          </a:bodyPr>
          <a:lstStyle xmlns:a="http://schemas.openxmlformats.org/drawingml/2006/main"/>
          <a:p xmlns:a="http://schemas.openxmlformats.org/drawingml/2006/main">
            <a:pPr>
              <a:defRPr sz="8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8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Metodología de Sistemas de Información · FCE UBA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0EA2A8-27AA-472F-984B-B1B7CD338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066800"/>
            <a:ext cx="87630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000" b="0" i="0">
                <a:solidFill>
                  <a:srgbClr val="181817"/>
                </a:solidFill>
                <a:latin typeface="Didot"/>
                <a:ea typeface="Didot"/>
                <a:cs typeface="Didot"/>
              </a:defRPr>
            </a:pPr>
            <a:r>
              <a:rPr sz="3000" b="0" i="0">
                <a:solidFill>
                  <a:srgbClr val="181817"/>
                </a:solidFill>
                <a:latin typeface="Didot"/>
                <a:ea typeface="Didot"/>
                <a:cs typeface="Didot"/>
              </a:rPr>
              <a:t>Puente a N09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34B1A4-12FD-4A83-BFCE-020ECC234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ANTES PENSABA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A71E5BD-535A-4CE2-AA09-ACA5E81F5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AHORA SOSTENGO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E57B77-0697-4ED9-ACD7-04D8E4893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190750"/>
            <a:ext cx="3238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125" b="1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TODAVÍA REVISARÍA SI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0583D0-0D29-4E2B-86B7-FE952E4DD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E803C5-991B-4BE8-BE01-F7191BB6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6E5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B89CFF4-F153-4B56-9783-6DF656991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647950"/>
            <a:ext cx="321945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AEB1AE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EA6349-5A5B-4A7D-81E3-B7850086C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10287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 i="0">
                <a:solidFill>
                  <a:srgbClr val="5B5D59"/>
                </a:solidFill>
                <a:latin typeface="Avenir"/>
                <a:ea typeface="Avenir"/>
                <a:cs typeface="Avenir"/>
              </a:defRPr>
            </a:pPr>
            <a:r>
              <a:rPr sz="1425" b="0" i="0">
                <a:solidFill>
                  <a:srgbClr val="5B5D59"/>
                </a:solidFill>
                <a:latin typeface="Avenir"/>
                <a:ea typeface="Avenir"/>
                <a:cs typeface="Avenir"/>
              </a:rPr>
              <a:t>Cada equipo entrega un registro estratificado de HH-08 y un service blueprint que hace visible trabajo, transferencias, adaptaciones, autoridad y reparación sin convertir la observación en auditoría punitiva.</a:t>
            </a:r>
          </a:p>
        </p:txBody>
      </p:sp>
    </p:spTree>
    <p:extLst>
      <p:ext uri="{BB962C8B-B14F-4D97-AF65-F5344CB8AC3E}">
        <p14:creationId xmlns:p14="http://schemas.microsoft.com/office/powerpoint/2010/main" val="96805852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2026-09-14T03:54:15.6100000Z</dcterms:created>
  <dcterms:modified xsi:type="dcterms:W3CDTF">2026-09-14T03:54:15.6100000Z</dcterms:modified>
</coreProperties>
</file>