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535ef035f64eb4" /><Relationship Type="http://schemas.openxmlformats.org/officeDocument/2006/relationships/extended-properties" Target="/docProps/app.xml" Id="R876504c5040f4817" /><Relationship Type="http://schemas.openxmlformats.org/officeDocument/2006/relationships/officeDocument" Target="/ppt/presentation.xml" Id="Rb2894cf7aba443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3f3419fc504043"/>
  </p:sldMasterIdLst>
  <p:notesMasterIdLst>
    <p:notesMasterId xmlns:r="http://schemas.openxmlformats.org/officeDocument/2006/relationships" r:id="Rc8478ef6fc174c3e"/>
  </p:notesMasterIdLst>
  <p:sldIdLst>
    <p:sldId xmlns:r="http://schemas.openxmlformats.org/officeDocument/2006/relationships" id="256" r:id="Racaee8fc2d9740e9"/>
    <p:sldId xmlns:r="http://schemas.openxmlformats.org/officeDocument/2006/relationships" id="257" r:id="R8a1ee7f5ecc24342"/>
    <p:sldId xmlns:r="http://schemas.openxmlformats.org/officeDocument/2006/relationships" id="258" r:id="Rbd2a173292184451"/>
    <p:sldId xmlns:r="http://schemas.openxmlformats.org/officeDocument/2006/relationships" id="259" r:id="R7111fc6ad6a8406a"/>
    <p:sldId xmlns:r="http://schemas.openxmlformats.org/officeDocument/2006/relationships" id="260" r:id="Re0d3b8228dc848db"/>
    <p:sldId xmlns:r="http://schemas.openxmlformats.org/officeDocument/2006/relationships" id="261" r:id="Rcef0ac237c5046a0"/>
    <p:sldId xmlns:r="http://schemas.openxmlformats.org/officeDocument/2006/relationships" id="262" r:id="R35ec87d853614da3"/>
    <p:sldId xmlns:r="http://schemas.openxmlformats.org/officeDocument/2006/relationships" id="263" r:id="R68c8ef49af744ad5"/>
    <p:sldId xmlns:r="http://schemas.openxmlformats.org/officeDocument/2006/relationships" id="264" r:id="R9269a5f7597242ad"/>
    <p:sldId xmlns:r="http://schemas.openxmlformats.org/officeDocument/2006/relationships" id="265" r:id="Rf32040800cdc48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4e4febe61c4822" /><Relationship Type="http://schemas.openxmlformats.org/officeDocument/2006/relationships/slideMaster" Target="/ppt/slideMasters/slideMaster1.xml" Id="R4c3f3419fc504043" /><Relationship Type="http://schemas.openxmlformats.org/officeDocument/2006/relationships/notesMaster" Target="/ppt/notesMasters/notesMaster1.xml" Id="Rc8478ef6fc174c3e" /><Relationship Type="http://schemas.openxmlformats.org/officeDocument/2006/relationships/presProps" Target="/ppt/presProps.xml" Id="Rc815ecfad6c54af5" /><Relationship Type="http://schemas.openxmlformats.org/officeDocument/2006/relationships/tableStyles" Target="/ppt/tableStyles.xml" Id="R46e6c241f2e04826" /><Relationship Type="http://schemas.openxmlformats.org/officeDocument/2006/relationships/slide" Target="/ppt/slides/slide1.xml" Id="Racaee8fc2d9740e9" /><Relationship Type="http://schemas.openxmlformats.org/officeDocument/2006/relationships/slide" Target="/ppt/slides/slide2.xml" Id="R8a1ee7f5ecc24342" /><Relationship Type="http://schemas.openxmlformats.org/officeDocument/2006/relationships/slide" Target="/ppt/slides/slide3.xml" Id="Rbd2a173292184451" /><Relationship Type="http://schemas.openxmlformats.org/officeDocument/2006/relationships/slide" Target="/ppt/slides/slide4.xml" Id="R7111fc6ad6a8406a" /><Relationship Type="http://schemas.openxmlformats.org/officeDocument/2006/relationships/slide" Target="/ppt/slides/slide5.xml" Id="Re0d3b8228dc848db" /><Relationship Type="http://schemas.openxmlformats.org/officeDocument/2006/relationships/slide" Target="/ppt/slides/slide6.xml" Id="Rcef0ac237c5046a0" /><Relationship Type="http://schemas.openxmlformats.org/officeDocument/2006/relationships/slide" Target="/ppt/slides/slide7.xml" Id="R35ec87d853614da3" /><Relationship Type="http://schemas.openxmlformats.org/officeDocument/2006/relationships/slide" Target="/ppt/slides/slide8.xml" Id="R68c8ef49af744ad5" /><Relationship Type="http://schemas.openxmlformats.org/officeDocument/2006/relationships/slide" Target="/ppt/slides/slide9.xml" Id="R9269a5f7597242ad" /><Relationship Type="http://schemas.openxmlformats.org/officeDocument/2006/relationships/slide" Target="/ppt/slides/slide10.xml" Id="Rf32040800cdc48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ceee38226140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07f373f9034bdb" /><Relationship Type="http://schemas.openxmlformats.org/officeDocument/2006/relationships/notesMaster" Target="/ppt/notesMasters/notesMaster1.xml" Id="R5131a3412fd04e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eb7dea7ef54597" /><Relationship Type="http://schemas.openxmlformats.org/officeDocument/2006/relationships/notesMaster" Target="/ppt/notesMasters/notesMaster1.xml" Id="Rc3eb5a568b84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fbe0cda2f34fd3" /><Relationship Type="http://schemas.openxmlformats.org/officeDocument/2006/relationships/notesMaster" Target="/ppt/notesMasters/notesMaster1.xml" Id="Rf6509e1a39ba46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fd593283e41c1" /><Relationship Type="http://schemas.openxmlformats.org/officeDocument/2006/relationships/notesMaster" Target="/ppt/notesMasters/notesMaster1.xml" Id="R1f949aa8735f41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331905ae8b463c" /><Relationship Type="http://schemas.openxmlformats.org/officeDocument/2006/relationships/notesMaster" Target="/ppt/notesMasters/notesMaster1.xml" Id="Rc44428c2313a47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84573dec2747f4" /><Relationship Type="http://schemas.openxmlformats.org/officeDocument/2006/relationships/notesMaster" Target="/ppt/notesMasters/notesMaster1.xml" Id="Rc8ad3a648d6141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88e836cc6548ae" /><Relationship Type="http://schemas.openxmlformats.org/officeDocument/2006/relationships/notesMaster" Target="/ppt/notesMasters/notesMaster1.xml" Id="R09f48c61659c45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6a8b167f4c43a2" /><Relationship Type="http://schemas.openxmlformats.org/officeDocument/2006/relationships/notesMaster" Target="/ppt/notesMasters/notesMaster1.xml" Id="Rbafd3b01e93f46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1e1bbbf7ca48c5" /><Relationship Type="http://schemas.openxmlformats.org/officeDocument/2006/relationships/notesMaster" Target="/ppt/notesMasters/notesMaster1.xml" Id="R4b3082348ac740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eadae7aa5c4caa" /><Relationship Type="http://schemas.openxmlformats.org/officeDocument/2006/relationships/notesMaster" Target="/ppt/notesMasters/notesMaster1.xml" Id="R17a694be00714b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Flujo más allá de las ceremonias: colas, lote, espera y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mejorar un sistema de trabajo cuando todas las ceremonias ocurren y, sin embargo, las decisiones y el valor siguen esperando?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¿Cuál es la unidad de flujo? ¿Dónde espera sin ser visible?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casos circulan con máxima utilización local. Se cuentan terminados, espera, bloqueos y pérdidas.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¿Dónde espera sin ser visible? ¿Qué lote retrasa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rastrea un caso extremo y marca dónde cambió de nombre, lote o responsable.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lote retrasa aprendizaje? ¿Qué política ayuda ante bloqueo?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separan tiempo activo, espera, retrabajo y detención. El promedio se contrasta con percentiles y casos envejecidos.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política ayuda ante bloqueo? ¿Quién recibe el feedback?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misma demanda se procesa en lotes grandes y pequeños. Se comparan integración, costo y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recibe el feedback? ¿Qué dependencia excede al equipo?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fijan límites, criterio de entrada, ayuda, bloqueo y clase de servicio. Luego se repite la simulación.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dependencia excede al equipo? ¿Cuál es la unidad de flujo?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Demanda cambia a diario, compromiso semanal y validación mensual. Se diseña una cadencia de feedback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¿Cuál es la unidad de flujo? ¿Dónde espera sin ser visible?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huésped desaparece del tablero durante una transferencia. El equipo repara el caso y modifica política, no sólo el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¿Dónde espera sin ser visible? ¿Qué lote retrasa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identificar dependencias externas y capacidades compartidas que N26 deberá gobernar como ecosistema.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lote retrasa aprendizaje? ¿Qué política ayuda ante bloqueo?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política de flujo HH-25 con límites, relojes, feedback y reparación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b098c37f14c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0de58753e64041" /><Relationship Type="http://schemas.openxmlformats.org/officeDocument/2006/relationships/slideLayout" Target="/ppt/slideLayouts/slideLayout1.xml" Id="R5be5d0301b68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e5d0301b68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b8e9bf33d4274" /><Relationship Type="http://schemas.openxmlformats.org/officeDocument/2006/relationships/notesSlide" Target="/ppt/notesSlides/notesSlide1.xml" Id="R2e421a00327a45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84f92457443e2" /><Relationship Type="http://schemas.openxmlformats.org/officeDocument/2006/relationships/notesSlide" Target="/ppt/notesSlides/notesSlide2.xml" Id="Re7e2f237b34b43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6bb8463ce4bba" /><Relationship Type="http://schemas.openxmlformats.org/officeDocument/2006/relationships/notesSlide" Target="/ppt/notesSlides/notesSlide3.xml" Id="R3c413b9b20e145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6a060411c4d38" /><Relationship Type="http://schemas.openxmlformats.org/officeDocument/2006/relationships/notesSlide" Target="/ppt/notesSlides/notesSlide4.xml" Id="R3d4847d6cc0f4f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4a44f02b045f0" /><Relationship Type="http://schemas.openxmlformats.org/officeDocument/2006/relationships/notesSlide" Target="/ppt/notesSlides/notesSlide5.xml" Id="Ra3ce04e09b7643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52ddbbd364d7e" /><Relationship Type="http://schemas.openxmlformats.org/officeDocument/2006/relationships/notesSlide" Target="/ppt/notesSlides/notesSlide6.xml" Id="R350ac9c76f694d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8c5fefdec4349" /><Relationship Type="http://schemas.openxmlformats.org/officeDocument/2006/relationships/notesSlide" Target="/ppt/notesSlides/notesSlide7.xml" Id="R4584bb43095c44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95156bd4747b9" /><Relationship Type="http://schemas.openxmlformats.org/officeDocument/2006/relationships/notesSlide" Target="/ppt/notesSlides/notesSlide8.xml" Id="R02d41fdde7d647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4f3b4e4e04aee" /><Relationship Type="http://schemas.openxmlformats.org/officeDocument/2006/relationships/notesSlide" Target="/ppt/notesSlides/notesSlide9.xml" Id="R6de3e1d1828e49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1c6167caa42ad" /><Relationship Type="http://schemas.openxmlformats.org/officeDocument/2006/relationships/notesSlide" Target="/ppt/notesSlides/notesSlide10.xml" Id="R58a613e2167543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AE90A-F021-42B2-9C34-73768F4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34F62-A73D-415D-B934-07275968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EF104-07D0-451D-A377-305A30CF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49F6E-AD5E-4E3D-AF54-C83DB070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070F3-7141-4704-BE92-31E0B979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961F7-184C-4273-9889-9C64B6B0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C260F-E82C-4D81-9C14-254072D1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5B726-B911-481C-B927-D7F186DB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C30F0-79B7-4FDA-9C2B-97359C6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Flujo más allá de las ceremonias: colas, lote, espera y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11BB5-FAF7-400F-8522-6CF98B15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mejorar un sistema de trabajo cuando todas las ceremonias ocurren y, sin embargo, las decisiones y el valor siguen esperando?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36007-EBAF-4E4D-BF3E-BBB51337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D1660-473E-49DA-8664-B914919D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705966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1E59A-7C1D-4BC9-A925-184B1A59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991FE-34E0-42B5-8787-CCF19FA0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32A86-9D2C-4B81-BE46-E3256DDC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F447B-39C7-4A4D-B6EC-A73241E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1283A-A24E-4F21-BF5E-E6B6E201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FF2C7-EEA7-4326-8E3C-57C6583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F08C2-2491-45FD-81FC-922497B8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4ED36-D17C-45D1-8150-3B80E46D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Simulación sin límites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29E95-CB75-4FCD-A06A-14D19C6A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2DFF6-D483-42F3-8CBE-EBFE32ED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83B71-E33A-48F6-ADA6-083B774F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casos circulan con máxima utilización local. Se cuentan terminados, espera, bloqueos y pérdidas.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9C2DE-4EF3-4C62-896E-33742A6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23B5B-B9AC-4AB5-9698-FF36D680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61071-1BF9-4A75-8062-A9701166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548A9-1FC8-47E5-902A-0E8C5041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3D7F1-E757-4D5C-82DB-2DDEB2A4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C0E44-F75F-4FB5-AA18-E9CD2D04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649A4-E0F9-46BE-AF3C-B17BF0C1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8D956-5A11-4CA3-B510-93AD4EAC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B3F09-93FD-4081-9EF2-A7F3756C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A3DBC-3A8E-47EC-8D05-2853464A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060612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217DF-9257-461A-8340-9ADF1FC2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452E0-B232-4829-BCEC-6ECC1507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29FBB-00EB-456C-B103-FB1A6B00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C8F9B-724D-4063-B0CC-8EA62D4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6CE9B-D2D4-4338-8248-89CCEE32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84623-A568-4D9F-B4D9-EA34B966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05EAC-C831-468B-87FB-33A5AE71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630A7-F177-477F-B4E9-3DEA75B4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de identidad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859C6-75FB-4FCF-9EDB-86E79C02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3602D-0868-496E-95F5-4FA8C8AD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9EB84-804A-4462-922D-B907D0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rastrea un caso extremo y marca dónde cambió de nombre, lote o responsable.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241A4-EC9C-4F6F-BF5F-5A54AB1F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35DBF-2765-4E64-BE37-E7017E0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DC923-AC78-42D2-B9A4-4FAE4968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27F5A-FF78-4964-A577-B285012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BED51-F93A-42AE-8504-9F94F89B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D9238-1B5B-487A-9CCA-E10D9CD1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32D45-A549-4A5B-A006-39CED72D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CC176-A613-442A-BFA9-AFDD73EE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6A779-D15F-42AA-B818-2C0BAA88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35C23-F51C-4245-9AA1-7E9944DA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F1543-820A-4783-9EE6-5D693F40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09C9C2-2B0E-4F2C-84FF-F2EAAC8A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390423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411E6-0A85-47DC-B96C-C57FDE9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4A65C-4B49-48E2-8191-11B7E5BF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76F01-1897-42C7-808E-96DECA8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C1532-BD63-4F2F-9134-EC476AD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856A6-2E06-488F-A741-95F87D6B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F10E7-2623-488C-8E11-275FFFD1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C66CC-D113-4500-9914-33B07B5A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1518-FEE0-45CA-8F1B-C6C96370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Radiografía de colas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2B1C0-1FE0-4D9A-A9BA-63636FF8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0D16F-A52C-4300-BA7D-893687A7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49525-E8D3-4B21-BB6A-F4D0C050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separan tiempo activo, espera, retrabajo y detención. El promedio se contrasta con percentiles y casos envejecidos.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E1C56-8BD9-41B5-8482-40D2A859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8FBE2-937F-4AF8-9C69-BA9F3E45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68BB6-FBB9-4B17-800A-0B68FB54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733DE-37A4-4DFB-8D0D-305B98C4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B194D-112A-41D4-9CB4-C89F4814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F4F39-90B4-4371-8BF5-A5B78325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46341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6294C-F6FD-4935-97D3-A514C567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90E41-D3A9-4D69-949D-1A2ACC45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9EDBC-114C-4902-B99D-05B9D1CC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FB737-3181-407B-8FE1-B1ACEAB5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14ADE-7AF8-4791-95E7-58BCE80D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1A968-4A7E-430B-9DDF-2B7558FF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3FC17-DD03-412B-AAC7-24D4CBA3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F4164-5701-46A9-A92C-AF523090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Experimento de lote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E6BF8-D000-4632-81B9-5D11684B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5BF98-257F-4C91-A0C5-8198D99F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049B7-79A5-4E19-8014-E0B7C1BB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misma demanda se procesa en lotes grandes y pequeños. Se comparan integración, costo y aprendizaje.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A8348-C5DF-41EC-8FDB-1E35F00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8DE17-1E90-4FC2-BC48-E3A896B3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F724D-1237-40EC-875E-06E080B0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03C64-EF1D-4D75-9F09-842D1E0A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62208-E390-4F23-B743-A1DD7028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C6139-57C4-42E5-9895-7EFF1F61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72258-E21D-41E9-A998-F54B29F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89022-6340-4E36-9B32-F8354289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52407-7770-4D6C-9570-D6EFE967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F03E1-C79C-49ED-B321-A8AD9DA7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14627-18DF-4DAE-A297-D6CAB80D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9BF9C-F7B6-4FA0-9EF0-C705E367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85209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C3A26-9225-4E5C-981D-6BA6745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6F0AF-F392-4630-8FBB-6B08A15B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38567-A9B0-4E6E-A6EC-32D6854E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F60B5-06DB-4A21-A1CA-AE538EC6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687BA-DED0-46F0-8262-61E2E152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DA68C-FE89-47AD-9DFF-E098DD45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FAC9A-DCF1-4A5B-8F72-CAD39356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29D67-4AA5-48F0-8B61-8F3C3BE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Política de trabajo en curso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C29E6-5CD9-4665-9313-14B94A67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25570-1335-43D2-9A83-992E0C9F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FEFAF-11A3-4D3A-8ECC-CFABCF45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37628-423F-4495-806E-CE30A1BD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F9D26-37A1-44CB-8379-40AB667F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Límite de trabajo en curso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E14A1-1AF3-4E18-8A7B-1762F723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fijan límites, criterio de entrada, ayuda, bloqueo y clase de servicio. Luego se repite la simulación.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E0149-2037-4288-B24D-EF2914F7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A549F-1E20-4DCF-901B-4A712273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596220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6C898-8E64-49C9-95ED-C7562D5A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1E0AE-B9D2-4540-A2C8-35D96551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8003C-C2CF-495C-890E-5DA84B1F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8D75B-0AC8-4E1D-B8EC-4F6CDFE6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B6FB8-C05E-4FC0-A0D9-60B8EF5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41F22-CB48-4D67-8DED-B4E5CC5F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5154A-E8E2-4534-94D2-355694B4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08BEA-5D74-4B53-967F-2C668078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tres relojes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B0786-DF8E-414D-AC12-CB3B814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E1D25-C4A0-45EB-AC11-26709B2A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D71E6-A621-494E-981F-BD91EF25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A2F90-F236-4843-8A27-C66C33D5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33956-0802-4905-81E0-663CA574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Demanda cambia a diario, compromiso semanal y validación mensual. Se diseña una cadencia de feedback y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23C62-E82A-41B4-B8E8-8F77D873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3754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3CAFD-05EC-4A7D-9CC1-2CC7BD64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CD1A5-0657-42E0-AC60-D95F714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0370E-0CC7-41CF-88C0-95C69A77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7E8AB-6CA4-45F8-B4E7-01297BB5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09459-BCB6-4071-B06D-EDF8AF7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0EBC9-7224-4A5E-9E18-DF1A247A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8294B-5E20-4A61-B802-377238B5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B8BC4-56D3-4E28-B27E-B872A7C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Incidente del caso perdido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9BB4F-B6BB-4A92-87DA-B501408A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9B744-B016-4DD8-B2FA-774FD56F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5631B-52D4-4884-8179-61632A52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huésped desaparece del tablero durante una transferencia. El equipo repara el caso y modifica política, no sólo el registro.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908BF-6C49-41BA-8509-56CAE20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C88FD-2A76-4BD5-A31A-F79E149F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8C3EE-06B9-4314-AF4F-9F46083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D9424-D6F9-4056-8F67-475C1497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1C797-19A6-44DF-8649-9FA86718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E89A1-647C-4127-BDE8-5CDBBFC2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4D170-CCA7-40E2-A06A-1D6BF45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13C21-BCBA-45F2-834C-3FF8B11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A5B69-4B4A-4D40-9EDE-5ECB1C39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6EB77-8595-4CA3-806A-11429AF8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FD4EA-E720-4E64-90CE-61F60BA1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7B42D-D3AB-4C5E-8876-AD9B5DDA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68969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0CB4F-03F6-46AA-A315-F9B474AA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9308E-C1C0-41DD-BC8C-EB7A7BE6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38CC7-95D3-4D69-8C44-D62D0041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BE7B3-20CB-4573-B2BC-D1B8C98B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752B1-5A42-4B74-AC44-DEFC8742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A45D0-54B6-4769-8ED6-65C4A4C8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04E4D-07A7-4B23-BF0D-CF15725C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C4AF0-F64E-453C-BAAD-0FEFF37E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1DFCC-9C67-48D9-BE81-DD9EF100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F1DAE-0498-48CC-8EEB-F2828F7F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AC938-50AC-46A1-A424-A540C31D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identifican dependencias externas y capacidades compartidas que N26 deberá gobernar como ecosistema.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57E63-4BD9-4A62-B60F-BBD31D00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ACD95-C841-4C19-A779-3D9A4EA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8E2FF-A979-4173-97E0-90C5EED7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784E8-4FC1-4D5E-952D-1A11E272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26BE3-D471-490B-9960-E404A1E3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278CE-453A-4468-9CF6-95E2774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6A58D-8302-4CC6-9F1D-EBAAE147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36619-3F9E-4ACF-BC37-5E96C0B3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6ADA8-50BB-4131-A874-48780C5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1C482-1C65-4319-9814-6EA19946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D1D41-E0AA-4FE0-B4C3-BBED24AB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D8AD9-18EE-4018-8B7E-0554DA97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83438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934A9-9E73-437C-8482-C3CC42DB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B9559-B212-41F4-8C75-C24A27C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7E6F1-68D9-4EDD-8E29-174D698A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DBE92-5896-41BB-B1D0-0BAEE841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35954-F416-4A29-858B-7AD0A6D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F8738-4E94-4F16-9832-E1807FF6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DA9F4-7DA6-48AB-AA63-1404092C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7319C-421C-4C11-A45D-90BC27D1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A280D-01FE-4317-A091-4BA855E7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DC47F-AB56-405C-AA05-AC594A7F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7D03D-3A41-4A63-894E-F7CCB29B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F005B-7614-4135-8F03-3D2BF170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E1358-AF83-496A-BCF6-E024EDE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FDB19-EACD-4B19-BBDE-31D5DA0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978B0-EC0A-444C-9C50-089A90D9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política de flujo HH-25 con límites, relojes, feedback y reparación verificables.</a:t>
            </a:r>
          </a:p>
        </p:txBody>
      </p:sp>
    </p:spTree>
    <p:extLst>
      <p:ext uri="{BB962C8B-B14F-4D97-AF65-F5344CB8AC3E}">
        <p14:creationId xmlns:p14="http://schemas.microsoft.com/office/powerpoint/2010/main" val="888203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2026-09-15T15:47:20.3520000Z</dcterms:created>
  <dcterms:modified xsi:type="dcterms:W3CDTF">2026-09-15T15:47:20.3520000Z</dcterms:modified>
</coreProperties>
</file>