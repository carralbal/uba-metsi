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24e26dedd49148b1" /><Relationship Type="http://schemas.openxmlformats.org/officeDocument/2006/relationships/extended-properties" Target="/docProps/app.xml" Id="Rcf8072edb9644633" /><Relationship Type="http://schemas.openxmlformats.org/officeDocument/2006/relationships/officeDocument" Target="/ppt/presentation.xml" Id="Rf34282fb4afc44ff" /></Relationships>
</file>

<file path=ppt/presentation.xml><?xml version="1.0" encoding="utf-8"?>
<p:presentation xmlns:p="http://schemas.openxmlformats.org/presentationml/2006/main">
  <p:sldMasterIdLst>
    <p:sldMasterId xmlns:r="http://schemas.openxmlformats.org/officeDocument/2006/relationships" id="2147483648" r:id="R63b79565694744f7"/>
  </p:sldMasterIdLst>
  <p:notesMasterIdLst>
    <p:notesMasterId xmlns:r="http://schemas.openxmlformats.org/officeDocument/2006/relationships" r:id="R331ab1dfa31348ae"/>
  </p:notesMasterIdLst>
  <p:sldIdLst>
    <p:sldId xmlns:r="http://schemas.openxmlformats.org/officeDocument/2006/relationships" id="256" r:id="R2117ca9014dc4987"/>
    <p:sldId xmlns:r="http://schemas.openxmlformats.org/officeDocument/2006/relationships" id="257" r:id="R2d547fc0ccbe4130"/>
    <p:sldId xmlns:r="http://schemas.openxmlformats.org/officeDocument/2006/relationships" id="258" r:id="R3cc3469379f24b70"/>
    <p:sldId xmlns:r="http://schemas.openxmlformats.org/officeDocument/2006/relationships" id="259" r:id="Ra8af7615cad1482f"/>
    <p:sldId xmlns:r="http://schemas.openxmlformats.org/officeDocument/2006/relationships" id="260" r:id="R41e3caf8007842f1"/>
    <p:sldId xmlns:r="http://schemas.openxmlformats.org/officeDocument/2006/relationships" id="261" r:id="R32b9e28c71bb4d69"/>
    <p:sldId xmlns:r="http://schemas.openxmlformats.org/officeDocument/2006/relationships" id="262" r:id="R0d025f37a531463c"/>
    <p:sldId xmlns:r="http://schemas.openxmlformats.org/officeDocument/2006/relationships" id="263" r:id="Rcf8c574837104204"/>
    <p:sldId xmlns:r="http://schemas.openxmlformats.org/officeDocument/2006/relationships" id="264" r:id="R3d10c9b745564429"/>
    <p:sldId xmlns:r="http://schemas.openxmlformats.org/officeDocument/2006/relationships" id="265" r:id="R4788126003a84694"/>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b99adfdc8837402b" /><Relationship Type="http://schemas.openxmlformats.org/officeDocument/2006/relationships/slideMaster" Target="/ppt/slideMasters/slideMaster1.xml" Id="R63b79565694744f7" /><Relationship Type="http://schemas.openxmlformats.org/officeDocument/2006/relationships/notesMaster" Target="/ppt/notesMasters/notesMaster1.xml" Id="R331ab1dfa31348ae" /><Relationship Type="http://schemas.openxmlformats.org/officeDocument/2006/relationships/presProps" Target="/ppt/presProps.xml" Id="R99bbb86744a5490b" /><Relationship Type="http://schemas.openxmlformats.org/officeDocument/2006/relationships/tableStyles" Target="/ppt/tableStyles.xml" Id="Raaeffa187f4c4e8b" /><Relationship Type="http://schemas.openxmlformats.org/officeDocument/2006/relationships/slide" Target="/ppt/slides/slide1.xml" Id="R2117ca9014dc4987" /><Relationship Type="http://schemas.openxmlformats.org/officeDocument/2006/relationships/slide" Target="/ppt/slides/slide2.xml" Id="R2d547fc0ccbe4130" /><Relationship Type="http://schemas.openxmlformats.org/officeDocument/2006/relationships/slide" Target="/ppt/slides/slide3.xml" Id="R3cc3469379f24b70" /><Relationship Type="http://schemas.openxmlformats.org/officeDocument/2006/relationships/slide" Target="/ppt/slides/slide4.xml" Id="Ra8af7615cad1482f" /><Relationship Type="http://schemas.openxmlformats.org/officeDocument/2006/relationships/slide" Target="/ppt/slides/slide5.xml" Id="R41e3caf8007842f1" /><Relationship Type="http://schemas.openxmlformats.org/officeDocument/2006/relationships/slide" Target="/ppt/slides/slide6.xml" Id="R32b9e28c71bb4d69" /><Relationship Type="http://schemas.openxmlformats.org/officeDocument/2006/relationships/slide" Target="/ppt/slides/slide7.xml" Id="R0d025f37a531463c" /><Relationship Type="http://schemas.openxmlformats.org/officeDocument/2006/relationships/slide" Target="/ppt/slides/slide8.xml" Id="Rcf8c574837104204" /><Relationship Type="http://schemas.openxmlformats.org/officeDocument/2006/relationships/slide" Target="/ppt/slides/slide9.xml" Id="R3d10c9b745564429" /><Relationship Type="http://schemas.openxmlformats.org/officeDocument/2006/relationships/slide" Target="/ppt/slides/slide10.xml" Id="R4788126003a84694"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43e1f9714ba844e2"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cb86679b6b2e4d2c" /><Relationship Type="http://schemas.openxmlformats.org/officeDocument/2006/relationships/notesMaster" Target="/ppt/notesMasters/notesMaster1.xml" Id="Rab9256ecb26448cd" /></Relationships>
</file>

<file path=ppt/notesSlides/_rels/notesSlide2.xml.rels>&#65279;<?xml version="1.0" encoding="utf-8"?><Relationships xmlns="http://schemas.openxmlformats.org/package/2006/relationships"><Relationship Type="http://schemas.openxmlformats.org/officeDocument/2006/relationships/slide" Target="/ppt/slides/slide2.xml" Id="Rddc58eeae2064a23" /><Relationship Type="http://schemas.openxmlformats.org/officeDocument/2006/relationships/notesMaster" Target="/ppt/notesMasters/notesMaster1.xml" Id="Rd11080571f064ec8" /></Relationships>
</file>

<file path=ppt/notesSlides/_rels/notesSlide3.xml.rels>&#65279;<?xml version="1.0" encoding="utf-8"?><Relationships xmlns="http://schemas.openxmlformats.org/package/2006/relationships"><Relationship Type="http://schemas.openxmlformats.org/officeDocument/2006/relationships/slide" Target="/ppt/slides/slide3.xml" Id="Rbc55fcdc18d94196" /><Relationship Type="http://schemas.openxmlformats.org/officeDocument/2006/relationships/notesMaster" Target="/ppt/notesMasters/notesMaster1.xml" Id="R26e23514d78a4980" /></Relationships>
</file>

<file path=ppt/notesSlides/_rels/notesSlide4.xml.rels>&#65279;<?xml version="1.0" encoding="utf-8"?><Relationships xmlns="http://schemas.openxmlformats.org/package/2006/relationships"><Relationship Type="http://schemas.openxmlformats.org/officeDocument/2006/relationships/slide" Target="/ppt/slides/slide4.xml" Id="R721c0f47f4a04e6c" /><Relationship Type="http://schemas.openxmlformats.org/officeDocument/2006/relationships/notesMaster" Target="/ppt/notesMasters/notesMaster1.xml" Id="Rd952ae500b68455e" /></Relationships>
</file>

<file path=ppt/notesSlides/_rels/notesSlide5.xml.rels>&#65279;<?xml version="1.0" encoding="utf-8"?><Relationships xmlns="http://schemas.openxmlformats.org/package/2006/relationships"><Relationship Type="http://schemas.openxmlformats.org/officeDocument/2006/relationships/slide" Target="/ppt/slides/slide5.xml" Id="R727e870d09654b38" /><Relationship Type="http://schemas.openxmlformats.org/officeDocument/2006/relationships/notesMaster" Target="/ppt/notesMasters/notesMaster1.xml" Id="R001b16598e104181" /></Relationships>
</file>

<file path=ppt/notesSlides/_rels/notesSlide6.xml.rels>&#65279;<?xml version="1.0" encoding="utf-8"?><Relationships xmlns="http://schemas.openxmlformats.org/package/2006/relationships"><Relationship Type="http://schemas.openxmlformats.org/officeDocument/2006/relationships/slide" Target="/ppt/slides/slide6.xml" Id="Rfa161c7f517a4021" /><Relationship Type="http://schemas.openxmlformats.org/officeDocument/2006/relationships/notesMaster" Target="/ppt/notesMasters/notesMaster1.xml" Id="Ra7adc3c67fc449b1" /></Relationships>
</file>

<file path=ppt/notesSlides/_rels/notesSlide7.xml.rels>&#65279;<?xml version="1.0" encoding="utf-8"?><Relationships xmlns="http://schemas.openxmlformats.org/package/2006/relationships"><Relationship Type="http://schemas.openxmlformats.org/officeDocument/2006/relationships/slide" Target="/ppt/slides/slide7.xml" Id="Radd319847d6840fb" /><Relationship Type="http://schemas.openxmlformats.org/officeDocument/2006/relationships/notesMaster" Target="/ppt/notesMasters/notesMaster1.xml" Id="R02f42dd07b7f4cbb" /></Relationships>
</file>

<file path=ppt/notesSlides/_rels/notesSlide8.xml.rels>&#65279;<?xml version="1.0" encoding="utf-8"?><Relationships xmlns="http://schemas.openxmlformats.org/package/2006/relationships"><Relationship Type="http://schemas.openxmlformats.org/officeDocument/2006/relationships/slide" Target="/ppt/slides/slide8.xml" Id="R2de214530044463d" /><Relationship Type="http://schemas.openxmlformats.org/officeDocument/2006/relationships/notesMaster" Target="/ppt/notesMasters/notesMaster1.xml" Id="Rf83f71d4c92c4acf" /></Relationships>
</file>

<file path=ppt/notesSlides/_rels/notesSlide9.xml.rels>&#65279;<?xml version="1.0" encoding="utf-8"?><Relationships xmlns="http://schemas.openxmlformats.org/package/2006/relationships"><Relationship Type="http://schemas.openxmlformats.org/officeDocument/2006/relationships/slide" Target="/ppt/slides/slide9.xml" Id="Rc150669662364a15" /><Relationship Type="http://schemas.openxmlformats.org/officeDocument/2006/relationships/notesMaster" Target="/ppt/notesMasters/notesMaster1.xml" Id="R3424b20fe3e04f69"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334dbc82ae4b4be0" /><Relationship Type="http://schemas.openxmlformats.org/officeDocument/2006/relationships/notesMaster" Target="/ppt/notesMasters/notesMaster1.xml" Id="R7f0872cd2b29428b"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Hoy vamos a trabajar sobre Metodología sin recetas: intervenir cuando el problema todavía no está claro.</a:t>
            </a:r>
          </a:p>
          <a:p xmlns:a="http://schemas.openxmlformats.org/drawingml/2006/main">
            <a:r>
              <a:t/>
            </a:r>
          </a:p>
          <a:p xmlns:a="http://schemas.openxmlformats.org/drawingml/2006/main">
            <a:r>
              <a:t>Quiero empezar con una pregunta. ¿Para qué sirve una metodología si ninguna secuencia de pasos puede garantizar que comprendamos el problema ni que la intervención produzca el resultado esperado?</a:t>
            </a:r>
          </a:p>
          <a:p xmlns:a="http://schemas.openxmlformats.org/drawingml/2006/main">
            <a:r>
              <a:t/>
            </a:r>
          </a:p>
          <a:p xmlns:a="http://schemas.openxmlformats.org/drawingml/2006/main">
            <a:r>
              <a:t>Tómense un minuto para responder con sus propias palabras. No busquen una definición perfecta ni traten de adivinar qué respuesta espero. Anoten qué creen ahora y qué dato les falta para estar más seguros.</a:t>
            </a:r>
          </a:p>
          <a:p xmlns:a="http://schemas.openxmlformats.org/drawingml/2006/main">
            <a:r>
              <a:t/>
            </a:r>
          </a:p>
          <a:p xmlns:a="http://schemas.openxmlformats.org/drawingml/2006/main">
            <a:r>
              <a:t>Mientras trabajan, tengan presentes estas dos preguntas. ¿Qué dato del pedido funciona como evidencia y cuál sólo expresa una preferencia? ¿Qué tendría que ocurrir para abandonar esta explicación?</a:t>
            </a:r>
          </a:p>
          <a:p xmlns:a="http://schemas.openxmlformats.org/drawingml/2006/main">
            <a:r>
              <a:t/>
            </a:r>
          </a:p>
          <a:p xmlns:a="http://schemas.openxmlformats.org/drawingml/2006/main">
            <a:r>
              <a:t>Después vamos a comparar las respuestas. Si aparecen posiciones distintas, esa diferencia nos va a servir para reconocer los supuestos con los que cada uno llegó al encuentro.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Vamos a empezar con una primera toma de posición.</a:t>
            </a:r>
          </a:p>
          <a:p xmlns:a="http://schemas.openxmlformats.org/drawingml/2006/main">
            <a:r>
              <a:t/>
            </a:r>
          </a:p>
          <a:p xmlns:a="http://schemas.openxmlformats.org/drawingml/2006/main">
            <a:r>
              <a:t>Primero, cada persona decide si el equipo debería iniciar ya la compra de un nuevo PMS. Pueden responder solamente sí, no o todavía no, acompañada por una razón y una evidencia faltante. Ahora voy a relevar la distribución sin debatir cuál opción es correcta.</a:t>
            </a:r>
          </a:p>
          <a:p xmlns:a="http://schemas.openxmlformats.org/drawingml/2006/main">
            <a:r>
              <a:t/>
            </a:r>
          </a:p>
          <a:p xmlns:a="http://schemas.openxmlformats.org/drawingml/2006/main">
            <a:r>
              <a:t>La primera respuesta funciona como una referencia. Más adelante podremos ver si cambió y por qué.</a:t>
            </a:r>
          </a:p>
          <a:p xmlns:a="http://schemas.openxmlformats.org/drawingml/2006/main">
            <a:r>
              <a:t/>
            </a:r>
          </a:p>
          <a:p xmlns:a="http://schemas.openxmlformats.org/drawingml/2006/main">
            <a:r>
              <a:t>Tenemos 10 minutos para esta parte.</a:t>
            </a:r>
          </a:p>
          <a:p xmlns:a="http://schemas.openxmlformats.org/drawingml/2006/main">
            <a:r>
              <a:t/>
            </a:r>
          </a:p>
          <a:p xmlns:a="http://schemas.openxmlformats.org/drawingml/2006/main">
            <a:r>
              <a:t>Mientras trabajan, tengan presentes estas dos preguntas. ¿Qué tendría que ocurrir para abandonar esta explicación? ¿Quién puede detener o revisar la próxima acción?</a:t>
            </a:r>
          </a:p>
          <a:p xmlns:a="http://schemas.openxmlformats.org/drawingml/2006/main">
            <a:r>
              <a:t/>
            </a:r>
          </a:p>
          <a:p xmlns:a="http://schemas.openxmlformats.org/drawingml/2006/main">
            <a:r>
              <a:t>Cuando todos hayan dejado una posición visible, seguimos.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Ahora vamos a poner en común lo que cada uno vio y a comparar diferencias.</a:t>
            </a:r>
          </a:p>
          <a:p xmlns:a="http://schemas.openxmlformats.org/drawingml/2006/main">
            <a:r>
              <a:t/>
            </a:r>
          </a:p>
          <a:p xmlns:a="http://schemas.openxmlformats.org/drawingml/2006/main">
            <a:r>
              <a:t>En grupos de cuatro, cada persona comparte el campo más difícil de HH-01. El grupo identifica dos diferencias que podrían cambiar una decisión. No se permite resolverlas diciendo que falta toda la información.</a:t>
            </a:r>
          </a:p>
          <a:p xmlns:a="http://schemas.openxmlformats.org/drawingml/2006/main">
            <a:r>
              <a:t/>
            </a:r>
          </a:p>
          <a:p xmlns:a="http://schemas.openxmlformats.org/drawingml/2006/main">
            <a:r>
              <a:t>No intenten borrar el desacuerdo demasiado rápido. Una diferencia puede mostrar que estamos usando criterios distintos o mirando consecuencias diferentes.</a:t>
            </a:r>
          </a:p>
          <a:p xmlns:a="http://schemas.openxmlformats.org/drawingml/2006/main">
            <a:r>
              <a:t/>
            </a:r>
          </a:p>
          <a:p xmlns:a="http://schemas.openxmlformats.org/drawingml/2006/main">
            <a:r>
              <a:t>Tenemos 15 minutos para esta parte.</a:t>
            </a:r>
          </a:p>
          <a:p xmlns:a="http://schemas.openxmlformats.org/drawingml/2006/main">
            <a:r>
              <a:t/>
            </a:r>
          </a:p>
          <a:p xmlns:a="http://schemas.openxmlformats.org/drawingml/2006/main">
            <a:r>
              <a:t>Mientras trabajan, tengan presentes estas dos preguntas. ¿Quién puede detener o revisar la próxima acción? ¿Qué actor no está representado en el propósito formulado?</a:t>
            </a:r>
          </a:p>
          <a:p xmlns:a="http://schemas.openxmlformats.org/drawingml/2006/main">
            <a:r>
              <a:t/>
            </a:r>
          </a:p>
          <a:p xmlns:a="http://schemas.openxmlformats.org/drawingml/2006/main">
            <a:r>
              <a:t>Antes de continuar, quiero que cada equipo pueda señalar por lo menos una diferencia que cambiaría una decisión.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Detengámonos en la distinción que necesitamos para poder decidir mejor.</a:t>
            </a:r>
          </a:p>
          <a:p xmlns:a="http://schemas.openxmlformats.org/drawingml/2006/main">
            <a:r>
              <a:t/>
            </a:r>
          </a:p>
          <a:p xmlns:a="http://schemas.openxmlformats.org/drawingml/2006/main">
            <a:r>
              <a:t>Ahora voy a trabajar únicamente sobre dos confusiones observadas: pedido como prueba del problema. Actividad como evidencia de aprendizaje. La intervención termina con la prueba de calidad metodológica: qué incertidumbre se reduce, antes de qué decisión, mediante qué evidencia y qué resultado modificaría el camino.</a:t>
            </a:r>
          </a:p>
          <a:p xmlns:a="http://schemas.openxmlformats.org/drawingml/2006/main">
            <a:r>
              <a:t/>
            </a:r>
          </a:p>
          <a:p xmlns:a="http://schemas.openxmlformats.org/drawingml/2006/main">
            <a:r>
              <a:t>No necesitamos repasar toda la lectura. Vamos a usar el concepto solamente donde ayuda a interpretar lo que tenemos delante.</a:t>
            </a:r>
          </a:p>
          <a:p xmlns:a="http://schemas.openxmlformats.org/drawingml/2006/main">
            <a:r>
              <a:t/>
            </a:r>
          </a:p>
          <a:p xmlns:a="http://schemas.openxmlformats.org/drawingml/2006/main">
            <a:r>
              <a:t>Tenemos 12 minutos para esta parte.</a:t>
            </a:r>
          </a:p>
          <a:p xmlns:a="http://schemas.openxmlformats.org/drawingml/2006/main">
            <a:r>
              <a:t/>
            </a:r>
          </a:p>
          <a:p xmlns:a="http://schemas.openxmlformats.org/drawingml/2006/main">
            <a:r>
              <a:t>Mientras trabajan, tengan presentes estas dos preguntas. ¿Qué actor no está representado en el propósito formulado? ¿La práctica elegida reduce incertidumbre antes de decidir o justifica una decisión previa?</a:t>
            </a:r>
          </a:p>
          <a:p xmlns:a="http://schemas.openxmlformats.org/drawingml/2006/main">
            <a:r>
              <a:t/>
            </a:r>
          </a:p>
          <a:p xmlns:a="http://schemas.openxmlformats.org/drawingml/2006/main">
            <a:r>
              <a:t>Seguimos cuando la distinción pueda explicarse con un ejemplo del caso y no solamente con una definición.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 esa distinción disponible, vamos a reconstruir el problema sobre un caso concreto.</a:t>
            </a:r>
          </a:p>
          <a:p xmlns:a="http://schemas.openxmlformats.org/drawingml/2006/main">
            <a:r>
              <a:t/>
            </a:r>
          </a:p>
          <a:p xmlns:a="http://schemas.openxmlformats.org/drawingml/2006/main">
            <a:r>
              <a:t>Cada equipo produce una versión común. Debe conservar desacuerdos relevantes y declarar qué actor podría cuestionar su propósito.</a:t>
            </a:r>
          </a:p>
          <a:p xmlns:a="http://schemas.openxmlformats.org/drawingml/2006/main">
            <a:r>
              <a:t/>
            </a:r>
          </a:p>
          <a:p xmlns:a="http://schemas.openxmlformats.org/drawingml/2006/main">
            <a:r>
              <a:t>Busquen relaciones que otra persona pueda seguir. Una afirmación gana valor cuando podemos mostrar en qué evidencia se apoya y qué decisión modifica.</a:t>
            </a:r>
          </a:p>
          <a:p xmlns:a="http://schemas.openxmlformats.org/drawingml/2006/main">
            <a:r>
              <a:t/>
            </a:r>
          </a:p>
          <a:p xmlns:a="http://schemas.openxmlformats.org/drawingml/2006/main">
            <a:r>
              <a:t>Tenemos 23 minutos para esta parte.</a:t>
            </a:r>
          </a:p>
          <a:p xmlns:a="http://schemas.openxmlformats.org/drawingml/2006/main">
            <a:r>
              <a:t/>
            </a:r>
          </a:p>
          <a:p xmlns:a="http://schemas.openxmlformats.org/drawingml/2006/main">
            <a:r>
              <a:t>Mientras trabajan, tengan presentes estas dos preguntas. ¿La práctica elegida reduce incertidumbre antes de decidir o justifica una decisión previa? ¿Qué dato del pedido funciona como evidencia y cuál sólo expresa una preferencia?</a:t>
            </a:r>
          </a:p>
          <a:p xmlns:a="http://schemas.openxmlformats.org/drawingml/2006/main">
            <a:r>
              <a:t/>
            </a:r>
          </a:p>
          <a:p xmlns:a="http://schemas.openxmlformats.org/drawingml/2006/main">
            <a:r>
              <a:t>Antes de avanzar, dejen la producción en una forma que otro equipo pueda leer y revisar.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Voy a incorporar información nueva. La idea es observar si nuestra explicación resiste o necesita cambiar.</a:t>
            </a:r>
          </a:p>
          <a:p xmlns:a="http://schemas.openxmlformats.org/drawingml/2006/main">
            <a:r>
              <a:t/>
            </a:r>
          </a:p>
          <a:p xmlns:a="http://schemas.openxmlformats.org/drawingml/2006/main">
            <a:r>
              <a:t>Cada equipo recibe dos piezas de evidencia elegidas para tensionar su explicación: Primero, el PMS respondió dentro del tiempo acordado durante el episodio. Después, Recepción no pudo asignar una habitación declarada limpia. Luego, Comercial publicó una condición que Operaciones no había validado. También, una persona usuaria abandonó el check-in digital por una barrera de accesibilidad. A continuación, el chatbot resolvió consultas simples, pero ejecutó una cancelación sin confirmar identidad. Además, la sobreventa sólo aparece en reservas provenientes de un canal externo. El equipo debe registrar qué campo de HH-01 cambia, cuál se mantiene y qué nueva acción queda autorizada.</a:t>
            </a:r>
          </a:p>
          <a:p xmlns:a="http://schemas.openxmlformats.org/drawingml/2006/main">
            <a:r>
              <a:t/>
            </a:r>
          </a:p>
          <a:p xmlns:a="http://schemas.openxmlformats.org/drawingml/2006/main">
            <a:r>
              <a:t>Cambiar de posición frente a evidencia nueva no es un error. Es una señal de que el razonamiento permanece abierto a revisión.</a:t>
            </a:r>
          </a:p>
          <a:p xmlns:a="http://schemas.openxmlformats.org/drawingml/2006/main">
            <a:r>
              <a:t/>
            </a:r>
          </a:p>
          <a:p xmlns:a="http://schemas.openxmlformats.org/drawingml/2006/main">
            <a:r>
              <a:t>Tenemos 20 minutos para esta parte.</a:t>
            </a:r>
          </a:p>
          <a:p xmlns:a="http://schemas.openxmlformats.org/drawingml/2006/main">
            <a:r>
              <a:t/>
            </a:r>
          </a:p>
          <a:p xmlns:a="http://schemas.openxmlformats.org/drawingml/2006/main">
            <a:r>
              <a:t>Mientras trabajan, tengan presentes estas dos preguntas. ¿Qué dato del pedido funciona como evidencia y cuál sólo expresa una preferencia? ¿Qué tendría que ocurrir para abandonar esta explicación?</a:t>
            </a:r>
          </a:p>
          <a:p xmlns:a="http://schemas.openxmlformats.org/drawingml/2006/main">
            <a:r>
              <a:t/>
            </a:r>
          </a:p>
          <a:p xmlns:a="http://schemas.openxmlformats.org/drawingml/2006/main">
            <a:r>
              <a:t>Anoten con claridad qué cambió, qué se mantiene y qué decisión queda habilitada por la evidencia nueva.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Llegó el momento de revisar el trabajo de otro equipo con cuidado y con evidencia.</a:t>
            </a:r>
          </a:p>
          <a:p xmlns:a="http://schemas.openxmlformats.org/drawingml/2006/main">
            <a:r>
              <a:t/>
            </a:r>
          </a:p>
          <a:p xmlns:a="http://schemas.openxmlformats.org/drawingml/2006/main">
            <a:r>
              <a:t>Los equipos intercambian sus memos. El equipo revisor formula dos objeciones: una relación entre evidencia y decisión que todavía no se sostiene. Una condición de revisión demasiado vaga o imposible de observar. La devolución debe citar el campo cuestionado y proponer una prueba, no una solución.</a:t>
            </a:r>
          </a:p>
          <a:p xmlns:a="http://schemas.openxmlformats.org/drawingml/2006/main">
            <a:r>
              <a:t/>
            </a:r>
          </a:p>
          <a:p xmlns:a="http://schemas.openxmlformats.org/drawingml/2006/main">
            <a:r>
              <a:t>Una buena objeción no reemplaza el trabajo ajeno. Señala una relación débil y propone qué observación permitiría examinarla.</a:t>
            </a:r>
          </a:p>
          <a:p xmlns:a="http://schemas.openxmlformats.org/drawingml/2006/main">
            <a:r>
              <a:t/>
            </a:r>
          </a:p>
          <a:p xmlns:a="http://schemas.openxmlformats.org/drawingml/2006/main">
            <a:r>
              <a:t>Tenemos 18 minutos para esta parte.</a:t>
            </a:r>
          </a:p>
          <a:p xmlns:a="http://schemas.openxmlformats.org/drawingml/2006/main">
            <a:r>
              <a:t/>
            </a:r>
          </a:p>
          <a:p xmlns:a="http://schemas.openxmlformats.org/drawingml/2006/main">
            <a:r>
              <a:t>Mientras trabajan, tengan presentes estas dos preguntas. ¿Qué tendría que ocurrir para abandonar esta explicación? ¿Quién puede detener o revisar la próxima acción?</a:t>
            </a:r>
          </a:p>
          <a:p xmlns:a="http://schemas.openxmlformats.org/drawingml/2006/main">
            <a:r>
              <a:t/>
            </a:r>
          </a:p>
          <a:p xmlns:a="http://schemas.openxmlformats.org/drawingml/2006/main">
            <a:r>
              <a:t>La revisión termina cuando la objeción señala una relación concreta y propone una prueba posible.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Vamos a defender una posición provisional y a explicar en qué evidencia se apoya.</a:t>
            </a:r>
          </a:p>
          <a:p xmlns:a="http://schemas.openxmlformats.org/drawingml/2006/main">
            <a:r>
              <a:t/>
            </a:r>
          </a:p>
          <a:p xmlns:a="http://schemas.openxmlformats.org/drawingml/2006/main">
            <a:r>
              <a:t>Cada equipo dispone de noventa segundos para defender: el propósito de intervención. La siguiente acción autorizada. Una decisión que deliberadamente permanece cerrada. La evidencia que podría cambiar su encuadre.</a:t>
            </a:r>
          </a:p>
          <a:p xmlns:a="http://schemas.openxmlformats.org/drawingml/2006/main">
            <a:r>
              <a:t/>
            </a:r>
          </a:p>
          <a:p xmlns:a="http://schemas.openxmlformats.org/drawingml/2006/main">
            <a:r>
              <a:t>Sean breves y específicos. Necesitamos escuchar qué sostienen, con qué evidencia y bajo qué condición aceptarían revisar la decisión.</a:t>
            </a:r>
          </a:p>
          <a:p xmlns:a="http://schemas.openxmlformats.org/drawingml/2006/main">
            <a:r>
              <a:t/>
            </a:r>
          </a:p>
          <a:p xmlns:a="http://schemas.openxmlformats.org/drawingml/2006/main">
            <a:r>
              <a:t>Tenemos 15 minutos para esta parte.</a:t>
            </a:r>
          </a:p>
          <a:p xmlns:a="http://schemas.openxmlformats.org/drawingml/2006/main">
            <a:r>
              <a:t/>
            </a:r>
          </a:p>
          <a:p xmlns:a="http://schemas.openxmlformats.org/drawingml/2006/main">
            <a:r>
              <a:t>Mientras trabajan, tengan presentes estas dos preguntas. ¿Quién puede detener o revisar la próxima acción? ¿Qué actor no está representado en el propósito formulado?</a:t>
            </a:r>
          </a:p>
          <a:p xmlns:a="http://schemas.openxmlformats.org/drawingml/2006/main">
            <a:r>
              <a:t/>
            </a:r>
          </a:p>
          <a:p xmlns:a="http://schemas.openxmlformats.org/drawingml/2006/main">
            <a:r>
              <a:t>Cada equipo cierra cuando puede sostener una decisión provisional y también puede nombrar su límite.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Para terminar esta secuencia, vamos a registrar qué cambió y qué pregunta queda abierta.</a:t>
            </a:r>
          </a:p>
          <a:p xmlns:a="http://schemas.openxmlformats.org/drawingml/2006/main">
            <a:r>
              <a:t/>
            </a:r>
          </a:p>
          <a:p xmlns:a="http://schemas.openxmlformats.org/drawingml/2006/main">
            <a:r>
              <a:t>Cada persona completa: Primero, al comienzo pensaba. Después, ahora sostengo. Luego, cambié por esta evidencia u objeción. También, todavía podría cambiar si. A continuación, para N02 necesito saber qué relaciones forman el sistema relevante.</a:t>
            </a:r>
          </a:p>
          <a:p xmlns:a="http://schemas.openxmlformats.org/drawingml/2006/main">
            <a:r>
              <a:t/>
            </a:r>
          </a:p>
          <a:p xmlns:a="http://schemas.openxmlformats.org/drawingml/2006/main">
            <a:r>
              <a:t>El registro final importa porque nos permite reconstruir el aprendizaje sin depender de la memoria del momento.</a:t>
            </a:r>
          </a:p>
          <a:p xmlns:a="http://schemas.openxmlformats.org/drawingml/2006/main">
            <a:r>
              <a:t/>
            </a:r>
          </a:p>
          <a:p xmlns:a="http://schemas.openxmlformats.org/drawingml/2006/main">
            <a:r>
              <a:t>Tenemos 7 minutos para esta parte.</a:t>
            </a:r>
          </a:p>
          <a:p xmlns:a="http://schemas.openxmlformats.org/drawingml/2006/main">
            <a:r>
              <a:t/>
            </a:r>
          </a:p>
          <a:p xmlns:a="http://schemas.openxmlformats.org/drawingml/2006/main">
            <a:r>
              <a:t>Mientras trabajan, tengan presentes estas dos preguntas. ¿Qué actor no está representado en el propósito formulado? ¿La práctica elegida reduce incertidumbre antes de decidir o justifica una decisión previa?</a:t>
            </a:r>
          </a:p>
          <a:p xmlns:a="http://schemas.openxmlformats.org/drawingml/2006/main">
            <a:r>
              <a:t/>
            </a:r>
          </a:p>
          <a:p xmlns:a="http://schemas.openxmlformats.org/drawingml/2006/main">
            <a:r>
              <a:t>Antes de terminar, dejen por escrito qué aprendieron y qué evidencia todavía podría cambiar su posición.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Para cerrar, vuelvan por un momento a la respuesta que dieron al comienzo.</a:t>
            </a:r>
          </a:p>
          <a:p xmlns:a="http://schemas.openxmlformats.org/drawingml/2006/main">
            <a:r>
              <a:t/>
            </a:r>
          </a:p>
          <a:p xmlns:a="http://schemas.openxmlformats.org/drawingml/2006/main">
            <a:r>
              <a:t>Completen estas tres frases con una idea concreta. Antes pensaba. Ahora sostengo. Todavía revisaría mi posición si apareciera determinada evidencia.</a:t>
            </a:r>
          </a:p>
          <a:p xmlns:a="http://schemas.openxmlformats.org/drawingml/2006/main">
            <a:r>
              <a:t/>
            </a:r>
          </a:p>
          <a:p xmlns:a="http://schemas.openxmlformats.org/drawingml/2006/main">
            <a:r>
              <a:t>No hace falta mostrar una conclusión definitiva. Lo importante es poder explicar qué cambió, qué produjo ese cambio y qué pregunta sigue abierta.</a:t>
            </a:r>
          </a:p>
          <a:p xmlns:a="http://schemas.openxmlformats.org/drawingml/2006/main">
            <a:r>
              <a:t/>
            </a:r>
          </a:p>
          <a:p xmlns:a="http://schemas.openxmlformats.org/drawingml/2006/main">
            <a:r>
              <a:t>El resultado que buscamos hoy es este. Cada equipo entrega una segunda versión de HH-01 capaz de distinguir pedido, propósito, incertidumbre, evidencia y autoridad. La versión debe incluir una decisión provisional y una condición concreta que pueda revisarla.</a:t>
            </a:r>
          </a:p>
          <a:p xmlns:a="http://schemas.openxmlformats.org/drawingml/2006/main">
            <a:r>
              <a:t/>
            </a:r>
          </a:p>
          <a:p xmlns:a="http://schemas.openxmlformats.org/drawingml/2006/main">
            <a:r>
              <a:t>Dejen ese registro por escrito. Va a ser el punto de partida para el próximo encuentro y una huella del recorrido que estamos construyendo.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ce91fcb3420344ff"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ab30e6bf0cb64d0b" /><Relationship Type="http://schemas.openxmlformats.org/officeDocument/2006/relationships/slideLayout" Target="/ppt/slideLayouts/slideLayout1.xml" Id="Rde22efecdbc4419a"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de22efecdbc4419a"/>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76f40ca98d0b4df4" /><Relationship Type="http://schemas.openxmlformats.org/officeDocument/2006/relationships/notesSlide" Target="/ppt/notesSlides/notesSlide1.xml" Id="R62bb002525034bc9"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a55fb15dc937438f" /><Relationship Type="http://schemas.openxmlformats.org/officeDocument/2006/relationships/notesSlide" Target="/ppt/notesSlides/notesSlide2.xml" Id="R9a7cfe6e27434f18"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2410d74e42ab47e9" /><Relationship Type="http://schemas.openxmlformats.org/officeDocument/2006/relationships/notesSlide" Target="/ppt/notesSlides/notesSlide3.xml" Id="Reaf95bbc9399400e"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5fe8cfa969244f23" /><Relationship Type="http://schemas.openxmlformats.org/officeDocument/2006/relationships/notesSlide" Target="/ppt/notesSlides/notesSlide4.xml" Id="R8760527f6cb14597"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b8c5be6802be4d29" /><Relationship Type="http://schemas.openxmlformats.org/officeDocument/2006/relationships/notesSlide" Target="/ppt/notesSlides/notesSlide5.xml" Id="Rbe42e93595a94571"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4ba2bbd049464236" /><Relationship Type="http://schemas.openxmlformats.org/officeDocument/2006/relationships/notesSlide" Target="/ppt/notesSlides/notesSlide6.xml" Id="R0e5eebf1d9f14d38"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9592655ff5894df3" /><Relationship Type="http://schemas.openxmlformats.org/officeDocument/2006/relationships/notesSlide" Target="/ppt/notesSlides/notesSlide7.xml" Id="Rd79c273912954ce4"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be0fa4dd17034e1d" /><Relationship Type="http://schemas.openxmlformats.org/officeDocument/2006/relationships/notesSlide" Target="/ppt/notesSlides/notesSlide8.xml" Id="R1217fb08a6194a16"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78d57d18a1dd4e27" /><Relationship Type="http://schemas.openxmlformats.org/officeDocument/2006/relationships/notesSlide" Target="/ppt/notesSlides/notesSlide9.xml" Id="R0b008da0e51c4316"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5a96135c16cf49bb" /><Relationship Type="http://schemas.openxmlformats.org/officeDocument/2006/relationships/notesSlide" Target="/ppt/notesSlides/notesSlide10.xml" Id="Rc636c120bc9047e5" /></Relationships>
</file>

<file path=ppt/slides/slide1.xml><?xml version="1.0" encoding="utf-8"?>
<p:sld xmlns:p="http://schemas.openxmlformats.org/presentationml/2006/main">
  <p:cSld>
    <p:bg>
      <p:bgPr>
        <a:solidFill xmlns:a="http://schemas.openxmlformats.org/drawingml/2006/main">
          <a:srgbClr val="FAFAF8"/>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57B92FAA-4128-49F2-9197-6A40435CD9AA}"/>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CFFF00"/>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4012CCE4-F957-42EE-A7D5-C1D118C6124B}"/>
              </a:ext>
            </a:extLst>
          </p:cNvPr>
          <p:cNvSpPr>
            <a:spLocks xmlns:a="http://schemas.openxmlformats.org/drawingml/2006/main" noGrp="1"/>
          </p:cNvSpPr>
          <p:nvPr/>
        </p:nvSpPr>
        <p:spPr>
          <a:xfrm xmlns:a="http://schemas.openxmlformats.org/drawingml/2006/main">
            <a:off x="514350" y="323850"/>
            <a:ext cx="2381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5833"/>
          </a:bodyPr>
          <a:lstStyle xmlns:a="http://schemas.openxmlformats.org/drawingml/2006/main"/>
          <a:p xmlns:a="http://schemas.openxmlformats.org/drawingml/2006/main">
            <a:pPr>
              <a:defRPr sz="1200" b="1" i="0">
                <a:solidFill>
                  <a:srgbClr val="5B5D59"/>
                </a:solidFill>
                <a:latin typeface="Avenir"/>
                <a:ea typeface="Avenir"/>
                <a:cs typeface="Avenir"/>
              </a:defRPr>
            </a:pPr>
            <a:r>
              <a:rPr sz="1200" b="1" i="0">
                <a:solidFill>
                  <a:srgbClr val="5B5D59"/>
                </a:solidFill>
                <a:latin typeface="Avenir"/>
                <a:ea typeface="Avenir"/>
                <a:cs typeface="Avenir"/>
              </a:rPr>
              <a:t>N01  ·  METSI</a:t>
            </a:r>
          </a:p>
        </p:txBody>
      </p:sp>
      <p:sp>
        <p:nvSpPr>
          <p:cNvPr id="3" name="">
            <a:extLst xmlns:a="http://schemas.openxmlformats.org/drawingml/2006/main">
              <a:ext uri="{FF2B5EF4-FFF2-40B4-BE49-F238E27FC236}">
                <a16:creationId xmlns:a16="http://schemas.microsoft.com/office/drawing/2014/main" id="{EBB9D0F5-BA8B-4C4F-837D-226F1520BE68}"/>
              </a:ext>
            </a:extLst>
          </p:cNvPr>
          <p:cNvSpPr>
            <a:spLocks xmlns:a="http://schemas.openxmlformats.org/drawingml/2006/main" noGrp="1"/>
          </p:cNvSpPr>
          <p:nvPr/>
        </p:nvSpPr>
        <p:spPr>
          <a:xfrm xmlns:a="http://schemas.openxmlformats.org/drawingml/2006/main">
            <a:off x="10858500" y="29527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350" b="1" i="0">
                <a:solidFill>
                  <a:srgbClr val="181817"/>
                </a:solidFill>
                <a:latin typeface="Avenir"/>
                <a:ea typeface="Avenir"/>
                <a:cs typeface="Avenir"/>
              </a:defRPr>
            </a:pPr>
            <a:r>
              <a:rPr sz="1350" b="1" i="0">
                <a:solidFill>
                  <a:srgbClr val="181817"/>
                </a:solidFill>
                <a:latin typeface="Avenir"/>
                <a:ea typeface="Avenir"/>
                <a:cs typeface="Avenir"/>
              </a:rPr>
              <a:t>01</a:t>
            </a:r>
          </a:p>
        </p:txBody>
      </p:sp>
      <p:sp>
        <p:nvSpPr>
          <p:cNvPr id="4" name="">
            <a:extLst xmlns:a="http://schemas.openxmlformats.org/drawingml/2006/main">
              <a:ext uri="{FF2B5EF4-FFF2-40B4-BE49-F238E27FC236}">
                <a16:creationId xmlns:a16="http://schemas.microsoft.com/office/drawing/2014/main" id="{594112C1-291D-42FC-8921-F19F6A021360}"/>
              </a:ext>
            </a:extLst>
          </p:cNvPr>
          <p:cNvSpPr>
            <a:spLocks xmlns:a="http://schemas.openxmlformats.org/drawingml/2006/main" noGrp="1"/>
          </p:cNvSpPr>
          <p:nvPr/>
        </p:nvSpPr>
        <p:spPr>
          <a:xfrm xmlns:a="http://schemas.openxmlformats.org/drawingml/2006/main">
            <a:off x="7239000" y="352425"/>
            <a:ext cx="338137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3939"/>
          </a:bodyPr>
          <a:lstStyle xmlns:a="http://schemas.openxmlformats.org/drawingml/2006/main"/>
          <a:p xmlns:a="http://schemas.openxmlformats.org/drawingml/2006/main">
            <a:pPr>
              <a:defRPr sz="825" b="1" i="0">
                <a:solidFill>
                  <a:srgbClr val="5B5D59"/>
                </a:solidFill>
                <a:latin typeface="Avenir"/>
                <a:ea typeface="Avenir"/>
                <a:cs typeface="Avenir"/>
              </a:defRPr>
            </a:pPr>
            <a:r>
              <a:rPr sz="825" b="1" i="0">
                <a:solidFill>
                  <a:srgbClr val="5B5D59"/>
                </a:solidFill>
                <a:latin typeface="Avenir"/>
                <a:ea typeface="Avenir"/>
                <a:cs typeface="Avenir"/>
              </a:rPr>
              <a:t>BLOQUE A · ENCUADRE  ·  ENCUENTRO</a:t>
            </a:r>
          </a:p>
        </p:txBody>
      </p:sp>
      <p:sp>
        <p:nvSpPr>
          <p:cNvPr id="5" name="">
            <a:extLst xmlns:a="http://schemas.openxmlformats.org/drawingml/2006/main">
              <a:ext uri="{FF2B5EF4-FFF2-40B4-BE49-F238E27FC236}">
                <a16:creationId xmlns:a16="http://schemas.microsoft.com/office/drawing/2014/main" id="{C6150223-F8B4-4499-8595-7364336E5E72}"/>
              </a:ext>
            </a:extLst>
          </p:cNvPr>
          <p:cNvSpPr>
            <a:spLocks xmlns:a="http://schemas.openxmlformats.org/drawingml/2006/main" noGrp="1"/>
          </p:cNvSpPr>
          <p:nvPr/>
        </p:nvSpPr>
        <p:spPr>
          <a:xfrm xmlns:a="http://schemas.openxmlformats.org/drawingml/2006/main">
            <a:off x="514350" y="781050"/>
            <a:ext cx="11049000" cy="19050"/>
          </a:xfrm>
          <a:prstGeom xmlns:a="http://schemas.openxmlformats.org/drawingml/2006/main" prst="rect">
            <a:avLst/>
          </a:prstGeom>
          <a:solidFill xmlns:a="http://schemas.openxmlformats.org/drawingml/2006/main">
            <a:srgbClr val="181817"/>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F71FC6EE-92D4-46D5-88F1-CC931B3E015A}"/>
              </a:ext>
            </a:extLst>
          </p:cNvPr>
          <p:cNvSpPr>
            <a:spLocks xmlns:a="http://schemas.openxmlformats.org/drawingml/2006/main" noGrp="1"/>
          </p:cNvSpPr>
          <p:nvPr/>
        </p:nvSpPr>
        <p:spPr>
          <a:xfrm xmlns:a="http://schemas.openxmlformats.org/drawingml/2006/main">
            <a:off x="514350" y="6486525"/>
            <a:ext cx="11049000" cy="9525"/>
          </a:xfrm>
          <a:prstGeom xmlns:a="http://schemas.openxmlformats.org/drawingml/2006/main" prst="rect">
            <a:avLst/>
          </a:prstGeom>
          <a:solidFill xmlns:a="http://schemas.openxmlformats.org/drawingml/2006/main">
            <a:srgbClr val="AEB1AE"/>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79499731-A66C-42DA-B59C-893AC57908C7}"/>
              </a:ext>
            </a:extLst>
          </p:cNvPr>
          <p:cNvSpPr>
            <a:spLocks xmlns:a="http://schemas.openxmlformats.org/drawingml/2006/main" noGrp="1"/>
          </p:cNvSpPr>
          <p:nvPr/>
        </p:nvSpPr>
        <p:spPr>
          <a:xfrm xmlns:a="http://schemas.openxmlformats.org/drawingml/2006/main">
            <a:off x="514350" y="6553200"/>
            <a:ext cx="5334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8788"/>
          </a:bodyPr>
          <a:lstStyle xmlns:a="http://schemas.openxmlformats.org/drawingml/2006/main"/>
          <a:p xmlns:a="http://schemas.openxmlformats.org/drawingml/2006/main">
            <a:pPr>
              <a:defRPr sz="825" b="0" i="0">
                <a:solidFill>
                  <a:srgbClr val="5B5D59"/>
                </a:solidFill>
                <a:latin typeface="Avenir"/>
                <a:ea typeface="Avenir"/>
                <a:cs typeface="Avenir"/>
              </a:defRPr>
            </a:pPr>
            <a:r>
              <a:rPr sz="825" b="0" i="0">
                <a:solidFill>
                  <a:srgbClr val="5B5D59"/>
                </a:solidFill>
                <a:latin typeface="Avenir"/>
                <a:ea typeface="Avenir"/>
                <a:cs typeface="Avenir"/>
              </a:rPr>
              <a:t>Metodología de Sistemas de Información · FCE UBA</a:t>
            </a:r>
          </a:p>
        </p:txBody>
      </p:sp>
      <p:sp>
        <p:nvSpPr>
          <p:cNvPr id="8" name="">
            <a:extLst xmlns:a="http://schemas.openxmlformats.org/drawingml/2006/main">
              <a:ext uri="{FF2B5EF4-FFF2-40B4-BE49-F238E27FC236}">
                <a16:creationId xmlns:a16="http://schemas.microsoft.com/office/drawing/2014/main" id="{54BDB893-701B-4009-BA09-4B7D292F6D45}"/>
              </a:ext>
            </a:extLst>
          </p:cNvPr>
          <p:cNvSpPr>
            <a:spLocks xmlns:a="http://schemas.openxmlformats.org/drawingml/2006/main" noGrp="1"/>
          </p:cNvSpPr>
          <p:nvPr/>
        </p:nvSpPr>
        <p:spPr>
          <a:xfrm xmlns:a="http://schemas.openxmlformats.org/drawingml/2006/main">
            <a:off x="704850" y="1123950"/>
            <a:ext cx="476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125" b="1" i="0">
                <a:solidFill>
                  <a:srgbClr val="5B5D59"/>
                </a:solidFill>
                <a:latin typeface="Avenir"/>
                <a:ea typeface="Avenir"/>
                <a:cs typeface="Avenir"/>
              </a:defRPr>
            </a:pPr>
            <a:r>
              <a:rPr sz="1125" b="1" i="0">
                <a:solidFill>
                  <a:srgbClr val="5B5D59"/>
                </a:solidFill>
                <a:latin typeface="Avenir"/>
                <a:ea typeface="Avenir"/>
                <a:cs typeface="Avenir"/>
              </a:rPr>
              <a:t>PREGUNTA PROFESIONAL</a:t>
            </a:r>
          </a:p>
        </p:txBody>
      </p:sp>
      <p:sp>
        <p:nvSpPr>
          <p:cNvPr id="9" name="">
            <a:extLst xmlns:a="http://schemas.openxmlformats.org/drawingml/2006/main">
              <a:ext uri="{FF2B5EF4-FFF2-40B4-BE49-F238E27FC236}">
                <a16:creationId xmlns:a16="http://schemas.microsoft.com/office/drawing/2014/main" id="{9EEE3F65-8E29-48D3-9DE7-8A4A4D00E7D0}"/>
              </a:ext>
            </a:extLst>
          </p:cNvPr>
          <p:cNvSpPr>
            <a:spLocks xmlns:a="http://schemas.openxmlformats.org/drawingml/2006/main" noGrp="1"/>
          </p:cNvSpPr>
          <p:nvPr/>
        </p:nvSpPr>
        <p:spPr>
          <a:xfrm xmlns:a="http://schemas.openxmlformats.org/drawingml/2006/main">
            <a:off x="7239000" y="1123950"/>
            <a:ext cx="36671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0000"/>
          </a:bodyPr>
          <a:lstStyle xmlns:a="http://schemas.openxmlformats.org/drawingml/2006/main"/>
          <a:p xmlns:a="http://schemas.openxmlformats.org/drawingml/2006/main">
            <a:pPr>
              <a:defRPr sz="1125" b="1" i="0">
                <a:solidFill>
                  <a:srgbClr val="5B5D59"/>
                </a:solidFill>
                <a:latin typeface="Avenir"/>
                <a:ea typeface="Avenir"/>
                <a:cs typeface="Avenir"/>
              </a:defRPr>
            </a:pPr>
            <a:r>
              <a:rPr sz="1125" b="1" i="0">
                <a:solidFill>
                  <a:srgbClr val="5B5D59"/>
                </a:solidFill>
                <a:latin typeface="Avenir"/>
                <a:ea typeface="Avenir"/>
                <a:cs typeface="Avenir"/>
              </a:rPr>
              <a:t>Metodología sin recetas: intervenir cuando el problema todavía no está claro</a:t>
            </a:r>
          </a:p>
        </p:txBody>
      </p:sp>
      <p:sp>
        <p:nvSpPr>
          <p:cNvPr id="10" name="">
            <a:extLst xmlns:a="http://schemas.openxmlformats.org/drawingml/2006/main">
              <a:ext uri="{FF2B5EF4-FFF2-40B4-BE49-F238E27FC236}">
                <a16:creationId xmlns:a16="http://schemas.microsoft.com/office/drawing/2014/main" id="{90F89569-DC82-44E6-BFFD-9DD9A2C0A31E}"/>
              </a:ext>
            </a:extLst>
          </p:cNvPr>
          <p:cNvSpPr>
            <a:spLocks xmlns:a="http://schemas.openxmlformats.org/drawingml/2006/main" noGrp="1"/>
          </p:cNvSpPr>
          <p:nvPr/>
        </p:nvSpPr>
        <p:spPr>
          <a:xfrm xmlns:a="http://schemas.openxmlformats.org/drawingml/2006/main">
            <a:off x="704850" y="1619250"/>
            <a:ext cx="9906000" cy="266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3450" b="0" i="0">
                <a:solidFill>
                  <a:srgbClr val="181817"/>
                </a:solidFill>
                <a:latin typeface="Didot"/>
                <a:ea typeface="Didot"/>
                <a:cs typeface="Didot"/>
              </a:defRPr>
            </a:pPr>
            <a:r>
              <a:rPr sz="3450" b="0" i="0">
                <a:solidFill>
                  <a:srgbClr val="181817"/>
                </a:solidFill>
                <a:latin typeface="Didot"/>
                <a:ea typeface="Didot"/>
                <a:cs typeface="Didot"/>
              </a:rPr>
              <a:t>¿Para qué sirve una metodología si ninguna secuencia de pasos puede garantizar que comprendamos el problema ni que la intervención produzca el resultado esperado?</a:t>
            </a:r>
          </a:p>
        </p:txBody>
      </p:sp>
      <p:sp>
        <p:nvSpPr>
          <p:cNvPr id="11" name="">
            <a:extLst xmlns:a="http://schemas.openxmlformats.org/drawingml/2006/main">
              <a:ext uri="{FF2B5EF4-FFF2-40B4-BE49-F238E27FC236}">
                <a16:creationId xmlns:a16="http://schemas.microsoft.com/office/drawing/2014/main" id="{70C2A201-A809-4AB1-B287-B96450BAEACB}"/>
              </a:ext>
            </a:extLst>
          </p:cNvPr>
          <p:cNvSpPr>
            <a:spLocks xmlns:a="http://schemas.openxmlformats.org/drawingml/2006/main" noGrp="1"/>
          </p:cNvSpPr>
          <p:nvPr/>
        </p:nvSpPr>
        <p:spPr>
          <a:xfrm xmlns:a="http://schemas.openxmlformats.org/drawingml/2006/main">
            <a:off x="704850" y="4895850"/>
            <a:ext cx="838200" cy="95250"/>
          </a:xfrm>
          <a:prstGeom xmlns:a="http://schemas.openxmlformats.org/drawingml/2006/main" prst="rect">
            <a:avLst/>
          </a:prstGeom>
          <a:solidFill xmlns:a="http://schemas.openxmlformats.org/drawingml/2006/main">
            <a:srgbClr val="CFFF00"/>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2F5E3D67-EEAB-4D7A-8BD7-49AF8E383500}"/>
              </a:ext>
            </a:extLst>
          </p:cNvPr>
          <p:cNvSpPr>
            <a:spLocks xmlns:a="http://schemas.openxmlformats.org/drawingml/2006/main" noGrp="1"/>
          </p:cNvSpPr>
          <p:nvPr/>
        </p:nvSpPr>
        <p:spPr>
          <a:xfrm xmlns:a="http://schemas.openxmlformats.org/drawingml/2006/main">
            <a:off x="704850" y="5219700"/>
            <a:ext cx="86677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650" b="0" i="0">
                <a:solidFill>
                  <a:srgbClr val="5B5D59"/>
                </a:solidFill>
                <a:latin typeface="Avenir"/>
                <a:ea typeface="Avenir"/>
                <a:cs typeface="Avenir"/>
              </a:defRPr>
            </a:pPr>
            <a:r>
              <a:rPr sz="1650" b="0" i="0">
                <a:solidFill>
                  <a:srgbClr val="5B5D59"/>
                </a:solidFill>
                <a:latin typeface="Avenir"/>
                <a:ea typeface="Avenir"/>
                <a:cs typeface="Avenir"/>
              </a:rPr>
              <a:t>Respondé antes de explicar. La primera posición queda registrada para revisarla al cierre.</a:t>
            </a:r>
          </a:p>
        </p:txBody>
      </p:sp>
    </p:spTree>
    <p:extLst>
      <p:ext uri="{BB962C8B-B14F-4D97-AF65-F5344CB8AC3E}">
        <p14:creationId xmlns:p14="http://schemas.microsoft.com/office/powerpoint/2010/main" val="1445457474"/>
      </p:ext>
    </p:extLst>
  </p:cSld>
</p:sld>
</file>

<file path=ppt/slides/slide2.xml><?xml version="1.0" encoding="utf-8"?>
<p:sld xmlns:p="http://schemas.openxmlformats.org/presentationml/2006/main">
  <p:cSld>
    <p:bg>
      <p:bgPr>
        <a:solidFill xmlns:a="http://schemas.openxmlformats.org/drawingml/2006/main">
          <a:srgbClr val="FAFAF8"/>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5642051B-3593-4A24-8F07-09534203F8AD}"/>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CFFF00"/>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F0752ED8-D7AD-4B65-80B5-239294B99FED}"/>
              </a:ext>
            </a:extLst>
          </p:cNvPr>
          <p:cNvSpPr>
            <a:spLocks xmlns:a="http://schemas.openxmlformats.org/drawingml/2006/main" noGrp="1"/>
          </p:cNvSpPr>
          <p:nvPr/>
        </p:nvSpPr>
        <p:spPr>
          <a:xfrm xmlns:a="http://schemas.openxmlformats.org/drawingml/2006/main">
            <a:off x="514350" y="323850"/>
            <a:ext cx="2381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5833"/>
          </a:bodyPr>
          <a:lstStyle xmlns:a="http://schemas.openxmlformats.org/drawingml/2006/main"/>
          <a:p xmlns:a="http://schemas.openxmlformats.org/drawingml/2006/main">
            <a:pPr>
              <a:defRPr sz="1200" b="1" i="0">
                <a:solidFill>
                  <a:srgbClr val="5B5D59"/>
                </a:solidFill>
                <a:latin typeface="Avenir"/>
                <a:ea typeface="Avenir"/>
                <a:cs typeface="Avenir"/>
              </a:defRPr>
            </a:pPr>
            <a:r>
              <a:rPr sz="1200" b="1" i="0">
                <a:solidFill>
                  <a:srgbClr val="5B5D59"/>
                </a:solidFill>
                <a:latin typeface="Avenir"/>
                <a:ea typeface="Avenir"/>
                <a:cs typeface="Avenir"/>
              </a:rPr>
              <a:t>N01  ·  METSI</a:t>
            </a:r>
          </a:p>
        </p:txBody>
      </p:sp>
      <p:sp>
        <p:nvSpPr>
          <p:cNvPr id="3" name="">
            <a:extLst xmlns:a="http://schemas.openxmlformats.org/drawingml/2006/main">
              <a:ext uri="{FF2B5EF4-FFF2-40B4-BE49-F238E27FC236}">
                <a16:creationId xmlns:a16="http://schemas.microsoft.com/office/drawing/2014/main" id="{DFFFCAFD-BE20-4F97-BAC4-EE6830443CCE}"/>
              </a:ext>
            </a:extLst>
          </p:cNvPr>
          <p:cNvSpPr>
            <a:spLocks xmlns:a="http://schemas.openxmlformats.org/drawingml/2006/main" noGrp="1"/>
          </p:cNvSpPr>
          <p:nvPr/>
        </p:nvSpPr>
        <p:spPr>
          <a:xfrm xmlns:a="http://schemas.openxmlformats.org/drawingml/2006/main">
            <a:off x="10858500" y="29527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350" b="1" i="0">
                <a:solidFill>
                  <a:srgbClr val="181817"/>
                </a:solidFill>
                <a:latin typeface="Avenir"/>
                <a:ea typeface="Avenir"/>
                <a:cs typeface="Avenir"/>
              </a:defRPr>
            </a:pPr>
            <a:r>
              <a:rPr sz="1350" b="1" i="0">
                <a:solidFill>
                  <a:srgbClr val="181817"/>
                </a:solidFill>
                <a:latin typeface="Avenir"/>
                <a:ea typeface="Avenir"/>
                <a:cs typeface="Avenir"/>
              </a:rPr>
              <a:t>02</a:t>
            </a:r>
          </a:p>
        </p:txBody>
      </p:sp>
      <p:sp>
        <p:nvSpPr>
          <p:cNvPr id="4" name="">
            <a:extLst xmlns:a="http://schemas.openxmlformats.org/drawingml/2006/main">
              <a:ext uri="{FF2B5EF4-FFF2-40B4-BE49-F238E27FC236}">
                <a16:creationId xmlns:a16="http://schemas.microsoft.com/office/drawing/2014/main" id="{997D70A7-C177-4F34-A079-12861CE23D23}"/>
              </a:ext>
            </a:extLst>
          </p:cNvPr>
          <p:cNvSpPr>
            <a:spLocks xmlns:a="http://schemas.openxmlformats.org/drawingml/2006/main" noGrp="1"/>
          </p:cNvSpPr>
          <p:nvPr/>
        </p:nvSpPr>
        <p:spPr>
          <a:xfrm xmlns:a="http://schemas.openxmlformats.org/drawingml/2006/main">
            <a:off x="7239000" y="352425"/>
            <a:ext cx="338137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3939"/>
          </a:bodyPr>
          <a:lstStyle xmlns:a="http://schemas.openxmlformats.org/drawingml/2006/main"/>
          <a:p xmlns:a="http://schemas.openxmlformats.org/drawingml/2006/main">
            <a:pPr>
              <a:defRPr sz="825" b="1" i="0">
                <a:solidFill>
                  <a:srgbClr val="5B5D59"/>
                </a:solidFill>
                <a:latin typeface="Avenir"/>
                <a:ea typeface="Avenir"/>
                <a:cs typeface="Avenir"/>
              </a:defRPr>
            </a:pPr>
            <a:r>
              <a:rPr sz="825" b="1" i="0">
                <a:solidFill>
                  <a:srgbClr val="5B5D59"/>
                </a:solidFill>
                <a:latin typeface="Avenir"/>
                <a:ea typeface="Avenir"/>
                <a:cs typeface="Avenir"/>
              </a:rPr>
              <a:t>BLOQUE A · ENCUADRE  ·  ENCUENTRO</a:t>
            </a:r>
          </a:p>
        </p:txBody>
      </p:sp>
      <p:sp>
        <p:nvSpPr>
          <p:cNvPr id="5" name="">
            <a:extLst xmlns:a="http://schemas.openxmlformats.org/drawingml/2006/main">
              <a:ext uri="{FF2B5EF4-FFF2-40B4-BE49-F238E27FC236}">
                <a16:creationId xmlns:a16="http://schemas.microsoft.com/office/drawing/2014/main" id="{2A3873EA-3860-4291-8C85-9CDBFF6779A1}"/>
              </a:ext>
            </a:extLst>
          </p:cNvPr>
          <p:cNvSpPr>
            <a:spLocks xmlns:a="http://schemas.openxmlformats.org/drawingml/2006/main" noGrp="1"/>
          </p:cNvSpPr>
          <p:nvPr/>
        </p:nvSpPr>
        <p:spPr>
          <a:xfrm xmlns:a="http://schemas.openxmlformats.org/drawingml/2006/main">
            <a:off x="514350" y="781050"/>
            <a:ext cx="11049000" cy="19050"/>
          </a:xfrm>
          <a:prstGeom xmlns:a="http://schemas.openxmlformats.org/drawingml/2006/main" prst="rect">
            <a:avLst/>
          </a:prstGeom>
          <a:solidFill xmlns:a="http://schemas.openxmlformats.org/drawingml/2006/main">
            <a:srgbClr val="181817"/>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8DFF8E45-2D28-4C1B-9BBF-0835BA05B5C9}"/>
              </a:ext>
            </a:extLst>
          </p:cNvPr>
          <p:cNvSpPr>
            <a:spLocks xmlns:a="http://schemas.openxmlformats.org/drawingml/2006/main" noGrp="1"/>
          </p:cNvSpPr>
          <p:nvPr/>
        </p:nvSpPr>
        <p:spPr>
          <a:xfrm xmlns:a="http://schemas.openxmlformats.org/drawingml/2006/main">
            <a:off x="514350" y="6486525"/>
            <a:ext cx="11049000" cy="9525"/>
          </a:xfrm>
          <a:prstGeom xmlns:a="http://schemas.openxmlformats.org/drawingml/2006/main" prst="rect">
            <a:avLst/>
          </a:prstGeom>
          <a:solidFill xmlns:a="http://schemas.openxmlformats.org/drawingml/2006/main">
            <a:srgbClr val="AEB1AE"/>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062E576B-150D-46DC-A905-00525B999292}"/>
              </a:ext>
            </a:extLst>
          </p:cNvPr>
          <p:cNvSpPr>
            <a:spLocks xmlns:a="http://schemas.openxmlformats.org/drawingml/2006/main" noGrp="1"/>
          </p:cNvSpPr>
          <p:nvPr/>
        </p:nvSpPr>
        <p:spPr>
          <a:xfrm xmlns:a="http://schemas.openxmlformats.org/drawingml/2006/main">
            <a:off x="514350" y="6553200"/>
            <a:ext cx="5334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8788"/>
          </a:bodyPr>
          <a:lstStyle xmlns:a="http://schemas.openxmlformats.org/drawingml/2006/main"/>
          <a:p xmlns:a="http://schemas.openxmlformats.org/drawingml/2006/main">
            <a:pPr>
              <a:defRPr sz="825" b="0" i="0">
                <a:solidFill>
                  <a:srgbClr val="5B5D59"/>
                </a:solidFill>
                <a:latin typeface="Avenir"/>
                <a:ea typeface="Avenir"/>
                <a:cs typeface="Avenir"/>
              </a:defRPr>
            </a:pPr>
            <a:r>
              <a:rPr sz="825" b="0" i="0">
                <a:solidFill>
                  <a:srgbClr val="5B5D59"/>
                </a:solidFill>
                <a:latin typeface="Avenir"/>
                <a:ea typeface="Avenir"/>
                <a:cs typeface="Avenir"/>
              </a:rPr>
              <a:t>Metodología de Sistemas de Información · FCE UBA</a:t>
            </a:r>
          </a:p>
        </p:txBody>
      </p:sp>
      <p:sp>
        <p:nvSpPr>
          <p:cNvPr id="8" name="">
            <a:extLst xmlns:a="http://schemas.openxmlformats.org/drawingml/2006/main">
              <a:ext uri="{FF2B5EF4-FFF2-40B4-BE49-F238E27FC236}">
                <a16:creationId xmlns:a16="http://schemas.microsoft.com/office/drawing/2014/main" id="{E84FA70B-6E9B-4ACB-9C57-23BF96F379F1}"/>
              </a:ext>
            </a:extLst>
          </p:cNvPr>
          <p:cNvSpPr>
            <a:spLocks xmlns:a="http://schemas.openxmlformats.org/drawingml/2006/main" noGrp="1"/>
          </p:cNvSpPr>
          <p:nvPr/>
        </p:nvSpPr>
        <p:spPr>
          <a:xfrm xmlns:a="http://schemas.openxmlformats.org/drawingml/2006/main">
            <a:off x="704850" y="1066800"/>
            <a:ext cx="8763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3000" b="0" i="0">
                <a:solidFill>
                  <a:srgbClr val="181817"/>
                </a:solidFill>
                <a:latin typeface="Didot"/>
                <a:ea typeface="Didot"/>
                <a:cs typeface="Didot"/>
              </a:defRPr>
            </a:pPr>
            <a:r>
              <a:rPr sz="3000" b="0" i="0">
                <a:solidFill>
                  <a:srgbClr val="181817"/>
                </a:solidFill>
                <a:latin typeface="Didot"/>
                <a:ea typeface="Didot"/>
                <a:cs typeface="Didot"/>
              </a:rPr>
              <a:t>Decisión inicial</a:t>
            </a:r>
          </a:p>
        </p:txBody>
      </p:sp>
      <p:sp>
        <p:nvSpPr>
          <p:cNvPr id="9" name="">
            <a:extLst xmlns:a="http://schemas.openxmlformats.org/drawingml/2006/main">
              <a:ext uri="{FF2B5EF4-FFF2-40B4-BE49-F238E27FC236}">
                <a16:creationId xmlns:a16="http://schemas.microsoft.com/office/drawing/2014/main" id="{3DB62C88-2415-4E1E-A323-90BC507DA7F7}"/>
              </a:ext>
            </a:extLst>
          </p:cNvPr>
          <p:cNvSpPr>
            <a:spLocks xmlns:a="http://schemas.openxmlformats.org/drawingml/2006/main" noGrp="1"/>
          </p:cNvSpPr>
          <p:nvPr/>
        </p:nvSpPr>
        <p:spPr>
          <a:xfrm xmlns:a="http://schemas.openxmlformats.org/drawingml/2006/main">
            <a:off x="10001250" y="1200150"/>
            <a:ext cx="1238250" cy="514350"/>
          </a:xfrm>
          <a:prstGeom xmlns:a="http://schemas.openxmlformats.org/drawingml/2006/main" prst="roundRect">
            <a:avLst>
              <a:gd name="adj" fmla="val 14815"/>
            </a:avLst>
          </a:prstGeom>
          <a:solidFill xmlns:a="http://schemas.openxmlformats.org/drawingml/2006/main">
            <a:srgbClr val="E4E6E5"/>
          </a:solidFill>
          <a:ln xmlns:a="http://schemas.openxmlformats.org/drawingml/2006/main" w="9525">
            <a:solidFill>
              <a:srgbClr val="AEB1AE"/>
            </a:solidFill>
          </a:ln>
        </p:spPr>
      </p:sp>
      <p:sp>
        <p:nvSpPr>
          <p:cNvPr id="10" name="">
            <a:extLst xmlns:a="http://schemas.openxmlformats.org/drawingml/2006/main">
              <a:ext uri="{FF2B5EF4-FFF2-40B4-BE49-F238E27FC236}">
                <a16:creationId xmlns:a16="http://schemas.microsoft.com/office/drawing/2014/main" id="{9EABD051-DB69-4F59-88D1-D611D9B72E7C}"/>
              </a:ext>
            </a:extLst>
          </p:cNvPr>
          <p:cNvSpPr>
            <a:spLocks xmlns:a="http://schemas.openxmlformats.org/drawingml/2006/main" noGrp="1"/>
          </p:cNvSpPr>
          <p:nvPr/>
        </p:nvSpPr>
        <p:spPr>
          <a:xfrm xmlns:a="http://schemas.openxmlformats.org/drawingml/2006/main">
            <a:off x="10001250" y="1323975"/>
            <a:ext cx="123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p xmlns:a="http://schemas.openxmlformats.org/drawingml/2006/main">
            <a:pPr>
              <a:defRPr sz="1125" b="1" i="0">
                <a:solidFill>
                  <a:srgbClr val="181817"/>
                </a:solidFill>
                <a:latin typeface="Avenir"/>
                <a:ea typeface="Avenir"/>
                <a:cs typeface="Avenir"/>
              </a:defRPr>
            </a:pPr>
            <a:r>
              <a:rPr sz="1125" b="1" i="0">
                <a:solidFill>
                  <a:srgbClr val="181817"/>
                </a:solidFill>
                <a:latin typeface="Avenir"/>
                <a:ea typeface="Avenir"/>
                <a:cs typeface="Avenir"/>
              </a:rPr>
              <a:t>10 MIN</a:t>
            </a:r>
          </a:p>
        </p:txBody>
      </p:sp>
      <p:sp>
        <p:nvSpPr>
          <p:cNvPr id="11" name="">
            <a:extLst xmlns:a="http://schemas.openxmlformats.org/drawingml/2006/main">
              <a:ext uri="{FF2B5EF4-FFF2-40B4-BE49-F238E27FC236}">
                <a16:creationId xmlns:a16="http://schemas.microsoft.com/office/drawing/2014/main" id="{C8BEC7B7-AB49-4E9C-BAF3-DA6A7B24ECC2}"/>
              </a:ext>
            </a:extLst>
          </p:cNvPr>
          <p:cNvSpPr>
            <a:spLocks xmlns:a="http://schemas.openxmlformats.org/drawingml/2006/main" noGrp="1"/>
          </p:cNvSpPr>
          <p:nvPr/>
        </p:nvSpPr>
        <p:spPr>
          <a:xfrm xmlns:a="http://schemas.openxmlformats.org/drawingml/2006/main">
            <a:off x="704850" y="1952625"/>
            <a:ext cx="102870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500" b="0" i="0">
                <a:solidFill>
                  <a:srgbClr val="5B5D59"/>
                </a:solidFill>
                <a:latin typeface="Avenir"/>
                <a:ea typeface="Avenir"/>
                <a:cs typeface="Avenir"/>
              </a:defRPr>
            </a:pPr>
            <a:r>
              <a:rPr sz="1500" b="0" i="0">
                <a:solidFill>
                  <a:srgbClr val="5B5D59"/>
                </a:solidFill>
                <a:latin typeface="Avenir"/>
                <a:ea typeface="Avenir"/>
                <a:cs typeface="Avenir"/>
              </a:rPr>
              <a:t>Consigna individual: decidir si el equipo debería iniciar ya la compra de un nuevo PMS. La respuesta sólo admite sí, no o todavía no, acompañada por una razón y una evidencia faltante. El docente releva la distribución sin debatir cuál opción es correcta.</a:t>
            </a:r>
          </a:p>
        </p:txBody>
      </p:sp>
      <p:sp>
        <p:nvSpPr>
          <p:cNvPr id="12" name="">
            <a:extLst xmlns:a="http://schemas.openxmlformats.org/drawingml/2006/main">
              <a:ext uri="{FF2B5EF4-FFF2-40B4-BE49-F238E27FC236}">
                <a16:creationId xmlns:a16="http://schemas.microsoft.com/office/drawing/2014/main" id="{478A5065-2A6D-4EE2-80C4-B6A8A0ADFC8F}"/>
              </a:ext>
            </a:extLst>
          </p:cNvPr>
          <p:cNvSpPr>
            <a:spLocks xmlns:a="http://schemas.openxmlformats.org/drawingml/2006/main" noGrp="1"/>
          </p:cNvSpPr>
          <p:nvPr/>
        </p:nvSpPr>
        <p:spPr>
          <a:xfrm xmlns:a="http://schemas.openxmlformats.org/drawingml/2006/main">
            <a:off x="704850" y="2905125"/>
            <a:ext cx="10763250" cy="2076450"/>
          </a:xfrm>
          <a:prstGeom xmlns:a="http://schemas.openxmlformats.org/drawingml/2006/main" prst="rect">
            <a:avLst/>
          </a:prstGeom>
          <a:solidFill xmlns:a="http://schemas.openxmlformats.org/drawingml/2006/main">
            <a:srgbClr val="E4E6E5"/>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5979FF20-D0AF-4DC7-8494-8A3819BE201B}"/>
              </a:ext>
            </a:extLst>
          </p:cNvPr>
          <p:cNvSpPr>
            <a:spLocks xmlns:a="http://schemas.openxmlformats.org/drawingml/2006/main" noGrp="1"/>
          </p:cNvSpPr>
          <p:nvPr/>
        </p:nvSpPr>
        <p:spPr>
          <a:xfrm xmlns:a="http://schemas.openxmlformats.org/drawingml/2006/main">
            <a:off x="1066800" y="3238500"/>
            <a:ext cx="285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125" b="1" i="0">
                <a:solidFill>
                  <a:srgbClr val="5B5D59"/>
                </a:solidFill>
                <a:latin typeface="Avenir"/>
                <a:ea typeface="Avenir"/>
                <a:cs typeface="Avenir"/>
              </a:defRPr>
            </a:pPr>
            <a:r>
              <a:rPr sz="1125" b="1" i="0">
                <a:solidFill>
                  <a:srgbClr val="5B5D59"/>
                </a:solidFill>
                <a:latin typeface="Avenir"/>
                <a:ea typeface="Avenir"/>
                <a:cs typeface="Avenir"/>
              </a:rPr>
              <a:t>POSICIÓN</a:t>
            </a:r>
          </a:p>
        </p:txBody>
      </p:sp>
      <p:sp>
        <p:nvSpPr>
          <p:cNvPr id="14" name="">
            <a:extLst xmlns:a="http://schemas.openxmlformats.org/drawingml/2006/main">
              <a:ext uri="{FF2B5EF4-FFF2-40B4-BE49-F238E27FC236}">
                <a16:creationId xmlns:a16="http://schemas.microsoft.com/office/drawing/2014/main" id="{301EC579-6069-4834-A678-CD97B47003A6}"/>
              </a:ext>
            </a:extLst>
          </p:cNvPr>
          <p:cNvSpPr>
            <a:spLocks xmlns:a="http://schemas.openxmlformats.org/drawingml/2006/main" noGrp="1"/>
          </p:cNvSpPr>
          <p:nvPr/>
        </p:nvSpPr>
        <p:spPr>
          <a:xfrm xmlns:a="http://schemas.openxmlformats.org/drawingml/2006/main">
            <a:off x="1066800" y="3714750"/>
            <a:ext cx="2809875" cy="19050"/>
          </a:xfrm>
          <a:prstGeom xmlns:a="http://schemas.openxmlformats.org/drawingml/2006/main" prst="rect">
            <a:avLst/>
          </a:prstGeom>
          <a:solidFill xmlns:a="http://schemas.openxmlformats.org/drawingml/2006/main">
            <a:srgbClr val="181817"/>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5F1A4BEA-C4C0-4700-B4BB-475BD4F528E5}"/>
              </a:ext>
            </a:extLst>
          </p:cNvPr>
          <p:cNvSpPr>
            <a:spLocks xmlns:a="http://schemas.openxmlformats.org/drawingml/2006/main" noGrp="1"/>
          </p:cNvSpPr>
          <p:nvPr/>
        </p:nvSpPr>
        <p:spPr>
          <a:xfrm xmlns:a="http://schemas.openxmlformats.org/drawingml/2006/main">
            <a:off x="1066800" y="3962400"/>
            <a:ext cx="27813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425" b="0" i="0">
                <a:solidFill>
                  <a:srgbClr val="181817"/>
                </a:solidFill>
                <a:latin typeface="Avenir"/>
                <a:ea typeface="Avenir"/>
                <a:cs typeface="Avenir"/>
              </a:defRPr>
            </a:pPr>
            <a:r>
              <a:rPr sz="1425" b="0" i="0">
                <a:solidFill>
                  <a:srgbClr val="181817"/>
                </a:solidFill>
                <a:latin typeface="Avenir"/>
                <a:ea typeface="Avenir"/>
                <a:cs typeface="Avenir"/>
              </a:rPr>
              <a:t>Una frase antes de debatir.</a:t>
            </a:r>
          </a:p>
        </p:txBody>
      </p:sp>
      <p:sp>
        <p:nvSpPr>
          <p:cNvPr id="16" name="">
            <a:extLst xmlns:a="http://schemas.openxmlformats.org/drawingml/2006/main">
              <a:ext uri="{FF2B5EF4-FFF2-40B4-BE49-F238E27FC236}">
                <a16:creationId xmlns:a16="http://schemas.microsoft.com/office/drawing/2014/main" id="{B2F1B2FD-1547-4370-B7F1-358CA5AC671D}"/>
              </a:ext>
            </a:extLst>
          </p:cNvPr>
          <p:cNvSpPr>
            <a:spLocks xmlns:a="http://schemas.openxmlformats.org/drawingml/2006/main" noGrp="1"/>
          </p:cNvSpPr>
          <p:nvPr/>
        </p:nvSpPr>
        <p:spPr>
          <a:xfrm xmlns:a="http://schemas.openxmlformats.org/drawingml/2006/main">
            <a:off x="4448175" y="3238500"/>
            <a:ext cx="285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125" b="1" i="0">
                <a:solidFill>
                  <a:srgbClr val="5B5D59"/>
                </a:solidFill>
                <a:latin typeface="Avenir"/>
                <a:ea typeface="Avenir"/>
                <a:cs typeface="Avenir"/>
              </a:defRPr>
            </a:pPr>
            <a:r>
              <a:rPr sz="1125" b="1" i="0">
                <a:solidFill>
                  <a:srgbClr val="5B5D59"/>
                </a:solidFill>
                <a:latin typeface="Avenir"/>
                <a:ea typeface="Avenir"/>
                <a:cs typeface="Avenir"/>
              </a:rPr>
              <a:t>RAZÓN</a:t>
            </a:r>
          </a:p>
        </p:txBody>
      </p:sp>
      <p:sp>
        <p:nvSpPr>
          <p:cNvPr id="17" name="">
            <a:extLst xmlns:a="http://schemas.openxmlformats.org/drawingml/2006/main">
              <a:ext uri="{FF2B5EF4-FFF2-40B4-BE49-F238E27FC236}">
                <a16:creationId xmlns:a16="http://schemas.microsoft.com/office/drawing/2014/main" id="{A390019E-89A6-4942-B537-1626D8B1AD18}"/>
              </a:ext>
            </a:extLst>
          </p:cNvPr>
          <p:cNvSpPr>
            <a:spLocks xmlns:a="http://schemas.openxmlformats.org/drawingml/2006/main" noGrp="1"/>
          </p:cNvSpPr>
          <p:nvPr/>
        </p:nvSpPr>
        <p:spPr>
          <a:xfrm xmlns:a="http://schemas.openxmlformats.org/drawingml/2006/main">
            <a:off x="4448175" y="3714750"/>
            <a:ext cx="2809875" cy="19050"/>
          </a:xfrm>
          <a:prstGeom xmlns:a="http://schemas.openxmlformats.org/drawingml/2006/main" prst="rect">
            <a:avLst/>
          </a:prstGeom>
          <a:solidFill xmlns:a="http://schemas.openxmlformats.org/drawingml/2006/main">
            <a:srgbClr val="181817"/>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7477F4D4-1CB3-4043-9656-8D1277C6F224}"/>
              </a:ext>
            </a:extLst>
          </p:cNvPr>
          <p:cNvSpPr>
            <a:spLocks xmlns:a="http://schemas.openxmlformats.org/drawingml/2006/main" noGrp="1"/>
          </p:cNvSpPr>
          <p:nvPr/>
        </p:nvSpPr>
        <p:spPr>
          <a:xfrm xmlns:a="http://schemas.openxmlformats.org/drawingml/2006/main">
            <a:off x="4448175" y="3962400"/>
            <a:ext cx="27813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425" b="0" i="0">
                <a:solidFill>
                  <a:srgbClr val="181817"/>
                </a:solidFill>
                <a:latin typeface="Avenir"/>
                <a:ea typeface="Avenir"/>
                <a:cs typeface="Avenir"/>
              </a:defRPr>
            </a:pPr>
            <a:r>
              <a:rPr sz="1425" b="0" i="0">
                <a:solidFill>
                  <a:srgbClr val="181817"/>
                </a:solidFill>
                <a:latin typeface="Avenir"/>
                <a:ea typeface="Avenir"/>
                <a:cs typeface="Avenir"/>
              </a:rPr>
              <a:t>Una relación que otra persona pueda revisar.</a:t>
            </a:r>
          </a:p>
        </p:txBody>
      </p:sp>
      <p:sp>
        <p:nvSpPr>
          <p:cNvPr id="19" name="">
            <a:extLst xmlns:a="http://schemas.openxmlformats.org/drawingml/2006/main">
              <a:ext uri="{FF2B5EF4-FFF2-40B4-BE49-F238E27FC236}">
                <a16:creationId xmlns:a16="http://schemas.microsoft.com/office/drawing/2014/main" id="{9B76D277-71D6-43C5-BC88-960E33DB373D}"/>
              </a:ext>
            </a:extLst>
          </p:cNvPr>
          <p:cNvSpPr>
            <a:spLocks xmlns:a="http://schemas.openxmlformats.org/drawingml/2006/main" noGrp="1"/>
          </p:cNvSpPr>
          <p:nvPr/>
        </p:nvSpPr>
        <p:spPr>
          <a:xfrm xmlns:a="http://schemas.openxmlformats.org/drawingml/2006/main">
            <a:off x="7829550" y="3238500"/>
            <a:ext cx="285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125" b="1" i="0">
                <a:solidFill>
                  <a:srgbClr val="5B5D59"/>
                </a:solidFill>
                <a:latin typeface="Avenir"/>
                <a:ea typeface="Avenir"/>
                <a:cs typeface="Avenir"/>
              </a:defRPr>
            </a:pPr>
            <a:r>
              <a:rPr sz="1125" b="1" i="0">
                <a:solidFill>
                  <a:srgbClr val="5B5D59"/>
                </a:solidFill>
                <a:latin typeface="Avenir"/>
                <a:ea typeface="Avenir"/>
                <a:cs typeface="Avenir"/>
              </a:rPr>
              <a:t>EVIDENCIA FALTANTE</a:t>
            </a:r>
          </a:p>
        </p:txBody>
      </p:sp>
      <p:sp>
        <p:nvSpPr>
          <p:cNvPr id="20" name="">
            <a:extLst xmlns:a="http://schemas.openxmlformats.org/drawingml/2006/main">
              <a:ext uri="{FF2B5EF4-FFF2-40B4-BE49-F238E27FC236}">
                <a16:creationId xmlns:a16="http://schemas.microsoft.com/office/drawing/2014/main" id="{0A87A356-CC55-4250-A47D-D3D374AF96EA}"/>
              </a:ext>
            </a:extLst>
          </p:cNvPr>
          <p:cNvSpPr>
            <a:spLocks xmlns:a="http://schemas.openxmlformats.org/drawingml/2006/main" noGrp="1"/>
          </p:cNvSpPr>
          <p:nvPr/>
        </p:nvSpPr>
        <p:spPr>
          <a:xfrm xmlns:a="http://schemas.openxmlformats.org/drawingml/2006/main">
            <a:off x="7829550" y="3714750"/>
            <a:ext cx="2809875" cy="19050"/>
          </a:xfrm>
          <a:prstGeom xmlns:a="http://schemas.openxmlformats.org/drawingml/2006/main" prst="rect">
            <a:avLst/>
          </a:prstGeom>
          <a:solidFill xmlns:a="http://schemas.openxmlformats.org/drawingml/2006/main">
            <a:srgbClr val="CFFF00"/>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608333D0-82E3-4DD8-9B9C-B13946FFBB2E}"/>
              </a:ext>
            </a:extLst>
          </p:cNvPr>
          <p:cNvSpPr>
            <a:spLocks xmlns:a="http://schemas.openxmlformats.org/drawingml/2006/main" noGrp="1"/>
          </p:cNvSpPr>
          <p:nvPr/>
        </p:nvSpPr>
        <p:spPr>
          <a:xfrm xmlns:a="http://schemas.openxmlformats.org/drawingml/2006/main">
            <a:off x="7829550" y="3962400"/>
            <a:ext cx="27813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425" b="0" i="0">
                <a:solidFill>
                  <a:srgbClr val="181817"/>
                </a:solidFill>
                <a:latin typeface="Avenir"/>
                <a:ea typeface="Avenir"/>
                <a:cs typeface="Avenir"/>
              </a:defRPr>
            </a:pPr>
            <a:r>
              <a:rPr sz="1425" b="0" i="0">
                <a:solidFill>
                  <a:srgbClr val="181817"/>
                </a:solidFill>
                <a:latin typeface="Avenir"/>
                <a:ea typeface="Avenir"/>
                <a:cs typeface="Avenir"/>
              </a:rPr>
              <a:t>Una relación que otra persona pueda revisar.</a:t>
            </a:r>
          </a:p>
        </p:txBody>
      </p:sp>
    </p:spTree>
    <p:extLst>
      <p:ext uri="{BB962C8B-B14F-4D97-AF65-F5344CB8AC3E}">
        <p14:creationId xmlns:p14="http://schemas.microsoft.com/office/powerpoint/2010/main" val="617359614"/>
      </p:ext>
    </p:extLst>
  </p:cSld>
</p:sld>
</file>

<file path=ppt/slides/slide3.xml><?xml version="1.0" encoding="utf-8"?>
<p:sld xmlns:p="http://schemas.openxmlformats.org/presentationml/2006/main">
  <p:cSld>
    <p:bg>
      <p:bgPr>
        <a:solidFill xmlns:a="http://schemas.openxmlformats.org/drawingml/2006/main">
          <a:srgbClr val="FAFAF8"/>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A05BA899-3580-4825-9126-0A8A392EEF71}"/>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CFFF00"/>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E408D051-57CE-4F1B-B877-D00BA7E509AC}"/>
              </a:ext>
            </a:extLst>
          </p:cNvPr>
          <p:cNvSpPr>
            <a:spLocks xmlns:a="http://schemas.openxmlformats.org/drawingml/2006/main" noGrp="1"/>
          </p:cNvSpPr>
          <p:nvPr/>
        </p:nvSpPr>
        <p:spPr>
          <a:xfrm xmlns:a="http://schemas.openxmlformats.org/drawingml/2006/main">
            <a:off x="514350" y="323850"/>
            <a:ext cx="2381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5833"/>
          </a:bodyPr>
          <a:lstStyle xmlns:a="http://schemas.openxmlformats.org/drawingml/2006/main"/>
          <a:p xmlns:a="http://schemas.openxmlformats.org/drawingml/2006/main">
            <a:pPr>
              <a:defRPr sz="1200" b="1" i="0">
                <a:solidFill>
                  <a:srgbClr val="5B5D59"/>
                </a:solidFill>
                <a:latin typeface="Avenir"/>
                <a:ea typeface="Avenir"/>
                <a:cs typeface="Avenir"/>
              </a:defRPr>
            </a:pPr>
            <a:r>
              <a:rPr sz="1200" b="1" i="0">
                <a:solidFill>
                  <a:srgbClr val="5B5D59"/>
                </a:solidFill>
                <a:latin typeface="Avenir"/>
                <a:ea typeface="Avenir"/>
                <a:cs typeface="Avenir"/>
              </a:rPr>
              <a:t>N01  ·  METSI</a:t>
            </a:r>
          </a:p>
        </p:txBody>
      </p:sp>
      <p:sp>
        <p:nvSpPr>
          <p:cNvPr id="3" name="">
            <a:extLst xmlns:a="http://schemas.openxmlformats.org/drawingml/2006/main">
              <a:ext uri="{FF2B5EF4-FFF2-40B4-BE49-F238E27FC236}">
                <a16:creationId xmlns:a16="http://schemas.microsoft.com/office/drawing/2014/main" id="{F5D5B7BE-7C89-4A05-A8DB-132F5EA9C848}"/>
              </a:ext>
            </a:extLst>
          </p:cNvPr>
          <p:cNvSpPr>
            <a:spLocks xmlns:a="http://schemas.openxmlformats.org/drawingml/2006/main" noGrp="1"/>
          </p:cNvSpPr>
          <p:nvPr/>
        </p:nvSpPr>
        <p:spPr>
          <a:xfrm xmlns:a="http://schemas.openxmlformats.org/drawingml/2006/main">
            <a:off x="10858500" y="29527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350" b="1" i="0">
                <a:solidFill>
                  <a:srgbClr val="181817"/>
                </a:solidFill>
                <a:latin typeface="Avenir"/>
                <a:ea typeface="Avenir"/>
                <a:cs typeface="Avenir"/>
              </a:defRPr>
            </a:pPr>
            <a:r>
              <a:rPr sz="1350" b="1" i="0">
                <a:solidFill>
                  <a:srgbClr val="181817"/>
                </a:solidFill>
                <a:latin typeface="Avenir"/>
                <a:ea typeface="Avenir"/>
                <a:cs typeface="Avenir"/>
              </a:rPr>
              <a:t>03</a:t>
            </a:r>
          </a:p>
        </p:txBody>
      </p:sp>
      <p:sp>
        <p:nvSpPr>
          <p:cNvPr id="4" name="">
            <a:extLst xmlns:a="http://schemas.openxmlformats.org/drawingml/2006/main">
              <a:ext uri="{FF2B5EF4-FFF2-40B4-BE49-F238E27FC236}">
                <a16:creationId xmlns:a16="http://schemas.microsoft.com/office/drawing/2014/main" id="{BE4AE9C3-38B3-4EC5-9123-01724059E897}"/>
              </a:ext>
            </a:extLst>
          </p:cNvPr>
          <p:cNvSpPr>
            <a:spLocks xmlns:a="http://schemas.openxmlformats.org/drawingml/2006/main" noGrp="1"/>
          </p:cNvSpPr>
          <p:nvPr/>
        </p:nvSpPr>
        <p:spPr>
          <a:xfrm xmlns:a="http://schemas.openxmlformats.org/drawingml/2006/main">
            <a:off x="7239000" y="352425"/>
            <a:ext cx="338137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3939"/>
          </a:bodyPr>
          <a:lstStyle xmlns:a="http://schemas.openxmlformats.org/drawingml/2006/main"/>
          <a:p xmlns:a="http://schemas.openxmlformats.org/drawingml/2006/main">
            <a:pPr>
              <a:defRPr sz="825" b="1" i="0">
                <a:solidFill>
                  <a:srgbClr val="5B5D59"/>
                </a:solidFill>
                <a:latin typeface="Avenir"/>
                <a:ea typeface="Avenir"/>
                <a:cs typeface="Avenir"/>
              </a:defRPr>
            </a:pPr>
            <a:r>
              <a:rPr sz="825" b="1" i="0">
                <a:solidFill>
                  <a:srgbClr val="5B5D59"/>
                </a:solidFill>
                <a:latin typeface="Avenir"/>
                <a:ea typeface="Avenir"/>
                <a:cs typeface="Avenir"/>
              </a:rPr>
              <a:t>BLOQUE A · ENCUADRE  ·  ENCUENTRO</a:t>
            </a:r>
          </a:p>
        </p:txBody>
      </p:sp>
      <p:sp>
        <p:nvSpPr>
          <p:cNvPr id="5" name="">
            <a:extLst xmlns:a="http://schemas.openxmlformats.org/drawingml/2006/main">
              <a:ext uri="{FF2B5EF4-FFF2-40B4-BE49-F238E27FC236}">
                <a16:creationId xmlns:a16="http://schemas.microsoft.com/office/drawing/2014/main" id="{A934E499-F303-426E-AD82-89BCEBB9F0A2}"/>
              </a:ext>
            </a:extLst>
          </p:cNvPr>
          <p:cNvSpPr>
            <a:spLocks xmlns:a="http://schemas.openxmlformats.org/drawingml/2006/main" noGrp="1"/>
          </p:cNvSpPr>
          <p:nvPr/>
        </p:nvSpPr>
        <p:spPr>
          <a:xfrm xmlns:a="http://schemas.openxmlformats.org/drawingml/2006/main">
            <a:off x="514350" y="781050"/>
            <a:ext cx="11049000" cy="19050"/>
          </a:xfrm>
          <a:prstGeom xmlns:a="http://schemas.openxmlformats.org/drawingml/2006/main" prst="rect">
            <a:avLst/>
          </a:prstGeom>
          <a:solidFill xmlns:a="http://schemas.openxmlformats.org/drawingml/2006/main">
            <a:srgbClr val="181817"/>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B5A59BC0-F01B-42A7-A9EB-545D653CE10C}"/>
              </a:ext>
            </a:extLst>
          </p:cNvPr>
          <p:cNvSpPr>
            <a:spLocks xmlns:a="http://schemas.openxmlformats.org/drawingml/2006/main" noGrp="1"/>
          </p:cNvSpPr>
          <p:nvPr/>
        </p:nvSpPr>
        <p:spPr>
          <a:xfrm xmlns:a="http://schemas.openxmlformats.org/drawingml/2006/main">
            <a:off x="514350" y="6486525"/>
            <a:ext cx="11049000" cy="9525"/>
          </a:xfrm>
          <a:prstGeom xmlns:a="http://schemas.openxmlformats.org/drawingml/2006/main" prst="rect">
            <a:avLst/>
          </a:prstGeom>
          <a:solidFill xmlns:a="http://schemas.openxmlformats.org/drawingml/2006/main">
            <a:srgbClr val="AEB1AE"/>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FE7B4027-8126-40CF-9EF9-7B4FAB649539}"/>
              </a:ext>
            </a:extLst>
          </p:cNvPr>
          <p:cNvSpPr>
            <a:spLocks xmlns:a="http://schemas.openxmlformats.org/drawingml/2006/main" noGrp="1"/>
          </p:cNvSpPr>
          <p:nvPr/>
        </p:nvSpPr>
        <p:spPr>
          <a:xfrm xmlns:a="http://schemas.openxmlformats.org/drawingml/2006/main">
            <a:off x="514350" y="6553200"/>
            <a:ext cx="5334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8788"/>
          </a:bodyPr>
          <a:lstStyle xmlns:a="http://schemas.openxmlformats.org/drawingml/2006/main"/>
          <a:p xmlns:a="http://schemas.openxmlformats.org/drawingml/2006/main">
            <a:pPr>
              <a:defRPr sz="825" b="0" i="0">
                <a:solidFill>
                  <a:srgbClr val="5B5D59"/>
                </a:solidFill>
                <a:latin typeface="Avenir"/>
                <a:ea typeface="Avenir"/>
                <a:cs typeface="Avenir"/>
              </a:defRPr>
            </a:pPr>
            <a:r>
              <a:rPr sz="825" b="0" i="0">
                <a:solidFill>
                  <a:srgbClr val="5B5D59"/>
                </a:solidFill>
                <a:latin typeface="Avenir"/>
                <a:ea typeface="Avenir"/>
                <a:cs typeface="Avenir"/>
              </a:rPr>
              <a:t>Metodología de Sistemas de Información · FCE UBA</a:t>
            </a:r>
          </a:p>
        </p:txBody>
      </p:sp>
      <p:sp>
        <p:nvSpPr>
          <p:cNvPr id="8" name="">
            <a:extLst xmlns:a="http://schemas.openxmlformats.org/drawingml/2006/main">
              <a:ext uri="{FF2B5EF4-FFF2-40B4-BE49-F238E27FC236}">
                <a16:creationId xmlns:a16="http://schemas.microsoft.com/office/drawing/2014/main" id="{1D0FC920-B1FA-40DB-A8A6-0E21514B9F51}"/>
              </a:ext>
            </a:extLst>
          </p:cNvPr>
          <p:cNvSpPr>
            <a:spLocks xmlns:a="http://schemas.openxmlformats.org/drawingml/2006/main" noGrp="1"/>
          </p:cNvSpPr>
          <p:nvPr/>
        </p:nvSpPr>
        <p:spPr>
          <a:xfrm xmlns:a="http://schemas.openxmlformats.org/drawingml/2006/main">
            <a:off x="704850" y="1066800"/>
            <a:ext cx="8763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3000" b="0" i="0">
                <a:solidFill>
                  <a:srgbClr val="181817"/>
                </a:solidFill>
                <a:latin typeface="Didot"/>
                <a:ea typeface="Didot"/>
                <a:cs typeface="Didot"/>
              </a:defRPr>
            </a:pPr>
            <a:r>
              <a:rPr sz="3000" b="0" i="0">
                <a:solidFill>
                  <a:srgbClr val="181817"/>
                </a:solidFill>
                <a:latin typeface="Didot"/>
                <a:ea typeface="Didot"/>
                <a:cs typeface="Didot"/>
              </a:rPr>
              <a:t>Comparación de encuadres</a:t>
            </a:r>
          </a:p>
        </p:txBody>
      </p:sp>
      <p:sp>
        <p:nvSpPr>
          <p:cNvPr id="9" name="">
            <a:extLst xmlns:a="http://schemas.openxmlformats.org/drawingml/2006/main">
              <a:ext uri="{FF2B5EF4-FFF2-40B4-BE49-F238E27FC236}">
                <a16:creationId xmlns:a16="http://schemas.microsoft.com/office/drawing/2014/main" id="{3AF33CC5-B556-4D8E-BF93-39BBDF711939}"/>
              </a:ext>
            </a:extLst>
          </p:cNvPr>
          <p:cNvSpPr>
            <a:spLocks xmlns:a="http://schemas.openxmlformats.org/drawingml/2006/main" noGrp="1"/>
          </p:cNvSpPr>
          <p:nvPr/>
        </p:nvSpPr>
        <p:spPr>
          <a:xfrm xmlns:a="http://schemas.openxmlformats.org/drawingml/2006/main">
            <a:off x="10001250" y="1200150"/>
            <a:ext cx="1238250" cy="514350"/>
          </a:xfrm>
          <a:prstGeom xmlns:a="http://schemas.openxmlformats.org/drawingml/2006/main" prst="roundRect">
            <a:avLst>
              <a:gd name="adj" fmla="val 14815"/>
            </a:avLst>
          </a:prstGeom>
          <a:solidFill xmlns:a="http://schemas.openxmlformats.org/drawingml/2006/main">
            <a:srgbClr val="E4E6E5"/>
          </a:solidFill>
          <a:ln xmlns:a="http://schemas.openxmlformats.org/drawingml/2006/main" w="9525">
            <a:solidFill>
              <a:srgbClr val="AEB1AE"/>
            </a:solidFill>
          </a:ln>
        </p:spPr>
      </p:sp>
      <p:sp>
        <p:nvSpPr>
          <p:cNvPr id="10" name="">
            <a:extLst xmlns:a="http://schemas.openxmlformats.org/drawingml/2006/main">
              <a:ext uri="{FF2B5EF4-FFF2-40B4-BE49-F238E27FC236}">
                <a16:creationId xmlns:a16="http://schemas.microsoft.com/office/drawing/2014/main" id="{21AEC95D-9476-451E-81A0-5CE629D9FB5D}"/>
              </a:ext>
            </a:extLst>
          </p:cNvPr>
          <p:cNvSpPr>
            <a:spLocks xmlns:a="http://schemas.openxmlformats.org/drawingml/2006/main" noGrp="1"/>
          </p:cNvSpPr>
          <p:nvPr/>
        </p:nvSpPr>
        <p:spPr>
          <a:xfrm xmlns:a="http://schemas.openxmlformats.org/drawingml/2006/main">
            <a:off x="10001250" y="1323975"/>
            <a:ext cx="123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p xmlns:a="http://schemas.openxmlformats.org/drawingml/2006/main">
            <a:pPr>
              <a:defRPr sz="1125" b="1" i="0">
                <a:solidFill>
                  <a:srgbClr val="181817"/>
                </a:solidFill>
                <a:latin typeface="Avenir"/>
                <a:ea typeface="Avenir"/>
                <a:cs typeface="Avenir"/>
              </a:defRPr>
            </a:pPr>
            <a:r>
              <a:rPr sz="1125" b="1" i="0">
                <a:solidFill>
                  <a:srgbClr val="181817"/>
                </a:solidFill>
                <a:latin typeface="Avenir"/>
                <a:ea typeface="Avenir"/>
                <a:cs typeface="Avenir"/>
              </a:rPr>
              <a:t>15 MIN</a:t>
            </a:r>
          </a:p>
        </p:txBody>
      </p:sp>
      <p:sp>
        <p:nvSpPr>
          <p:cNvPr id="11" name="">
            <a:extLst xmlns:a="http://schemas.openxmlformats.org/drawingml/2006/main">
              <a:ext uri="{FF2B5EF4-FFF2-40B4-BE49-F238E27FC236}">
                <a16:creationId xmlns:a16="http://schemas.microsoft.com/office/drawing/2014/main" id="{71CBF097-C179-409F-9F8F-67A2DE354E20}"/>
              </a:ext>
            </a:extLst>
          </p:cNvPr>
          <p:cNvSpPr>
            <a:spLocks xmlns:a="http://schemas.openxmlformats.org/drawingml/2006/main" noGrp="1"/>
          </p:cNvSpPr>
          <p:nvPr/>
        </p:nvSpPr>
        <p:spPr>
          <a:xfrm xmlns:a="http://schemas.openxmlformats.org/drawingml/2006/main">
            <a:off x="704850" y="1952625"/>
            <a:ext cx="10287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500" b="0" i="0">
                <a:solidFill>
                  <a:srgbClr val="5B5D59"/>
                </a:solidFill>
                <a:latin typeface="Avenir"/>
                <a:ea typeface="Avenir"/>
                <a:cs typeface="Avenir"/>
              </a:defRPr>
            </a:pPr>
            <a:r>
              <a:rPr sz="1500" b="0" i="0">
                <a:solidFill>
                  <a:srgbClr val="5B5D59"/>
                </a:solidFill>
                <a:latin typeface="Avenir"/>
                <a:ea typeface="Avenir"/>
                <a:cs typeface="Avenir"/>
              </a:rPr>
              <a:t>En grupos de cuatro, cada persona comparte el campo más difícil de HH-01. El grupo identifica dos diferencias que podrían cambiar una decisión. No se permite resolverlas diciendo que falta toda la información.</a:t>
            </a:r>
          </a:p>
        </p:txBody>
      </p:sp>
      <p:sp>
        <p:nvSpPr>
          <p:cNvPr id="12" name="">
            <a:extLst xmlns:a="http://schemas.openxmlformats.org/drawingml/2006/main">
              <a:ext uri="{FF2B5EF4-FFF2-40B4-BE49-F238E27FC236}">
                <a16:creationId xmlns:a16="http://schemas.microsoft.com/office/drawing/2014/main" id="{9BA982D2-80C3-4FA2-9FF8-978A797D4FF3}"/>
              </a:ext>
            </a:extLst>
          </p:cNvPr>
          <p:cNvSpPr>
            <a:spLocks xmlns:a="http://schemas.openxmlformats.org/drawingml/2006/main" noGrp="1"/>
          </p:cNvSpPr>
          <p:nvPr/>
        </p:nvSpPr>
        <p:spPr>
          <a:xfrm xmlns:a="http://schemas.openxmlformats.org/drawingml/2006/main">
            <a:off x="704850" y="2914650"/>
            <a:ext cx="666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200" b="1" i="0">
                <a:solidFill>
                  <a:srgbClr val="5B5D59"/>
                </a:solidFill>
                <a:latin typeface="Avenir"/>
                <a:ea typeface="Avenir"/>
                <a:cs typeface="Avenir"/>
              </a:defRPr>
            </a:pPr>
            <a:r>
              <a:rPr sz="1200" b="1" i="0">
                <a:solidFill>
                  <a:srgbClr val="5B5D59"/>
                </a:solidFill>
                <a:latin typeface="Avenir"/>
                <a:ea typeface="Avenir"/>
                <a:cs typeface="Avenir"/>
              </a:rPr>
              <a:t>01</a:t>
            </a:r>
          </a:p>
        </p:txBody>
      </p:sp>
      <p:sp>
        <p:nvSpPr>
          <p:cNvPr id="13" name="">
            <a:extLst xmlns:a="http://schemas.openxmlformats.org/drawingml/2006/main">
              <a:ext uri="{FF2B5EF4-FFF2-40B4-BE49-F238E27FC236}">
                <a16:creationId xmlns:a16="http://schemas.microsoft.com/office/drawing/2014/main" id="{C34AB690-F6F6-4A78-9ED1-A3581B9ABECC}"/>
              </a:ext>
            </a:extLst>
          </p:cNvPr>
          <p:cNvSpPr>
            <a:spLocks xmlns:a="http://schemas.openxmlformats.org/drawingml/2006/main" noGrp="1"/>
          </p:cNvSpPr>
          <p:nvPr/>
        </p:nvSpPr>
        <p:spPr>
          <a:xfrm xmlns:a="http://schemas.openxmlformats.org/drawingml/2006/main">
            <a:off x="704850" y="3295650"/>
            <a:ext cx="3143250" cy="28575"/>
          </a:xfrm>
          <a:prstGeom xmlns:a="http://schemas.openxmlformats.org/drawingml/2006/main" prst="rect">
            <a:avLst/>
          </a:prstGeom>
          <a:solidFill xmlns:a="http://schemas.openxmlformats.org/drawingml/2006/main">
            <a:srgbClr val="181817"/>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F0E48BD2-B5F0-47A2-A5DC-3B834CCA4706}"/>
              </a:ext>
            </a:extLst>
          </p:cNvPr>
          <p:cNvSpPr>
            <a:spLocks xmlns:a="http://schemas.openxmlformats.org/drawingml/2006/main" noGrp="1"/>
          </p:cNvSpPr>
          <p:nvPr/>
        </p:nvSpPr>
        <p:spPr>
          <a:xfrm xmlns:a="http://schemas.openxmlformats.org/drawingml/2006/main">
            <a:off x="704850" y="3543300"/>
            <a:ext cx="3143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2100" b="0" i="0">
                <a:solidFill>
                  <a:srgbClr val="181817"/>
                </a:solidFill>
                <a:latin typeface="Didot"/>
                <a:ea typeface="Didot"/>
                <a:cs typeface="Didot"/>
              </a:defRPr>
            </a:pPr>
            <a:r>
              <a:rPr sz="2100" b="0" i="0">
                <a:solidFill>
                  <a:srgbClr val="181817"/>
                </a:solidFill>
                <a:latin typeface="Didot"/>
                <a:ea typeface="Didot"/>
                <a:cs typeface="Didot"/>
              </a:rPr>
              <a:t>pedido</a:t>
            </a:r>
          </a:p>
        </p:txBody>
      </p:sp>
      <p:sp>
        <p:nvSpPr>
          <p:cNvPr id="15" name="">
            <a:extLst xmlns:a="http://schemas.openxmlformats.org/drawingml/2006/main">
              <a:ext uri="{FF2B5EF4-FFF2-40B4-BE49-F238E27FC236}">
                <a16:creationId xmlns:a16="http://schemas.microsoft.com/office/drawing/2014/main" id="{A67B0443-EE7D-4171-91D0-9FE87898E023}"/>
              </a:ext>
            </a:extLst>
          </p:cNvPr>
          <p:cNvSpPr>
            <a:spLocks xmlns:a="http://schemas.openxmlformats.org/drawingml/2006/main" noGrp="1"/>
          </p:cNvSpPr>
          <p:nvPr/>
        </p:nvSpPr>
        <p:spPr>
          <a:xfrm xmlns:a="http://schemas.openxmlformats.org/drawingml/2006/main">
            <a:off x="704850" y="4572000"/>
            <a:ext cx="3048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350" b="0" i="0">
                <a:solidFill>
                  <a:srgbClr val="5B5D59"/>
                </a:solidFill>
                <a:latin typeface="Avenir"/>
                <a:ea typeface="Avenir"/>
                <a:cs typeface="Avenir"/>
              </a:defRPr>
            </a:pPr>
            <a:r>
              <a:rPr sz="1350" b="0" i="0">
                <a:solidFill>
                  <a:srgbClr val="5B5D59"/>
                </a:solidFill>
                <a:latin typeface="Avenir"/>
                <a:ea typeface="Avenir"/>
                <a:cs typeface="Avenir"/>
              </a:rPr>
              <a:t>¿Qué diferencia cambia la decisión?</a:t>
            </a:r>
          </a:p>
        </p:txBody>
      </p:sp>
      <p:sp>
        <p:nvSpPr>
          <p:cNvPr id="16" name="">
            <a:extLst xmlns:a="http://schemas.openxmlformats.org/drawingml/2006/main">
              <a:ext uri="{FF2B5EF4-FFF2-40B4-BE49-F238E27FC236}">
                <a16:creationId xmlns:a16="http://schemas.microsoft.com/office/drawing/2014/main" id="{E12BA494-961F-4E38-8706-6FF1DBD7D2FF}"/>
              </a:ext>
            </a:extLst>
          </p:cNvPr>
          <p:cNvSpPr>
            <a:spLocks xmlns:a="http://schemas.openxmlformats.org/drawingml/2006/main" noGrp="1"/>
          </p:cNvSpPr>
          <p:nvPr/>
        </p:nvSpPr>
        <p:spPr>
          <a:xfrm xmlns:a="http://schemas.openxmlformats.org/drawingml/2006/main">
            <a:off x="4324350" y="2914650"/>
            <a:ext cx="666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200" b="1" i="0">
                <a:solidFill>
                  <a:srgbClr val="5B5D59"/>
                </a:solidFill>
                <a:latin typeface="Avenir"/>
                <a:ea typeface="Avenir"/>
                <a:cs typeface="Avenir"/>
              </a:defRPr>
            </a:pPr>
            <a:r>
              <a:rPr sz="1200" b="1" i="0">
                <a:solidFill>
                  <a:srgbClr val="5B5D59"/>
                </a:solidFill>
                <a:latin typeface="Avenir"/>
                <a:ea typeface="Avenir"/>
                <a:cs typeface="Avenir"/>
              </a:rPr>
              <a:t>02</a:t>
            </a:r>
          </a:p>
        </p:txBody>
      </p:sp>
      <p:sp>
        <p:nvSpPr>
          <p:cNvPr id="17" name="">
            <a:extLst xmlns:a="http://schemas.openxmlformats.org/drawingml/2006/main">
              <a:ext uri="{FF2B5EF4-FFF2-40B4-BE49-F238E27FC236}">
                <a16:creationId xmlns:a16="http://schemas.microsoft.com/office/drawing/2014/main" id="{E417BB26-6959-4F0D-B78C-78F7F56D8845}"/>
              </a:ext>
            </a:extLst>
          </p:cNvPr>
          <p:cNvSpPr>
            <a:spLocks xmlns:a="http://schemas.openxmlformats.org/drawingml/2006/main" noGrp="1"/>
          </p:cNvSpPr>
          <p:nvPr/>
        </p:nvSpPr>
        <p:spPr>
          <a:xfrm xmlns:a="http://schemas.openxmlformats.org/drawingml/2006/main">
            <a:off x="4324350" y="3295650"/>
            <a:ext cx="3143250" cy="28575"/>
          </a:xfrm>
          <a:prstGeom xmlns:a="http://schemas.openxmlformats.org/drawingml/2006/main" prst="rect">
            <a:avLst/>
          </a:prstGeom>
          <a:solidFill xmlns:a="http://schemas.openxmlformats.org/drawingml/2006/main">
            <a:srgbClr val="CFFF00"/>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828F9330-1F18-4737-AE69-19393527ACD5}"/>
              </a:ext>
            </a:extLst>
          </p:cNvPr>
          <p:cNvSpPr>
            <a:spLocks xmlns:a="http://schemas.openxmlformats.org/drawingml/2006/main" noGrp="1"/>
          </p:cNvSpPr>
          <p:nvPr/>
        </p:nvSpPr>
        <p:spPr>
          <a:xfrm xmlns:a="http://schemas.openxmlformats.org/drawingml/2006/main">
            <a:off x="4324350" y="3543300"/>
            <a:ext cx="3143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2100" b="0" i="0">
                <a:solidFill>
                  <a:srgbClr val="181817"/>
                </a:solidFill>
                <a:latin typeface="Didot"/>
                <a:ea typeface="Didot"/>
                <a:cs typeface="Didot"/>
              </a:defRPr>
            </a:pPr>
            <a:r>
              <a:rPr sz="2100" b="0" i="0">
                <a:solidFill>
                  <a:srgbClr val="181817"/>
                </a:solidFill>
                <a:latin typeface="Didot"/>
                <a:ea typeface="Didot"/>
                <a:cs typeface="Didot"/>
              </a:rPr>
              <a:t>problema</a:t>
            </a:r>
          </a:p>
        </p:txBody>
      </p:sp>
      <p:sp>
        <p:nvSpPr>
          <p:cNvPr id="19" name="">
            <a:extLst xmlns:a="http://schemas.openxmlformats.org/drawingml/2006/main">
              <a:ext uri="{FF2B5EF4-FFF2-40B4-BE49-F238E27FC236}">
                <a16:creationId xmlns:a16="http://schemas.microsoft.com/office/drawing/2014/main" id="{9C6393A9-F7D5-4DB1-9B34-C2F113D0FBFE}"/>
              </a:ext>
            </a:extLst>
          </p:cNvPr>
          <p:cNvSpPr>
            <a:spLocks xmlns:a="http://schemas.openxmlformats.org/drawingml/2006/main" noGrp="1"/>
          </p:cNvSpPr>
          <p:nvPr/>
        </p:nvSpPr>
        <p:spPr>
          <a:xfrm xmlns:a="http://schemas.openxmlformats.org/drawingml/2006/main">
            <a:off x="4324350" y="4572000"/>
            <a:ext cx="3048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350" b="0" i="0">
                <a:solidFill>
                  <a:srgbClr val="5B5D59"/>
                </a:solidFill>
                <a:latin typeface="Avenir"/>
                <a:ea typeface="Avenir"/>
                <a:cs typeface="Avenir"/>
              </a:defRPr>
            </a:pPr>
            <a:r>
              <a:rPr sz="1350" b="0" i="0">
                <a:solidFill>
                  <a:srgbClr val="5B5D59"/>
                </a:solidFill>
                <a:latin typeface="Avenir"/>
                <a:ea typeface="Avenir"/>
                <a:cs typeface="Avenir"/>
              </a:rPr>
              <a:t>¿Qué diferencia cambia la decisión?</a:t>
            </a:r>
          </a:p>
        </p:txBody>
      </p:sp>
      <p:sp>
        <p:nvSpPr>
          <p:cNvPr id="20" name="">
            <a:extLst xmlns:a="http://schemas.openxmlformats.org/drawingml/2006/main">
              <a:ext uri="{FF2B5EF4-FFF2-40B4-BE49-F238E27FC236}">
                <a16:creationId xmlns:a16="http://schemas.microsoft.com/office/drawing/2014/main" id="{1C512354-6177-4F95-A01B-0714CD0181BD}"/>
              </a:ext>
            </a:extLst>
          </p:cNvPr>
          <p:cNvSpPr>
            <a:spLocks xmlns:a="http://schemas.openxmlformats.org/drawingml/2006/main" noGrp="1"/>
          </p:cNvSpPr>
          <p:nvPr/>
        </p:nvSpPr>
        <p:spPr>
          <a:xfrm xmlns:a="http://schemas.openxmlformats.org/drawingml/2006/main">
            <a:off x="7943850" y="2914650"/>
            <a:ext cx="666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200" b="1" i="0">
                <a:solidFill>
                  <a:srgbClr val="5B5D59"/>
                </a:solidFill>
                <a:latin typeface="Avenir"/>
                <a:ea typeface="Avenir"/>
                <a:cs typeface="Avenir"/>
              </a:defRPr>
            </a:pPr>
            <a:r>
              <a:rPr sz="1200" b="1" i="0">
                <a:solidFill>
                  <a:srgbClr val="5B5D59"/>
                </a:solidFill>
                <a:latin typeface="Avenir"/>
                <a:ea typeface="Avenir"/>
                <a:cs typeface="Avenir"/>
              </a:rPr>
              <a:t>03</a:t>
            </a:r>
          </a:p>
        </p:txBody>
      </p:sp>
      <p:sp>
        <p:nvSpPr>
          <p:cNvPr id="21" name="">
            <a:extLst xmlns:a="http://schemas.openxmlformats.org/drawingml/2006/main">
              <a:ext uri="{FF2B5EF4-FFF2-40B4-BE49-F238E27FC236}">
                <a16:creationId xmlns:a16="http://schemas.microsoft.com/office/drawing/2014/main" id="{8843EA5D-601C-4C8C-9947-ADE69AF25B7C}"/>
              </a:ext>
            </a:extLst>
          </p:cNvPr>
          <p:cNvSpPr>
            <a:spLocks xmlns:a="http://schemas.openxmlformats.org/drawingml/2006/main" noGrp="1"/>
          </p:cNvSpPr>
          <p:nvPr/>
        </p:nvSpPr>
        <p:spPr>
          <a:xfrm xmlns:a="http://schemas.openxmlformats.org/drawingml/2006/main">
            <a:off x="7943850" y="3295650"/>
            <a:ext cx="3143250" cy="28575"/>
          </a:xfrm>
          <a:prstGeom xmlns:a="http://schemas.openxmlformats.org/drawingml/2006/main" prst="rect">
            <a:avLst/>
          </a:prstGeom>
          <a:solidFill xmlns:a="http://schemas.openxmlformats.org/drawingml/2006/main">
            <a:srgbClr val="181817"/>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E9706262-66BC-4580-954C-41189E34D82E}"/>
              </a:ext>
            </a:extLst>
          </p:cNvPr>
          <p:cNvSpPr>
            <a:spLocks xmlns:a="http://schemas.openxmlformats.org/drawingml/2006/main" noGrp="1"/>
          </p:cNvSpPr>
          <p:nvPr/>
        </p:nvSpPr>
        <p:spPr>
          <a:xfrm xmlns:a="http://schemas.openxmlformats.org/drawingml/2006/main">
            <a:off x="7943850" y="3543300"/>
            <a:ext cx="3143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2100" b="0" i="0">
                <a:solidFill>
                  <a:srgbClr val="181817"/>
                </a:solidFill>
                <a:latin typeface="Didot"/>
                <a:ea typeface="Didot"/>
                <a:cs typeface="Didot"/>
              </a:defRPr>
            </a:pPr>
            <a:r>
              <a:rPr sz="2100" b="0" i="0">
                <a:solidFill>
                  <a:srgbClr val="181817"/>
                </a:solidFill>
                <a:latin typeface="Didot"/>
                <a:ea typeface="Didot"/>
                <a:cs typeface="Didot"/>
              </a:rPr>
              <a:t>solución</a:t>
            </a:r>
          </a:p>
        </p:txBody>
      </p:sp>
      <p:sp>
        <p:nvSpPr>
          <p:cNvPr id="23" name="">
            <a:extLst xmlns:a="http://schemas.openxmlformats.org/drawingml/2006/main">
              <a:ext uri="{FF2B5EF4-FFF2-40B4-BE49-F238E27FC236}">
                <a16:creationId xmlns:a16="http://schemas.microsoft.com/office/drawing/2014/main" id="{7508186C-245B-47D2-AB63-C31E84436F94}"/>
              </a:ext>
            </a:extLst>
          </p:cNvPr>
          <p:cNvSpPr>
            <a:spLocks xmlns:a="http://schemas.openxmlformats.org/drawingml/2006/main" noGrp="1"/>
          </p:cNvSpPr>
          <p:nvPr/>
        </p:nvSpPr>
        <p:spPr>
          <a:xfrm xmlns:a="http://schemas.openxmlformats.org/drawingml/2006/main">
            <a:off x="7943850" y="4572000"/>
            <a:ext cx="3048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350" b="0" i="0">
                <a:solidFill>
                  <a:srgbClr val="5B5D59"/>
                </a:solidFill>
                <a:latin typeface="Avenir"/>
                <a:ea typeface="Avenir"/>
                <a:cs typeface="Avenir"/>
              </a:defRPr>
            </a:pPr>
            <a:r>
              <a:rPr sz="1350" b="0" i="0">
                <a:solidFill>
                  <a:srgbClr val="5B5D59"/>
                </a:solidFill>
                <a:latin typeface="Avenir"/>
                <a:ea typeface="Avenir"/>
                <a:cs typeface="Avenir"/>
              </a:rPr>
              <a:t>¿Qué diferencia cambia la decisión?</a:t>
            </a:r>
          </a:p>
        </p:txBody>
      </p:sp>
    </p:spTree>
    <p:extLst>
      <p:ext uri="{BB962C8B-B14F-4D97-AF65-F5344CB8AC3E}">
        <p14:creationId xmlns:p14="http://schemas.microsoft.com/office/powerpoint/2010/main" val="1274889841"/>
      </p:ext>
    </p:extLst>
  </p:cSld>
</p:sld>
</file>

<file path=ppt/slides/slide4.xml><?xml version="1.0" encoding="utf-8"?>
<p:sld xmlns:p="http://schemas.openxmlformats.org/presentationml/2006/main">
  <p:cSld>
    <p:bg>
      <p:bgPr>
        <a:solidFill xmlns:a="http://schemas.openxmlformats.org/drawingml/2006/main">
          <a:srgbClr val="FAFAF8"/>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0178A37C-6303-4238-9FCC-8236811DD2A5}"/>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CFFF00"/>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28DA7B5B-1444-4806-A2B7-9B95F014612A}"/>
              </a:ext>
            </a:extLst>
          </p:cNvPr>
          <p:cNvSpPr>
            <a:spLocks xmlns:a="http://schemas.openxmlformats.org/drawingml/2006/main" noGrp="1"/>
          </p:cNvSpPr>
          <p:nvPr/>
        </p:nvSpPr>
        <p:spPr>
          <a:xfrm xmlns:a="http://schemas.openxmlformats.org/drawingml/2006/main">
            <a:off x="514350" y="323850"/>
            <a:ext cx="2381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5833"/>
          </a:bodyPr>
          <a:lstStyle xmlns:a="http://schemas.openxmlformats.org/drawingml/2006/main"/>
          <a:p xmlns:a="http://schemas.openxmlformats.org/drawingml/2006/main">
            <a:pPr>
              <a:defRPr sz="1200" b="1" i="0">
                <a:solidFill>
                  <a:srgbClr val="5B5D59"/>
                </a:solidFill>
                <a:latin typeface="Avenir"/>
                <a:ea typeface="Avenir"/>
                <a:cs typeface="Avenir"/>
              </a:defRPr>
            </a:pPr>
            <a:r>
              <a:rPr sz="1200" b="1" i="0">
                <a:solidFill>
                  <a:srgbClr val="5B5D59"/>
                </a:solidFill>
                <a:latin typeface="Avenir"/>
                <a:ea typeface="Avenir"/>
                <a:cs typeface="Avenir"/>
              </a:rPr>
              <a:t>N01  ·  METSI</a:t>
            </a:r>
          </a:p>
        </p:txBody>
      </p:sp>
      <p:sp>
        <p:nvSpPr>
          <p:cNvPr id="3" name="">
            <a:extLst xmlns:a="http://schemas.openxmlformats.org/drawingml/2006/main">
              <a:ext uri="{FF2B5EF4-FFF2-40B4-BE49-F238E27FC236}">
                <a16:creationId xmlns:a16="http://schemas.microsoft.com/office/drawing/2014/main" id="{250A89C5-C787-45C0-B785-8EEE4DF088AF}"/>
              </a:ext>
            </a:extLst>
          </p:cNvPr>
          <p:cNvSpPr>
            <a:spLocks xmlns:a="http://schemas.openxmlformats.org/drawingml/2006/main" noGrp="1"/>
          </p:cNvSpPr>
          <p:nvPr/>
        </p:nvSpPr>
        <p:spPr>
          <a:xfrm xmlns:a="http://schemas.openxmlformats.org/drawingml/2006/main">
            <a:off x="10858500" y="29527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350" b="1" i="0">
                <a:solidFill>
                  <a:srgbClr val="181817"/>
                </a:solidFill>
                <a:latin typeface="Avenir"/>
                <a:ea typeface="Avenir"/>
                <a:cs typeface="Avenir"/>
              </a:defRPr>
            </a:pPr>
            <a:r>
              <a:rPr sz="1350" b="1" i="0">
                <a:solidFill>
                  <a:srgbClr val="181817"/>
                </a:solidFill>
                <a:latin typeface="Avenir"/>
                <a:ea typeface="Avenir"/>
                <a:cs typeface="Avenir"/>
              </a:rPr>
              <a:t>04</a:t>
            </a:r>
          </a:p>
        </p:txBody>
      </p:sp>
      <p:sp>
        <p:nvSpPr>
          <p:cNvPr id="4" name="">
            <a:extLst xmlns:a="http://schemas.openxmlformats.org/drawingml/2006/main">
              <a:ext uri="{FF2B5EF4-FFF2-40B4-BE49-F238E27FC236}">
                <a16:creationId xmlns:a16="http://schemas.microsoft.com/office/drawing/2014/main" id="{92D14C2A-B15A-4805-BEAF-55B3055E3327}"/>
              </a:ext>
            </a:extLst>
          </p:cNvPr>
          <p:cNvSpPr>
            <a:spLocks xmlns:a="http://schemas.openxmlformats.org/drawingml/2006/main" noGrp="1"/>
          </p:cNvSpPr>
          <p:nvPr/>
        </p:nvSpPr>
        <p:spPr>
          <a:xfrm xmlns:a="http://schemas.openxmlformats.org/drawingml/2006/main">
            <a:off x="7239000" y="352425"/>
            <a:ext cx="338137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3939"/>
          </a:bodyPr>
          <a:lstStyle xmlns:a="http://schemas.openxmlformats.org/drawingml/2006/main"/>
          <a:p xmlns:a="http://schemas.openxmlformats.org/drawingml/2006/main">
            <a:pPr>
              <a:defRPr sz="825" b="1" i="0">
                <a:solidFill>
                  <a:srgbClr val="5B5D59"/>
                </a:solidFill>
                <a:latin typeface="Avenir"/>
                <a:ea typeface="Avenir"/>
                <a:cs typeface="Avenir"/>
              </a:defRPr>
            </a:pPr>
            <a:r>
              <a:rPr sz="825" b="1" i="0">
                <a:solidFill>
                  <a:srgbClr val="5B5D59"/>
                </a:solidFill>
                <a:latin typeface="Avenir"/>
                <a:ea typeface="Avenir"/>
                <a:cs typeface="Avenir"/>
              </a:rPr>
              <a:t>BLOQUE A · ENCUADRE  ·  ENCUENTRO</a:t>
            </a:r>
          </a:p>
        </p:txBody>
      </p:sp>
      <p:sp>
        <p:nvSpPr>
          <p:cNvPr id="5" name="">
            <a:extLst xmlns:a="http://schemas.openxmlformats.org/drawingml/2006/main">
              <a:ext uri="{FF2B5EF4-FFF2-40B4-BE49-F238E27FC236}">
                <a16:creationId xmlns:a16="http://schemas.microsoft.com/office/drawing/2014/main" id="{50D810DD-8491-421F-A51E-46D9DC25AC39}"/>
              </a:ext>
            </a:extLst>
          </p:cNvPr>
          <p:cNvSpPr>
            <a:spLocks xmlns:a="http://schemas.openxmlformats.org/drawingml/2006/main" noGrp="1"/>
          </p:cNvSpPr>
          <p:nvPr/>
        </p:nvSpPr>
        <p:spPr>
          <a:xfrm xmlns:a="http://schemas.openxmlformats.org/drawingml/2006/main">
            <a:off x="514350" y="781050"/>
            <a:ext cx="11049000" cy="19050"/>
          </a:xfrm>
          <a:prstGeom xmlns:a="http://schemas.openxmlformats.org/drawingml/2006/main" prst="rect">
            <a:avLst/>
          </a:prstGeom>
          <a:solidFill xmlns:a="http://schemas.openxmlformats.org/drawingml/2006/main">
            <a:srgbClr val="181817"/>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A48B9224-5406-4B96-8819-EE031E3A645F}"/>
              </a:ext>
            </a:extLst>
          </p:cNvPr>
          <p:cNvSpPr>
            <a:spLocks xmlns:a="http://schemas.openxmlformats.org/drawingml/2006/main" noGrp="1"/>
          </p:cNvSpPr>
          <p:nvPr/>
        </p:nvSpPr>
        <p:spPr>
          <a:xfrm xmlns:a="http://schemas.openxmlformats.org/drawingml/2006/main">
            <a:off x="514350" y="6486525"/>
            <a:ext cx="11049000" cy="9525"/>
          </a:xfrm>
          <a:prstGeom xmlns:a="http://schemas.openxmlformats.org/drawingml/2006/main" prst="rect">
            <a:avLst/>
          </a:prstGeom>
          <a:solidFill xmlns:a="http://schemas.openxmlformats.org/drawingml/2006/main">
            <a:srgbClr val="AEB1AE"/>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4F16199C-4677-4CD2-99C9-0CCCEC788722}"/>
              </a:ext>
            </a:extLst>
          </p:cNvPr>
          <p:cNvSpPr>
            <a:spLocks xmlns:a="http://schemas.openxmlformats.org/drawingml/2006/main" noGrp="1"/>
          </p:cNvSpPr>
          <p:nvPr/>
        </p:nvSpPr>
        <p:spPr>
          <a:xfrm xmlns:a="http://schemas.openxmlformats.org/drawingml/2006/main">
            <a:off x="514350" y="6553200"/>
            <a:ext cx="5334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8788"/>
          </a:bodyPr>
          <a:lstStyle xmlns:a="http://schemas.openxmlformats.org/drawingml/2006/main"/>
          <a:p xmlns:a="http://schemas.openxmlformats.org/drawingml/2006/main">
            <a:pPr>
              <a:defRPr sz="825" b="0" i="0">
                <a:solidFill>
                  <a:srgbClr val="5B5D59"/>
                </a:solidFill>
                <a:latin typeface="Avenir"/>
                <a:ea typeface="Avenir"/>
                <a:cs typeface="Avenir"/>
              </a:defRPr>
            </a:pPr>
            <a:r>
              <a:rPr sz="825" b="0" i="0">
                <a:solidFill>
                  <a:srgbClr val="5B5D59"/>
                </a:solidFill>
                <a:latin typeface="Avenir"/>
                <a:ea typeface="Avenir"/>
                <a:cs typeface="Avenir"/>
              </a:rPr>
              <a:t>Metodología de Sistemas de Información · FCE UBA</a:t>
            </a:r>
          </a:p>
        </p:txBody>
      </p:sp>
      <p:sp>
        <p:nvSpPr>
          <p:cNvPr id="8" name="">
            <a:extLst xmlns:a="http://schemas.openxmlformats.org/drawingml/2006/main">
              <a:ext uri="{FF2B5EF4-FFF2-40B4-BE49-F238E27FC236}">
                <a16:creationId xmlns:a16="http://schemas.microsoft.com/office/drawing/2014/main" id="{E584C5D8-4A89-4673-9768-4656E9CC214E}"/>
              </a:ext>
            </a:extLst>
          </p:cNvPr>
          <p:cNvSpPr>
            <a:spLocks xmlns:a="http://schemas.openxmlformats.org/drawingml/2006/main" noGrp="1"/>
          </p:cNvSpPr>
          <p:nvPr/>
        </p:nvSpPr>
        <p:spPr>
          <a:xfrm xmlns:a="http://schemas.openxmlformats.org/drawingml/2006/main">
            <a:off x="704850" y="1066800"/>
            <a:ext cx="8763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3000" b="0" i="0">
                <a:solidFill>
                  <a:srgbClr val="181817"/>
                </a:solidFill>
                <a:latin typeface="Didot"/>
                <a:ea typeface="Didot"/>
                <a:cs typeface="Didot"/>
              </a:defRPr>
            </a:pPr>
            <a:r>
              <a:rPr sz="3000" b="0" i="0">
                <a:solidFill>
                  <a:srgbClr val="181817"/>
                </a:solidFill>
                <a:latin typeface="Didot"/>
                <a:ea typeface="Didot"/>
                <a:cs typeface="Didot"/>
              </a:rPr>
              <a:t>Clínica conceptual breve</a:t>
            </a:r>
          </a:p>
        </p:txBody>
      </p:sp>
      <p:sp>
        <p:nvSpPr>
          <p:cNvPr id="9" name="">
            <a:extLst xmlns:a="http://schemas.openxmlformats.org/drawingml/2006/main">
              <a:ext uri="{FF2B5EF4-FFF2-40B4-BE49-F238E27FC236}">
                <a16:creationId xmlns:a16="http://schemas.microsoft.com/office/drawing/2014/main" id="{5B979DA9-80DB-4366-9397-331F5BA586E1}"/>
              </a:ext>
            </a:extLst>
          </p:cNvPr>
          <p:cNvSpPr>
            <a:spLocks xmlns:a="http://schemas.openxmlformats.org/drawingml/2006/main" noGrp="1"/>
          </p:cNvSpPr>
          <p:nvPr/>
        </p:nvSpPr>
        <p:spPr>
          <a:xfrm xmlns:a="http://schemas.openxmlformats.org/drawingml/2006/main">
            <a:off x="10001250" y="1200150"/>
            <a:ext cx="1238250" cy="514350"/>
          </a:xfrm>
          <a:prstGeom xmlns:a="http://schemas.openxmlformats.org/drawingml/2006/main" prst="roundRect">
            <a:avLst>
              <a:gd name="adj" fmla="val 14815"/>
            </a:avLst>
          </a:prstGeom>
          <a:solidFill xmlns:a="http://schemas.openxmlformats.org/drawingml/2006/main">
            <a:srgbClr val="E4E6E5"/>
          </a:solidFill>
          <a:ln xmlns:a="http://schemas.openxmlformats.org/drawingml/2006/main" w="9525">
            <a:solidFill>
              <a:srgbClr val="AEB1AE"/>
            </a:solidFill>
          </a:ln>
        </p:spPr>
      </p:sp>
      <p:sp>
        <p:nvSpPr>
          <p:cNvPr id="10" name="">
            <a:extLst xmlns:a="http://schemas.openxmlformats.org/drawingml/2006/main">
              <a:ext uri="{FF2B5EF4-FFF2-40B4-BE49-F238E27FC236}">
                <a16:creationId xmlns:a16="http://schemas.microsoft.com/office/drawing/2014/main" id="{140544F6-5ACA-4D59-9931-019BBCE8DBA8}"/>
              </a:ext>
            </a:extLst>
          </p:cNvPr>
          <p:cNvSpPr>
            <a:spLocks xmlns:a="http://schemas.openxmlformats.org/drawingml/2006/main" noGrp="1"/>
          </p:cNvSpPr>
          <p:nvPr/>
        </p:nvSpPr>
        <p:spPr>
          <a:xfrm xmlns:a="http://schemas.openxmlformats.org/drawingml/2006/main">
            <a:off x="10001250" y="1323975"/>
            <a:ext cx="123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p xmlns:a="http://schemas.openxmlformats.org/drawingml/2006/main">
            <a:pPr>
              <a:defRPr sz="1125" b="1" i="0">
                <a:solidFill>
                  <a:srgbClr val="181817"/>
                </a:solidFill>
                <a:latin typeface="Avenir"/>
                <a:ea typeface="Avenir"/>
                <a:cs typeface="Avenir"/>
              </a:defRPr>
            </a:pPr>
            <a:r>
              <a:rPr sz="1125" b="1" i="0">
                <a:solidFill>
                  <a:srgbClr val="181817"/>
                </a:solidFill>
                <a:latin typeface="Avenir"/>
                <a:ea typeface="Avenir"/>
                <a:cs typeface="Avenir"/>
              </a:rPr>
              <a:t>12 MIN</a:t>
            </a:r>
          </a:p>
        </p:txBody>
      </p:sp>
      <p:sp>
        <p:nvSpPr>
          <p:cNvPr id="11" name="">
            <a:extLst xmlns:a="http://schemas.openxmlformats.org/drawingml/2006/main">
              <a:ext uri="{FF2B5EF4-FFF2-40B4-BE49-F238E27FC236}">
                <a16:creationId xmlns:a16="http://schemas.microsoft.com/office/drawing/2014/main" id="{CB18622B-BABD-469B-9F33-C1045838C231}"/>
              </a:ext>
            </a:extLst>
          </p:cNvPr>
          <p:cNvSpPr>
            <a:spLocks xmlns:a="http://schemas.openxmlformats.org/drawingml/2006/main" noGrp="1"/>
          </p:cNvSpPr>
          <p:nvPr/>
        </p:nvSpPr>
        <p:spPr>
          <a:xfrm xmlns:a="http://schemas.openxmlformats.org/drawingml/2006/main">
            <a:off x="704850" y="1952625"/>
            <a:ext cx="102870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2222"/>
          </a:bodyPr>
          <a:lstStyle xmlns:a="http://schemas.openxmlformats.org/drawingml/2006/main"/>
          <a:p xmlns:a="http://schemas.openxmlformats.org/drawingml/2006/main">
            <a:pPr>
              <a:defRPr sz="1500" b="0" i="0">
                <a:solidFill>
                  <a:srgbClr val="5B5D59"/>
                </a:solidFill>
                <a:latin typeface="Avenir"/>
                <a:ea typeface="Avenir"/>
                <a:cs typeface="Avenir"/>
              </a:defRPr>
            </a:pPr>
            <a:r>
              <a:rPr sz="1500" b="0" i="0">
                <a:solidFill>
                  <a:srgbClr val="5B5D59"/>
                </a:solidFill>
                <a:latin typeface="Avenir"/>
                <a:ea typeface="Avenir"/>
                <a:cs typeface="Avenir"/>
              </a:rPr>
              <a:t>El docente trabaja únicamente sobre dos confusiones observadas: pedido como prueba del problema; actividad como evidencia de aprendizaje. La intervención termina con la prueba de calidad metodológica: qué incertidumbre se reduce, antes de qué decisión, mediante qué evidencia y qué…</a:t>
            </a:r>
          </a:p>
        </p:txBody>
      </p:sp>
      <p:sp>
        <p:nvSpPr>
          <p:cNvPr id="12" name="">
            <a:extLst xmlns:a="http://schemas.openxmlformats.org/drawingml/2006/main">
              <a:ext uri="{FF2B5EF4-FFF2-40B4-BE49-F238E27FC236}">
                <a16:creationId xmlns:a16="http://schemas.microsoft.com/office/drawing/2014/main" id="{526689FF-E994-4CC7-B78C-5450787DE64C}"/>
              </a:ext>
            </a:extLst>
          </p:cNvPr>
          <p:cNvSpPr>
            <a:spLocks xmlns:a="http://schemas.openxmlformats.org/drawingml/2006/main" noGrp="1"/>
          </p:cNvSpPr>
          <p:nvPr/>
        </p:nvSpPr>
        <p:spPr>
          <a:xfrm xmlns:a="http://schemas.openxmlformats.org/drawingml/2006/main">
            <a:off x="838200" y="3143250"/>
            <a:ext cx="571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304"/>
          </a:bodyPr>
          <a:lstStyle xmlns:a="http://schemas.openxmlformats.org/drawingml/2006/main"/>
          <a:p xmlns:a="http://schemas.openxmlformats.org/drawingml/2006/main">
            <a:pPr>
              <a:defRPr sz="3450" b="0" i="0">
                <a:solidFill>
                  <a:srgbClr val="181817"/>
                </a:solidFill>
                <a:latin typeface="Didot"/>
                <a:ea typeface="Didot"/>
                <a:cs typeface="Didot"/>
              </a:defRPr>
            </a:pPr>
            <a:r>
              <a:rPr sz="3450" b="0" i="0">
                <a:solidFill>
                  <a:srgbClr val="181817"/>
                </a:solidFill>
                <a:latin typeface="Didot"/>
                <a:ea typeface="Didot"/>
                <a:cs typeface="Didot"/>
              </a:rPr>
              <a:t>A</a:t>
            </a:r>
          </a:p>
        </p:txBody>
      </p:sp>
      <p:sp>
        <p:nvSpPr>
          <p:cNvPr id="13" name="">
            <a:extLst xmlns:a="http://schemas.openxmlformats.org/drawingml/2006/main">
              <a:ext uri="{FF2B5EF4-FFF2-40B4-BE49-F238E27FC236}">
                <a16:creationId xmlns:a16="http://schemas.microsoft.com/office/drawing/2014/main" id="{6B022386-23EC-4710-BB55-5BF4291B84F3}"/>
              </a:ext>
            </a:extLst>
          </p:cNvPr>
          <p:cNvSpPr>
            <a:spLocks xmlns:a="http://schemas.openxmlformats.org/drawingml/2006/main" noGrp="1"/>
          </p:cNvSpPr>
          <p:nvPr/>
        </p:nvSpPr>
        <p:spPr>
          <a:xfrm xmlns:a="http://schemas.openxmlformats.org/drawingml/2006/main">
            <a:off x="1428750" y="3143250"/>
            <a:ext cx="3905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2025" b="1" i="0">
                <a:solidFill>
                  <a:srgbClr val="181817"/>
                </a:solidFill>
                <a:latin typeface="Avenir"/>
                <a:ea typeface="Avenir"/>
                <a:cs typeface="Avenir"/>
              </a:defRPr>
            </a:pPr>
            <a:r>
              <a:rPr sz="2025" b="1" i="0">
                <a:solidFill>
                  <a:srgbClr val="181817"/>
                </a:solidFill>
                <a:latin typeface="Avenir"/>
                <a:ea typeface="Avenir"/>
                <a:cs typeface="Avenir"/>
              </a:rPr>
              <a:t>Lo que el artefacto afirma</a:t>
            </a:r>
          </a:p>
        </p:txBody>
      </p:sp>
      <p:sp>
        <p:nvSpPr>
          <p:cNvPr id="14" name="">
            <a:extLst xmlns:a="http://schemas.openxmlformats.org/drawingml/2006/main">
              <a:ext uri="{FF2B5EF4-FFF2-40B4-BE49-F238E27FC236}">
                <a16:creationId xmlns:a16="http://schemas.microsoft.com/office/drawing/2014/main" id="{CEB6B500-36D7-4091-8EA2-1203596932F8}"/>
              </a:ext>
            </a:extLst>
          </p:cNvPr>
          <p:cNvSpPr>
            <a:spLocks xmlns:a="http://schemas.openxmlformats.org/drawingml/2006/main" noGrp="1"/>
          </p:cNvSpPr>
          <p:nvPr/>
        </p:nvSpPr>
        <p:spPr>
          <a:xfrm xmlns:a="http://schemas.openxmlformats.org/drawingml/2006/main">
            <a:off x="6038850" y="2819400"/>
            <a:ext cx="19050" cy="2628900"/>
          </a:xfrm>
          <a:prstGeom xmlns:a="http://schemas.openxmlformats.org/drawingml/2006/main" prst="rect">
            <a:avLst/>
          </a:prstGeom>
          <a:solidFill xmlns:a="http://schemas.openxmlformats.org/drawingml/2006/main">
            <a:srgbClr val="AEB1AE"/>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2A582273-7C1F-44C0-AF90-D71CEFA5C8AC}"/>
              </a:ext>
            </a:extLst>
          </p:cNvPr>
          <p:cNvSpPr>
            <a:spLocks xmlns:a="http://schemas.openxmlformats.org/drawingml/2006/main" noGrp="1"/>
          </p:cNvSpPr>
          <p:nvPr/>
        </p:nvSpPr>
        <p:spPr>
          <a:xfrm xmlns:a="http://schemas.openxmlformats.org/drawingml/2006/main">
            <a:off x="6572250" y="3143250"/>
            <a:ext cx="571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304"/>
          </a:bodyPr>
          <a:lstStyle xmlns:a="http://schemas.openxmlformats.org/drawingml/2006/main"/>
          <a:p xmlns:a="http://schemas.openxmlformats.org/drawingml/2006/main">
            <a:pPr>
              <a:defRPr sz="3450" b="0" i="0">
                <a:solidFill>
                  <a:srgbClr val="181817"/>
                </a:solidFill>
                <a:latin typeface="Didot"/>
                <a:ea typeface="Didot"/>
                <a:cs typeface="Didot"/>
              </a:defRPr>
            </a:pPr>
            <a:r>
              <a:rPr sz="3450" b="0" i="0">
                <a:solidFill>
                  <a:srgbClr val="181817"/>
                </a:solidFill>
                <a:latin typeface="Didot"/>
                <a:ea typeface="Didot"/>
                <a:cs typeface="Didot"/>
              </a:rPr>
              <a:t>B</a:t>
            </a:r>
          </a:p>
        </p:txBody>
      </p:sp>
      <p:sp>
        <p:nvSpPr>
          <p:cNvPr id="16" name="">
            <a:extLst xmlns:a="http://schemas.openxmlformats.org/drawingml/2006/main">
              <a:ext uri="{FF2B5EF4-FFF2-40B4-BE49-F238E27FC236}">
                <a16:creationId xmlns:a16="http://schemas.microsoft.com/office/drawing/2014/main" id="{A216498F-A77E-4027-B811-E29D56AE226F}"/>
              </a:ext>
            </a:extLst>
          </p:cNvPr>
          <p:cNvSpPr>
            <a:spLocks xmlns:a="http://schemas.openxmlformats.org/drawingml/2006/main" noGrp="1"/>
          </p:cNvSpPr>
          <p:nvPr/>
        </p:nvSpPr>
        <p:spPr>
          <a:xfrm xmlns:a="http://schemas.openxmlformats.org/drawingml/2006/main">
            <a:off x="7162800" y="3143250"/>
            <a:ext cx="3905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2025" b="1" i="0">
                <a:solidFill>
                  <a:srgbClr val="181817"/>
                </a:solidFill>
                <a:latin typeface="Avenir"/>
                <a:ea typeface="Avenir"/>
                <a:cs typeface="Avenir"/>
              </a:defRPr>
            </a:pPr>
            <a:r>
              <a:rPr sz="2025" b="1" i="0">
                <a:solidFill>
                  <a:srgbClr val="181817"/>
                </a:solidFill>
                <a:latin typeface="Avenir"/>
                <a:ea typeface="Avenir"/>
                <a:cs typeface="Avenir"/>
              </a:rPr>
              <a:t>Lo que la evidencia permite afirmar</a:t>
            </a:r>
          </a:p>
        </p:txBody>
      </p:sp>
      <p:sp>
        <p:nvSpPr>
          <p:cNvPr id="17" name="">
            <a:extLst xmlns:a="http://schemas.openxmlformats.org/drawingml/2006/main">
              <a:ext uri="{FF2B5EF4-FFF2-40B4-BE49-F238E27FC236}">
                <a16:creationId xmlns:a16="http://schemas.microsoft.com/office/drawing/2014/main" id="{52CF2868-493B-47AA-BCBE-880045EE3A40}"/>
              </a:ext>
            </a:extLst>
          </p:cNvPr>
          <p:cNvSpPr>
            <a:spLocks xmlns:a="http://schemas.openxmlformats.org/drawingml/2006/main" noGrp="1"/>
          </p:cNvSpPr>
          <p:nvPr/>
        </p:nvSpPr>
        <p:spPr>
          <a:xfrm xmlns:a="http://schemas.openxmlformats.org/drawingml/2006/main">
            <a:off x="1428750" y="4648200"/>
            <a:ext cx="9334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2175" b="0" i="0">
                <a:solidFill>
                  <a:srgbClr val="5B5D59"/>
                </a:solidFill>
                <a:latin typeface="Didot"/>
                <a:ea typeface="Didot"/>
                <a:cs typeface="Didot"/>
              </a:defRPr>
            </a:pPr>
            <a:r>
              <a:rPr sz="2175" b="0" i="0">
                <a:solidFill>
                  <a:srgbClr val="5B5D59"/>
                </a:solidFill>
                <a:latin typeface="Didot"/>
                <a:ea typeface="Didot"/>
                <a:cs typeface="Didot"/>
              </a:rPr>
              <a:t>La diferencia debe conducir a una revisión observable.</a:t>
            </a:r>
          </a:p>
        </p:txBody>
      </p:sp>
    </p:spTree>
    <p:extLst>
      <p:ext uri="{BB962C8B-B14F-4D97-AF65-F5344CB8AC3E}">
        <p14:creationId xmlns:p14="http://schemas.microsoft.com/office/powerpoint/2010/main" val="711914890"/>
      </p:ext>
    </p:extLst>
  </p:cSld>
</p:sld>
</file>

<file path=ppt/slides/slide5.xml><?xml version="1.0" encoding="utf-8"?>
<p:sld xmlns:p="http://schemas.openxmlformats.org/presentationml/2006/main">
  <p:cSld>
    <p:bg>
      <p:bgPr>
        <a:solidFill xmlns:a="http://schemas.openxmlformats.org/drawingml/2006/main">
          <a:srgbClr val="FAFAF8"/>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40E9EBAE-9971-455E-893D-AAB2DFB8C3A6}"/>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CFFF00"/>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D8FC479E-A67A-47B3-895B-ED0B134D1370}"/>
              </a:ext>
            </a:extLst>
          </p:cNvPr>
          <p:cNvSpPr>
            <a:spLocks xmlns:a="http://schemas.openxmlformats.org/drawingml/2006/main" noGrp="1"/>
          </p:cNvSpPr>
          <p:nvPr/>
        </p:nvSpPr>
        <p:spPr>
          <a:xfrm xmlns:a="http://schemas.openxmlformats.org/drawingml/2006/main">
            <a:off x="514350" y="323850"/>
            <a:ext cx="2381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5833"/>
          </a:bodyPr>
          <a:lstStyle xmlns:a="http://schemas.openxmlformats.org/drawingml/2006/main"/>
          <a:p xmlns:a="http://schemas.openxmlformats.org/drawingml/2006/main">
            <a:pPr>
              <a:defRPr sz="1200" b="1" i="0">
                <a:solidFill>
                  <a:srgbClr val="5B5D59"/>
                </a:solidFill>
                <a:latin typeface="Avenir"/>
                <a:ea typeface="Avenir"/>
                <a:cs typeface="Avenir"/>
              </a:defRPr>
            </a:pPr>
            <a:r>
              <a:rPr sz="1200" b="1" i="0">
                <a:solidFill>
                  <a:srgbClr val="5B5D59"/>
                </a:solidFill>
                <a:latin typeface="Avenir"/>
                <a:ea typeface="Avenir"/>
                <a:cs typeface="Avenir"/>
              </a:rPr>
              <a:t>N01  ·  METSI</a:t>
            </a:r>
          </a:p>
        </p:txBody>
      </p:sp>
      <p:sp>
        <p:nvSpPr>
          <p:cNvPr id="3" name="">
            <a:extLst xmlns:a="http://schemas.openxmlformats.org/drawingml/2006/main">
              <a:ext uri="{FF2B5EF4-FFF2-40B4-BE49-F238E27FC236}">
                <a16:creationId xmlns:a16="http://schemas.microsoft.com/office/drawing/2014/main" id="{42631497-B20A-4C7C-8C73-ED99739664C2}"/>
              </a:ext>
            </a:extLst>
          </p:cNvPr>
          <p:cNvSpPr>
            <a:spLocks xmlns:a="http://schemas.openxmlformats.org/drawingml/2006/main" noGrp="1"/>
          </p:cNvSpPr>
          <p:nvPr/>
        </p:nvSpPr>
        <p:spPr>
          <a:xfrm xmlns:a="http://schemas.openxmlformats.org/drawingml/2006/main">
            <a:off x="10858500" y="29527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350" b="1" i="0">
                <a:solidFill>
                  <a:srgbClr val="181817"/>
                </a:solidFill>
                <a:latin typeface="Avenir"/>
                <a:ea typeface="Avenir"/>
                <a:cs typeface="Avenir"/>
              </a:defRPr>
            </a:pPr>
            <a:r>
              <a:rPr sz="1350" b="1" i="0">
                <a:solidFill>
                  <a:srgbClr val="181817"/>
                </a:solidFill>
                <a:latin typeface="Avenir"/>
                <a:ea typeface="Avenir"/>
                <a:cs typeface="Avenir"/>
              </a:rPr>
              <a:t>05</a:t>
            </a:r>
          </a:p>
        </p:txBody>
      </p:sp>
      <p:sp>
        <p:nvSpPr>
          <p:cNvPr id="4" name="">
            <a:extLst xmlns:a="http://schemas.openxmlformats.org/drawingml/2006/main">
              <a:ext uri="{FF2B5EF4-FFF2-40B4-BE49-F238E27FC236}">
                <a16:creationId xmlns:a16="http://schemas.microsoft.com/office/drawing/2014/main" id="{CC40FE1F-BA4D-4CE3-B118-929D2D053DCF}"/>
              </a:ext>
            </a:extLst>
          </p:cNvPr>
          <p:cNvSpPr>
            <a:spLocks xmlns:a="http://schemas.openxmlformats.org/drawingml/2006/main" noGrp="1"/>
          </p:cNvSpPr>
          <p:nvPr/>
        </p:nvSpPr>
        <p:spPr>
          <a:xfrm xmlns:a="http://schemas.openxmlformats.org/drawingml/2006/main">
            <a:off x="7239000" y="352425"/>
            <a:ext cx="338137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3939"/>
          </a:bodyPr>
          <a:lstStyle xmlns:a="http://schemas.openxmlformats.org/drawingml/2006/main"/>
          <a:p xmlns:a="http://schemas.openxmlformats.org/drawingml/2006/main">
            <a:pPr>
              <a:defRPr sz="825" b="1" i="0">
                <a:solidFill>
                  <a:srgbClr val="5B5D59"/>
                </a:solidFill>
                <a:latin typeface="Avenir"/>
                <a:ea typeface="Avenir"/>
                <a:cs typeface="Avenir"/>
              </a:defRPr>
            </a:pPr>
            <a:r>
              <a:rPr sz="825" b="1" i="0">
                <a:solidFill>
                  <a:srgbClr val="5B5D59"/>
                </a:solidFill>
                <a:latin typeface="Avenir"/>
                <a:ea typeface="Avenir"/>
                <a:cs typeface="Avenir"/>
              </a:rPr>
              <a:t>BLOQUE A · ENCUADRE  ·  ENCUENTRO</a:t>
            </a:r>
          </a:p>
        </p:txBody>
      </p:sp>
      <p:sp>
        <p:nvSpPr>
          <p:cNvPr id="5" name="">
            <a:extLst xmlns:a="http://schemas.openxmlformats.org/drawingml/2006/main">
              <a:ext uri="{FF2B5EF4-FFF2-40B4-BE49-F238E27FC236}">
                <a16:creationId xmlns:a16="http://schemas.microsoft.com/office/drawing/2014/main" id="{E8E7244F-2A63-44BB-9503-2AB1FE8692A4}"/>
              </a:ext>
            </a:extLst>
          </p:cNvPr>
          <p:cNvSpPr>
            <a:spLocks xmlns:a="http://schemas.openxmlformats.org/drawingml/2006/main" noGrp="1"/>
          </p:cNvSpPr>
          <p:nvPr/>
        </p:nvSpPr>
        <p:spPr>
          <a:xfrm xmlns:a="http://schemas.openxmlformats.org/drawingml/2006/main">
            <a:off x="514350" y="781050"/>
            <a:ext cx="11049000" cy="19050"/>
          </a:xfrm>
          <a:prstGeom xmlns:a="http://schemas.openxmlformats.org/drawingml/2006/main" prst="rect">
            <a:avLst/>
          </a:prstGeom>
          <a:solidFill xmlns:a="http://schemas.openxmlformats.org/drawingml/2006/main">
            <a:srgbClr val="181817"/>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ECFFA60A-BE95-4513-A2D2-17273D882D94}"/>
              </a:ext>
            </a:extLst>
          </p:cNvPr>
          <p:cNvSpPr>
            <a:spLocks xmlns:a="http://schemas.openxmlformats.org/drawingml/2006/main" noGrp="1"/>
          </p:cNvSpPr>
          <p:nvPr/>
        </p:nvSpPr>
        <p:spPr>
          <a:xfrm xmlns:a="http://schemas.openxmlformats.org/drawingml/2006/main">
            <a:off x="514350" y="6486525"/>
            <a:ext cx="11049000" cy="9525"/>
          </a:xfrm>
          <a:prstGeom xmlns:a="http://schemas.openxmlformats.org/drawingml/2006/main" prst="rect">
            <a:avLst/>
          </a:prstGeom>
          <a:solidFill xmlns:a="http://schemas.openxmlformats.org/drawingml/2006/main">
            <a:srgbClr val="AEB1AE"/>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A9CE040A-03B0-4760-AA56-3028CC5D37B4}"/>
              </a:ext>
            </a:extLst>
          </p:cNvPr>
          <p:cNvSpPr>
            <a:spLocks xmlns:a="http://schemas.openxmlformats.org/drawingml/2006/main" noGrp="1"/>
          </p:cNvSpPr>
          <p:nvPr/>
        </p:nvSpPr>
        <p:spPr>
          <a:xfrm xmlns:a="http://schemas.openxmlformats.org/drawingml/2006/main">
            <a:off x="514350" y="6553200"/>
            <a:ext cx="5334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8788"/>
          </a:bodyPr>
          <a:lstStyle xmlns:a="http://schemas.openxmlformats.org/drawingml/2006/main"/>
          <a:p xmlns:a="http://schemas.openxmlformats.org/drawingml/2006/main">
            <a:pPr>
              <a:defRPr sz="825" b="0" i="0">
                <a:solidFill>
                  <a:srgbClr val="5B5D59"/>
                </a:solidFill>
                <a:latin typeface="Avenir"/>
                <a:ea typeface="Avenir"/>
                <a:cs typeface="Avenir"/>
              </a:defRPr>
            </a:pPr>
            <a:r>
              <a:rPr sz="825" b="0" i="0">
                <a:solidFill>
                  <a:srgbClr val="5B5D59"/>
                </a:solidFill>
                <a:latin typeface="Avenir"/>
                <a:ea typeface="Avenir"/>
                <a:cs typeface="Avenir"/>
              </a:rPr>
              <a:t>Metodología de Sistemas de Información · FCE UBA</a:t>
            </a:r>
          </a:p>
        </p:txBody>
      </p:sp>
      <p:sp>
        <p:nvSpPr>
          <p:cNvPr id="8" name="">
            <a:extLst xmlns:a="http://schemas.openxmlformats.org/drawingml/2006/main">
              <a:ext uri="{FF2B5EF4-FFF2-40B4-BE49-F238E27FC236}">
                <a16:creationId xmlns:a16="http://schemas.microsoft.com/office/drawing/2014/main" id="{4AAB61F6-E5F3-49F4-B515-A0874BC8E011}"/>
              </a:ext>
            </a:extLst>
          </p:cNvPr>
          <p:cNvSpPr>
            <a:spLocks xmlns:a="http://schemas.openxmlformats.org/drawingml/2006/main" noGrp="1"/>
          </p:cNvSpPr>
          <p:nvPr/>
        </p:nvSpPr>
        <p:spPr>
          <a:xfrm xmlns:a="http://schemas.openxmlformats.org/drawingml/2006/main">
            <a:off x="704850" y="1066800"/>
            <a:ext cx="8763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3000" b="0" i="0">
                <a:solidFill>
                  <a:srgbClr val="181817"/>
                </a:solidFill>
                <a:latin typeface="Didot"/>
                <a:ea typeface="Didot"/>
                <a:cs typeface="Didot"/>
              </a:defRPr>
            </a:pPr>
            <a:r>
              <a:rPr sz="3000" b="0" i="0">
                <a:solidFill>
                  <a:srgbClr val="181817"/>
                </a:solidFill>
                <a:latin typeface="Didot"/>
                <a:ea typeface="Didot"/>
                <a:cs typeface="Didot"/>
              </a:rPr>
              <a:t>Reconstrucción de HH-01</a:t>
            </a:r>
          </a:p>
        </p:txBody>
      </p:sp>
      <p:sp>
        <p:nvSpPr>
          <p:cNvPr id="9" name="">
            <a:extLst xmlns:a="http://schemas.openxmlformats.org/drawingml/2006/main">
              <a:ext uri="{FF2B5EF4-FFF2-40B4-BE49-F238E27FC236}">
                <a16:creationId xmlns:a16="http://schemas.microsoft.com/office/drawing/2014/main" id="{63C513E5-7E54-4C99-8152-7EC2C130B37D}"/>
              </a:ext>
            </a:extLst>
          </p:cNvPr>
          <p:cNvSpPr>
            <a:spLocks xmlns:a="http://schemas.openxmlformats.org/drawingml/2006/main" noGrp="1"/>
          </p:cNvSpPr>
          <p:nvPr/>
        </p:nvSpPr>
        <p:spPr>
          <a:xfrm xmlns:a="http://schemas.openxmlformats.org/drawingml/2006/main">
            <a:off x="10001250" y="1200150"/>
            <a:ext cx="1238250" cy="514350"/>
          </a:xfrm>
          <a:prstGeom xmlns:a="http://schemas.openxmlformats.org/drawingml/2006/main" prst="roundRect">
            <a:avLst>
              <a:gd name="adj" fmla="val 14815"/>
            </a:avLst>
          </a:prstGeom>
          <a:solidFill xmlns:a="http://schemas.openxmlformats.org/drawingml/2006/main">
            <a:srgbClr val="E4E6E5"/>
          </a:solidFill>
          <a:ln xmlns:a="http://schemas.openxmlformats.org/drawingml/2006/main" w="9525">
            <a:solidFill>
              <a:srgbClr val="AEB1AE"/>
            </a:solidFill>
          </a:ln>
        </p:spPr>
      </p:sp>
      <p:sp>
        <p:nvSpPr>
          <p:cNvPr id="10" name="">
            <a:extLst xmlns:a="http://schemas.openxmlformats.org/drawingml/2006/main">
              <a:ext uri="{FF2B5EF4-FFF2-40B4-BE49-F238E27FC236}">
                <a16:creationId xmlns:a16="http://schemas.microsoft.com/office/drawing/2014/main" id="{C39842F2-1F22-409C-B034-FD5E9405599E}"/>
              </a:ext>
            </a:extLst>
          </p:cNvPr>
          <p:cNvSpPr>
            <a:spLocks xmlns:a="http://schemas.openxmlformats.org/drawingml/2006/main" noGrp="1"/>
          </p:cNvSpPr>
          <p:nvPr/>
        </p:nvSpPr>
        <p:spPr>
          <a:xfrm xmlns:a="http://schemas.openxmlformats.org/drawingml/2006/main">
            <a:off x="10001250" y="1323975"/>
            <a:ext cx="123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p xmlns:a="http://schemas.openxmlformats.org/drawingml/2006/main">
            <a:pPr>
              <a:defRPr sz="1125" b="1" i="0">
                <a:solidFill>
                  <a:srgbClr val="181817"/>
                </a:solidFill>
                <a:latin typeface="Avenir"/>
                <a:ea typeface="Avenir"/>
                <a:cs typeface="Avenir"/>
              </a:defRPr>
            </a:pPr>
            <a:r>
              <a:rPr sz="1125" b="1" i="0">
                <a:solidFill>
                  <a:srgbClr val="181817"/>
                </a:solidFill>
                <a:latin typeface="Avenir"/>
                <a:ea typeface="Avenir"/>
                <a:cs typeface="Avenir"/>
              </a:rPr>
              <a:t>23 MIN</a:t>
            </a:r>
          </a:p>
        </p:txBody>
      </p:sp>
      <p:sp>
        <p:nvSpPr>
          <p:cNvPr id="11" name="">
            <a:extLst xmlns:a="http://schemas.openxmlformats.org/drawingml/2006/main">
              <a:ext uri="{FF2B5EF4-FFF2-40B4-BE49-F238E27FC236}">
                <a16:creationId xmlns:a16="http://schemas.microsoft.com/office/drawing/2014/main" id="{2BFF96C7-0335-462E-A417-9A5AC1E142EB}"/>
              </a:ext>
            </a:extLst>
          </p:cNvPr>
          <p:cNvSpPr>
            <a:spLocks xmlns:a="http://schemas.openxmlformats.org/drawingml/2006/main" noGrp="1"/>
          </p:cNvSpPr>
          <p:nvPr/>
        </p:nvSpPr>
        <p:spPr>
          <a:xfrm xmlns:a="http://schemas.openxmlformats.org/drawingml/2006/main">
            <a:off x="704850" y="1952625"/>
            <a:ext cx="10287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500" b="0" i="0">
                <a:solidFill>
                  <a:srgbClr val="5B5D59"/>
                </a:solidFill>
                <a:latin typeface="Avenir"/>
                <a:ea typeface="Avenir"/>
                <a:cs typeface="Avenir"/>
              </a:defRPr>
            </a:pPr>
            <a:r>
              <a:rPr sz="1500" b="0" i="0">
                <a:solidFill>
                  <a:srgbClr val="5B5D59"/>
                </a:solidFill>
                <a:latin typeface="Avenir"/>
                <a:ea typeface="Avenir"/>
                <a:cs typeface="Avenir"/>
              </a:rPr>
              <a:t>Cada equipo produce una versión común. Debe conservar desacuerdos relevantes y declarar qué actor podría cuestionar su propósito.</a:t>
            </a:r>
          </a:p>
        </p:txBody>
      </p:sp>
      <p:sp>
        <p:nvSpPr>
          <p:cNvPr id="12" name="">
            <a:extLst xmlns:a="http://schemas.openxmlformats.org/drawingml/2006/main">
              <a:ext uri="{FF2B5EF4-FFF2-40B4-BE49-F238E27FC236}">
                <a16:creationId xmlns:a16="http://schemas.microsoft.com/office/drawing/2014/main" id="{82558B57-3C6F-4E05-9CE4-A696C11478A9}"/>
              </a:ext>
            </a:extLst>
          </p:cNvPr>
          <p:cNvSpPr>
            <a:spLocks xmlns:a="http://schemas.openxmlformats.org/drawingml/2006/main" noGrp="1"/>
          </p:cNvSpPr>
          <p:nvPr/>
        </p:nvSpPr>
        <p:spPr>
          <a:xfrm xmlns:a="http://schemas.openxmlformats.org/drawingml/2006/main">
            <a:off x="838200" y="2857500"/>
            <a:ext cx="666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200" b="1" i="0">
                <a:solidFill>
                  <a:srgbClr val="5B5D59"/>
                </a:solidFill>
                <a:latin typeface="Avenir"/>
                <a:ea typeface="Avenir"/>
                <a:cs typeface="Avenir"/>
              </a:defRPr>
            </a:pPr>
            <a:r>
              <a:rPr sz="1200" b="1" i="0">
                <a:solidFill>
                  <a:srgbClr val="5B5D59"/>
                </a:solidFill>
                <a:latin typeface="Avenir"/>
                <a:ea typeface="Avenir"/>
                <a:cs typeface="Avenir"/>
              </a:rPr>
              <a:t>01</a:t>
            </a:r>
          </a:p>
        </p:txBody>
      </p:sp>
      <p:sp>
        <p:nvSpPr>
          <p:cNvPr id="13" name="">
            <a:extLst xmlns:a="http://schemas.openxmlformats.org/drawingml/2006/main">
              <a:ext uri="{FF2B5EF4-FFF2-40B4-BE49-F238E27FC236}">
                <a16:creationId xmlns:a16="http://schemas.microsoft.com/office/drawing/2014/main" id="{64D88DAA-82F6-4381-896B-EBEAFE540A23}"/>
              </a:ext>
            </a:extLst>
          </p:cNvPr>
          <p:cNvSpPr>
            <a:spLocks xmlns:a="http://schemas.openxmlformats.org/drawingml/2006/main" noGrp="1"/>
          </p:cNvSpPr>
          <p:nvPr/>
        </p:nvSpPr>
        <p:spPr>
          <a:xfrm xmlns:a="http://schemas.openxmlformats.org/drawingml/2006/main">
            <a:off x="1619250" y="2819400"/>
            <a:ext cx="8858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800" b="1" i="0">
                <a:solidFill>
                  <a:srgbClr val="181817"/>
                </a:solidFill>
                <a:latin typeface="Avenir"/>
                <a:ea typeface="Avenir"/>
                <a:cs typeface="Avenir"/>
              </a:defRPr>
            </a:pPr>
            <a:r>
              <a:rPr sz="1800" b="1" i="0">
                <a:solidFill>
                  <a:srgbClr val="181817"/>
                </a:solidFill>
                <a:latin typeface="Avenir"/>
                <a:ea typeface="Avenir"/>
                <a:cs typeface="Avenir"/>
              </a:rPr>
              <a:t>Qué se intenta sostener</a:t>
            </a:r>
          </a:p>
        </p:txBody>
      </p:sp>
      <p:sp>
        <p:nvSpPr>
          <p:cNvPr id="14" name="">
            <a:extLst xmlns:a="http://schemas.openxmlformats.org/drawingml/2006/main">
              <a:ext uri="{FF2B5EF4-FFF2-40B4-BE49-F238E27FC236}">
                <a16:creationId xmlns:a16="http://schemas.microsoft.com/office/drawing/2014/main" id="{1C2244EA-A503-4DAC-9D5B-0AC10DF6FDC5}"/>
              </a:ext>
            </a:extLst>
          </p:cNvPr>
          <p:cNvSpPr>
            <a:spLocks xmlns:a="http://schemas.openxmlformats.org/drawingml/2006/main" noGrp="1"/>
          </p:cNvSpPr>
          <p:nvPr/>
        </p:nvSpPr>
        <p:spPr>
          <a:xfrm xmlns:a="http://schemas.openxmlformats.org/drawingml/2006/main">
            <a:off x="1619250" y="3257550"/>
            <a:ext cx="8858250" cy="9525"/>
          </a:xfrm>
          <a:prstGeom xmlns:a="http://schemas.openxmlformats.org/drawingml/2006/main" prst="rect">
            <a:avLst/>
          </a:prstGeom>
          <a:solidFill xmlns:a="http://schemas.openxmlformats.org/drawingml/2006/main">
            <a:srgbClr val="AEB1AE"/>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A7649BF1-6F8E-433B-84E2-32E3037738E1}"/>
              </a:ext>
            </a:extLst>
          </p:cNvPr>
          <p:cNvSpPr>
            <a:spLocks xmlns:a="http://schemas.openxmlformats.org/drawingml/2006/main" noGrp="1"/>
          </p:cNvSpPr>
          <p:nvPr/>
        </p:nvSpPr>
        <p:spPr>
          <a:xfrm xmlns:a="http://schemas.openxmlformats.org/drawingml/2006/main">
            <a:off x="838200" y="3543300"/>
            <a:ext cx="666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200" b="1" i="0">
                <a:solidFill>
                  <a:srgbClr val="5B5D59"/>
                </a:solidFill>
                <a:latin typeface="Avenir"/>
                <a:ea typeface="Avenir"/>
                <a:cs typeface="Avenir"/>
              </a:defRPr>
            </a:pPr>
            <a:r>
              <a:rPr sz="1200" b="1" i="0">
                <a:solidFill>
                  <a:srgbClr val="5B5D59"/>
                </a:solidFill>
                <a:latin typeface="Avenir"/>
                <a:ea typeface="Avenir"/>
                <a:cs typeface="Avenir"/>
              </a:rPr>
              <a:t>02</a:t>
            </a:r>
          </a:p>
        </p:txBody>
      </p:sp>
      <p:sp>
        <p:nvSpPr>
          <p:cNvPr id="16" name="">
            <a:extLst xmlns:a="http://schemas.openxmlformats.org/drawingml/2006/main">
              <a:ext uri="{FF2B5EF4-FFF2-40B4-BE49-F238E27FC236}">
                <a16:creationId xmlns:a16="http://schemas.microsoft.com/office/drawing/2014/main" id="{97DF623A-E7B4-4180-B38F-FD3205063E81}"/>
              </a:ext>
            </a:extLst>
          </p:cNvPr>
          <p:cNvSpPr>
            <a:spLocks xmlns:a="http://schemas.openxmlformats.org/drawingml/2006/main" noGrp="1"/>
          </p:cNvSpPr>
          <p:nvPr/>
        </p:nvSpPr>
        <p:spPr>
          <a:xfrm xmlns:a="http://schemas.openxmlformats.org/drawingml/2006/main">
            <a:off x="1619250" y="3505200"/>
            <a:ext cx="8858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800" b="0" i="0">
                <a:solidFill>
                  <a:srgbClr val="181817"/>
                </a:solidFill>
                <a:latin typeface="Avenir"/>
                <a:ea typeface="Avenir"/>
                <a:cs typeface="Avenir"/>
              </a:defRPr>
            </a:pPr>
            <a:r>
              <a:rPr sz="1800" b="0" i="0">
                <a:solidFill>
                  <a:srgbClr val="181817"/>
                </a:solidFill>
                <a:latin typeface="Avenir"/>
                <a:ea typeface="Avenir"/>
                <a:cs typeface="Avenir"/>
              </a:rPr>
              <a:t>Qué evidencia existe</a:t>
            </a:r>
          </a:p>
        </p:txBody>
      </p:sp>
      <p:sp>
        <p:nvSpPr>
          <p:cNvPr id="17" name="">
            <a:extLst xmlns:a="http://schemas.openxmlformats.org/drawingml/2006/main">
              <a:ext uri="{FF2B5EF4-FFF2-40B4-BE49-F238E27FC236}">
                <a16:creationId xmlns:a16="http://schemas.microsoft.com/office/drawing/2014/main" id="{A80EF4E6-CE48-45BE-A087-2D820500075A}"/>
              </a:ext>
            </a:extLst>
          </p:cNvPr>
          <p:cNvSpPr>
            <a:spLocks xmlns:a="http://schemas.openxmlformats.org/drawingml/2006/main" noGrp="1"/>
          </p:cNvSpPr>
          <p:nvPr/>
        </p:nvSpPr>
        <p:spPr>
          <a:xfrm xmlns:a="http://schemas.openxmlformats.org/drawingml/2006/main">
            <a:off x="1619250" y="3943350"/>
            <a:ext cx="8858250" cy="9525"/>
          </a:xfrm>
          <a:prstGeom xmlns:a="http://schemas.openxmlformats.org/drawingml/2006/main" prst="rect">
            <a:avLst/>
          </a:prstGeom>
          <a:solidFill xmlns:a="http://schemas.openxmlformats.org/drawingml/2006/main">
            <a:srgbClr val="AEB1AE"/>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5725FA41-3570-4F0F-BAC1-ED6642942945}"/>
              </a:ext>
            </a:extLst>
          </p:cNvPr>
          <p:cNvSpPr>
            <a:spLocks xmlns:a="http://schemas.openxmlformats.org/drawingml/2006/main" noGrp="1"/>
          </p:cNvSpPr>
          <p:nvPr/>
        </p:nvSpPr>
        <p:spPr>
          <a:xfrm xmlns:a="http://schemas.openxmlformats.org/drawingml/2006/main">
            <a:off x="838200" y="4229100"/>
            <a:ext cx="666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200" b="1" i="0">
                <a:solidFill>
                  <a:srgbClr val="5B5D59"/>
                </a:solidFill>
                <a:latin typeface="Avenir"/>
                <a:ea typeface="Avenir"/>
                <a:cs typeface="Avenir"/>
              </a:defRPr>
            </a:pPr>
            <a:r>
              <a:rPr sz="1200" b="1" i="0">
                <a:solidFill>
                  <a:srgbClr val="5B5D59"/>
                </a:solidFill>
                <a:latin typeface="Avenir"/>
                <a:ea typeface="Avenir"/>
                <a:cs typeface="Avenir"/>
              </a:rPr>
              <a:t>03</a:t>
            </a:r>
          </a:p>
        </p:txBody>
      </p:sp>
      <p:sp>
        <p:nvSpPr>
          <p:cNvPr id="19" name="">
            <a:extLst xmlns:a="http://schemas.openxmlformats.org/drawingml/2006/main">
              <a:ext uri="{FF2B5EF4-FFF2-40B4-BE49-F238E27FC236}">
                <a16:creationId xmlns:a16="http://schemas.microsoft.com/office/drawing/2014/main" id="{50C69F25-0225-4F8D-9CD1-4E39490240D5}"/>
              </a:ext>
            </a:extLst>
          </p:cNvPr>
          <p:cNvSpPr>
            <a:spLocks xmlns:a="http://schemas.openxmlformats.org/drawingml/2006/main" noGrp="1"/>
          </p:cNvSpPr>
          <p:nvPr/>
        </p:nvSpPr>
        <p:spPr>
          <a:xfrm xmlns:a="http://schemas.openxmlformats.org/drawingml/2006/main">
            <a:off x="1619250" y="4191000"/>
            <a:ext cx="8858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800" b="0" i="0">
                <a:solidFill>
                  <a:srgbClr val="181817"/>
                </a:solidFill>
                <a:latin typeface="Avenir"/>
                <a:ea typeface="Avenir"/>
                <a:cs typeface="Avenir"/>
              </a:defRPr>
            </a:pPr>
            <a:r>
              <a:rPr sz="1800" b="0" i="0">
                <a:solidFill>
                  <a:srgbClr val="181817"/>
                </a:solidFill>
                <a:latin typeface="Avenir"/>
                <a:ea typeface="Avenir"/>
                <a:cs typeface="Avenir"/>
              </a:rPr>
              <a:t>Qué falta distinguir</a:t>
            </a:r>
          </a:p>
        </p:txBody>
      </p:sp>
      <p:sp>
        <p:nvSpPr>
          <p:cNvPr id="20" name="">
            <a:extLst xmlns:a="http://schemas.openxmlformats.org/drawingml/2006/main">
              <a:ext uri="{FF2B5EF4-FFF2-40B4-BE49-F238E27FC236}">
                <a16:creationId xmlns:a16="http://schemas.microsoft.com/office/drawing/2014/main" id="{A70106CB-226E-433C-BD33-BFB5B84B6208}"/>
              </a:ext>
            </a:extLst>
          </p:cNvPr>
          <p:cNvSpPr>
            <a:spLocks xmlns:a="http://schemas.openxmlformats.org/drawingml/2006/main" noGrp="1"/>
          </p:cNvSpPr>
          <p:nvPr/>
        </p:nvSpPr>
        <p:spPr>
          <a:xfrm xmlns:a="http://schemas.openxmlformats.org/drawingml/2006/main">
            <a:off x="1619250" y="4629150"/>
            <a:ext cx="8858250" cy="9525"/>
          </a:xfrm>
          <a:prstGeom xmlns:a="http://schemas.openxmlformats.org/drawingml/2006/main" prst="rect">
            <a:avLst/>
          </a:prstGeom>
          <a:solidFill xmlns:a="http://schemas.openxmlformats.org/drawingml/2006/main">
            <a:srgbClr val="AEB1AE"/>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6CC4D160-9F70-430A-BFD6-00CB44FE10A9}"/>
              </a:ext>
            </a:extLst>
          </p:cNvPr>
          <p:cNvSpPr>
            <a:spLocks xmlns:a="http://schemas.openxmlformats.org/drawingml/2006/main" noGrp="1"/>
          </p:cNvSpPr>
          <p:nvPr/>
        </p:nvSpPr>
        <p:spPr>
          <a:xfrm xmlns:a="http://schemas.openxmlformats.org/drawingml/2006/main">
            <a:off x="838200" y="4914900"/>
            <a:ext cx="666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200" b="1" i="0">
                <a:solidFill>
                  <a:srgbClr val="5B5D59"/>
                </a:solidFill>
                <a:latin typeface="Avenir"/>
                <a:ea typeface="Avenir"/>
                <a:cs typeface="Avenir"/>
              </a:defRPr>
            </a:pPr>
            <a:r>
              <a:rPr sz="1200" b="1" i="0">
                <a:solidFill>
                  <a:srgbClr val="5B5D59"/>
                </a:solidFill>
                <a:latin typeface="Avenir"/>
                <a:ea typeface="Avenir"/>
                <a:cs typeface="Avenir"/>
              </a:rPr>
              <a:t>04</a:t>
            </a:r>
          </a:p>
        </p:txBody>
      </p:sp>
      <p:sp>
        <p:nvSpPr>
          <p:cNvPr id="22" name="">
            <a:extLst xmlns:a="http://schemas.openxmlformats.org/drawingml/2006/main">
              <a:ext uri="{FF2B5EF4-FFF2-40B4-BE49-F238E27FC236}">
                <a16:creationId xmlns:a16="http://schemas.microsoft.com/office/drawing/2014/main" id="{AAB3FEFB-21B6-47F0-898D-1CA2534443E2}"/>
              </a:ext>
            </a:extLst>
          </p:cNvPr>
          <p:cNvSpPr>
            <a:spLocks xmlns:a="http://schemas.openxmlformats.org/drawingml/2006/main" noGrp="1"/>
          </p:cNvSpPr>
          <p:nvPr/>
        </p:nvSpPr>
        <p:spPr>
          <a:xfrm xmlns:a="http://schemas.openxmlformats.org/drawingml/2006/main">
            <a:off x="1619250" y="4876800"/>
            <a:ext cx="8858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800" b="0" i="0">
                <a:solidFill>
                  <a:srgbClr val="181817"/>
                </a:solidFill>
                <a:latin typeface="Avenir"/>
                <a:ea typeface="Avenir"/>
                <a:cs typeface="Avenir"/>
              </a:defRPr>
            </a:pPr>
            <a:r>
              <a:rPr sz="1800" b="0" i="0">
                <a:solidFill>
                  <a:srgbClr val="181817"/>
                </a:solidFill>
                <a:latin typeface="Avenir"/>
                <a:ea typeface="Avenir"/>
                <a:cs typeface="Avenir"/>
              </a:rPr>
              <a:t>Qué decisión cambia</a:t>
            </a:r>
          </a:p>
        </p:txBody>
      </p:sp>
      <p:sp>
        <p:nvSpPr>
          <p:cNvPr id="23" name="">
            <a:extLst xmlns:a="http://schemas.openxmlformats.org/drawingml/2006/main">
              <a:ext uri="{FF2B5EF4-FFF2-40B4-BE49-F238E27FC236}">
                <a16:creationId xmlns:a16="http://schemas.microsoft.com/office/drawing/2014/main" id="{E10E81DD-0218-43F6-B7A3-229A44C2210F}"/>
              </a:ext>
            </a:extLst>
          </p:cNvPr>
          <p:cNvSpPr>
            <a:spLocks xmlns:a="http://schemas.openxmlformats.org/drawingml/2006/main" noGrp="1"/>
          </p:cNvSpPr>
          <p:nvPr/>
        </p:nvSpPr>
        <p:spPr>
          <a:xfrm xmlns:a="http://schemas.openxmlformats.org/drawingml/2006/main">
            <a:off x="1619250" y="5314950"/>
            <a:ext cx="8858250" cy="9525"/>
          </a:xfrm>
          <a:prstGeom xmlns:a="http://schemas.openxmlformats.org/drawingml/2006/main" prst="rect">
            <a:avLst/>
          </a:prstGeom>
          <a:solidFill xmlns:a="http://schemas.openxmlformats.org/drawingml/2006/main">
            <a:srgbClr val="AEB1AE"/>
          </a:solidFill>
          <a:ln xmlns:a="http://schemas.openxmlformats.org/drawingml/2006/main" w="0">
            <a:noFill/>
          </a:ln>
        </p:spPr>
      </p:sp>
    </p:spTree>
    <p:extLst>
      <p:ext uri="{BB962C8B-B14F-4D97-AF65-F5344CB8AC3E}">
        <p14:creationId xmlns:p14="http://schemas.microsoft.com/office/powerpoint/2010/main" val="1117963845"/>
      </p:ext>
    </p:extLst>
  </p:cSld>
</p:sld>
</file>

<file path=ppt/slides/slide6.xml><?xml version="1.0" encoding="utf-8"?>
<p:sld xmlns:p="http://schemas.openxmlformats.org/presentationml/2006/main">
  <p:cSld>
    <p:bg>
      <p:bgPr>
        <a:solidFill xmlns:a="http://schemas.openxmlformats.org/drawingml/2006/main">
          <a:srgbClr val="FAFAF8"/>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4B1DC65E-692B-4314-A948-87DB164E369B}"/>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CFFF00"/>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CBBDDD6B-BBC9-4C68-8FEE-E61D7F019DE3}"/>
              </a:ext>
            </a:extLst>
          </p:cNvPr>
          <p:cNvSpPr>
            <a:spLocks xmlns:a="http://schemas.openxmlformats.org/drawingml/2006/main" noGrp="1"/>
          </p:cNvSpPr>
          <p:nvPr/>
        </p:nvSpPr>
        <p:spPr>
          <a:xfrm xmlns:a="http://schemas.openxmlformats.org/drawingml/2006/main">
            <a:off x="514350" y="323850"/>
            <a:ext cx="2381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5833"/>
          </a:bodyPr>
          <a:lstStyle xmlns:a="http://schemas.openxmlformats.org/drawingml/2006/main"/>
          <a:p xmlns:a="http://schemas.openxmlformats.org/drawingml/2006/main">
            <a:pPr>
              <a:defRPr sz="1200" b="1" i="0">
                <a:solidFill>
                  <a:srgbClr val="5B5D59"/>
                </a:solidFill>
                <a:latin typeface="Avenir"/>
                <a:ea typeface="Avenir"/>
                <a:cs typeface="Avenir"/>
              </a:defRPr>
            </a:pPr>
            <a:r>
              <a:rPr sz="1200" b="1" i="0">
                <a:solidFill>
                  <a:srgbClr val="5B5D59"/>
                </a:solidFill>
                <a:latin typeface="Avenir"/>
                <a:ea typeface="Avenir"/>
                <a:cs typeface="Avenir"/>
              </a:rPr>
              <a:t>N01  ·  METSI</a:t>
            </a:r>
          </a:p>
        </p:txBody>
      </p:sp>
      <p:sp>
        <p:nvSpPr>
          <p:cNvPr id="3" name="">
            <a:extLst xmlns:a="http://schemas.openxmlformats.org/drawingml/2006/main">
              <a:ext uri="{FF2B5EF4-FFF2-40B4-BE49-F238E27FC236}">
                <a16:creationId xmlns:a16="http://schemas.microsoft.com/office/drawing/2014/main" id="{A8747993-2C88-4BA3-B754-464882417210}"/>
              </a:ext>
            </a:extLst>
          </p:cNvPr>
          <p:cNvSpPr>
            <a:spLocks xmlns:a="http://schemas.openxmlformats.org/drawingml/2006/main" noGrp="1"/>
          </p:cNvSpPr>
          <p:nvPr/>
        </p:nvSpPr>
        <p:spPr>
          <a:xfrm xmlns:a="http://schemas.openxmlformats.org/drawingml/2006/main">
            <a:off x="10858500" y="29527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350" b="1" i="0">
                <a:solidFill>
                  <a:srgbClr val="181817"/>
                </a:solidFill>
                <a:latin typeface="Avenir"/>
                <a:ea typeface="Avenir"/>
                <a:cs typeface="Avenir"/>
              </a:defRPr>
            </a:pPr>
            <a:r>
              <a:rPr sz="1350" b="1" i="0">
                <a:solidFill>
                  <a:srgbClr val="181817"/>
                </a:solidFill>
                <a:latin typeface="Avenir"/>
                <a:ea typeface="Avenir"/>
                <a:cs typeface="Avenir"/>
              </a:rPr>
              <a:t>06</a:t>
            </a:r>
          </a:p>
        </p:txBody>
      </p:sp>
      <p:sp>
        <p:nvSpPr>
          <p:cNvPr id="4" name="">
            <a:extLst xmlns:a="http://schemas.openxmlformats.org/drawingml/2006/main">
              <a:ext uri="{FF2B5EF4-FFF2-40B4-BE49-F238E27FC236}">
                <a16:creationId xmlns:a16="http://schemas.microsoft.com/office/drawing/2014/main" id="{7846EF62-5AD4-4721-BB13-5095665E5210}"/>
              </a:ext>
            </a:extLst>
          </p:cNvPr>
          <p:cNvSpPr>
            <a:spLocks xmlns:a="http://schemas.openxmlformats.org/drawingml/2006/main" noGrp="1"/>
          </p:cNvSpPr>
          <p:nvPr/>
        </p:nvSpPr>
        <p:spPr>
          <a:xfrm xmlns:a="http://schemas.openxmlformats.org/drawingml/2006/main">
            <a:off x="7239000" y="352425"/>
            <a:ext cx="338137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3939"/>
          </a:bodyPr>
          <a:lstStyle xmlns:a="http://schemas.openxmlformats.org/drawingml/2006/main"/>
          <a:p xmlns:a="http://schemas.openxmlformats.org/drawingml/2006/main">
            <a:pPr>
              <a:defRPr sz="825" b="1" i="0">
                <a:solidFill>
                  <a:srgbClr val="5B5D59"/>
                </a:solidFill>
                <a:latin typeface="Avenir"/>
                <a:ea typeface="Avenir"/>
                <a:cs typeface="Avenir"/>
              </a:defRPr>
            </a:pPr>
            <a:r>
              <a:rPr sz="825" b="1" i="0">
                <a:solidFill>
                  <a:srgbClr val="5B5D59"/>
                </a:solidFill>
                <a:latin typeface="Avenir"/>
                <a:ea typeface="Avenir"/>
                <a:cs typeface="Avenir"/>
              </a:rPr>
              <a:t>BLOQUE A · ENCUADRE  ·  ENCUENTRO</a:t>
            </a:r>
          </a:p>
        </p:txBody>
      </p:sp>
      <p:sp>
        <p:nvSpPr>
          <p:cNvPr id="5" name="">
            <a:extLst xmlns:a="http://schemas.openxmlformats.org/drawingml/2006/main">
              <a:ext uri="{FF2B5EF4-FFF2-40B4-BE49-F238E27FC236}">
                <a16:creationId xmlns:a16="http://schemas.microsoft.com/office/drawing/2014/main" id="{24A48B15-5730-4DBF-96E3-C86BD5F9C9AE}"/>
              </a:ext>
            </a:extLst>
          </p:cNvPr>
          <p:cNvSpPr>
            <a:spLocks xmlns:a="http://schemas.openxmlformats.org/drawingml/2006/main" noGrp="1"/>
          </p:cNvSpPr>
          <p:nvPr/>
        </p:nvSpPr>
        <p:spPr>
          <a:xfrm xmlns:a="http://schemas.openxmlformats.org/drawingml/2006/main">
            <a:off x="514350" y="781050"/>
            <a:ext cx="11049000" cy="19050"/>
          </a:xfrm>
          <a:prstGeom xmlns:a="http://schemas.openxmlformats.org/drawingml/2006/main" prst="rect">
            <a:avLst/>
          </a:prstGeom>
          <a:solidFill xmlns:a="http://schemas.openxmlformats.org/drawingml/2006/main">
            <a:srgbClr val="181817"/>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2A10654D-020F-427A-990F-6D8DCEB373A8}"/>
              </a:ext>
            </a:extLst>
          </p:cNvPr>
          <p:cNvSpPr>
            <a:spLocks xmlns:a="http://schemas.openxmlformats.org/drawingml/2006/main" noGrp="1"/>
          </p:cNvSpPr>
          <p:nvPr/>
        </p:nvSpPr>
        <p:spPr>
          <a:xfrm xmlns:a="http://schemas.openxmlformats.org/drawingml/2006/main">
            <a:off x="514350" y="6486525"/>
            <a:ext cx="11049000" cy="9525"/>
          </a:xfrm>
          <a:prstGeom xmlns:a="http://schemas.openxmlformats.org/drawingml/2006/main" prst="rect">
            <a:avLst/>
          </a:prstGeom>
          <a:solidFill xmlns:a="http://schemas.openxmlformats.org/drawingml/2006/main">
            <a:srgbClr val="AEB1AE"/>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EDAAC236-A6C2-4376-86B5-BBA46DD28B84}"/>
              </a:ext>
            </a:extLst>
          </p:cNvPr>
          <p:cNvSpPr>
            <a:spLocks xmlns:a="http://schemas.openxmlformats.org/drawingml/2006/main" noGrp="1"/>
          </p:cNvSpPr>
          <p:nvPr/>
        </p:nvSpPr>
        <p:spPr>
          <a:xfrm xmlns:a="http://schemas.openxmlformats.org/drawingml/2006/main">
            <a:off x="514350" y="6553200"/>
            <a:ext cx="5334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8788"/>
          </a:bodyPr>
          <a:lstStyle xmlns:a="http://schemas.openxmlformats.org/drawingml/2006/main"/>
          <a:p xmlns:a="http://schemas.openxmlformats.org/drawingml/2006/main">
            <a:pPr>
              <a:defRPr sz="825" b="0" i="0">
                <a:solidFill>
                  <a:srgbClr val="5B5D59"/>
                </a:solidFill>
                <a:latin typeface="Avenir"/>
                <a:ea typeface="Avenir"/>
                <a:cs typeface="Avenir"/>
              </a:defRPr>
            </a:pPr>
            <a:r>
              <a:rPr sz="825" b="0" i="0">
                <a:solidFill>
                  <a:srgbClr val="5B5D59"/>
                </a:solidFill>
                <a:latin typeface="Avenir"/>
                <a:ea typeface="Avenir"/>
                <a:cs typeface="Avenir"/>
              </a:rPr>
              <a:t>Metodología de Sistemas de Información · FCE UBA</a:t>
            </a:r>
          </a:p>
        </p:txBody>
      </p:sp>
      <p:sp>
        <p:nvSpPr>
          <p:cNvPr id="8" name="">
            <a:extLst xmlns:a="http://schemas.openxmlformats.org/drawingml/2006/main">
              <a:ext uri="{FF2B5EF4-FFF2-40B4-BE49-F238E27FC236}">
                <a16:creationId xmlns:a16="http://schemas.microsoft.com/office/drawing/2014/main" id="{471D8605-81EA-441C-AEE9-FA28F2A1301D}"/>
              </a:ext>
            </a:extLst>
          </p:cNvPr>
          <p:cNvSpPr>
            <a:spLocks xmlns:a="http://schemas.openxmlformats.org/drawingml/2006/main" noGrp="1"/>
          </p:cNvSpPr>
          <p:nvPr/>
        </p:nvSpPr>
        <p:spPr>
          <a:xfrm xmlns:a="http://schemas.openxmlformats.org/drawingml/2006/main">
            <a:off x="704850" y="1066800"/>
            <a:ext cx="8763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3000" b="0" i="0">
                <a:solidFill>
                  <a:srgbClr val="181817"/>
                </a:solidFill>
                <a:latin typeface="Didot"/>
                <a:ea typeface="Didot"/>
                <a:cs typeface="Didot"/>
              </a:defRPr>
            </a:pPr>
            <a:r>
              <a:rPr sz="3000" b="0" i="0">
                <a:solidFill>
                  <a:srgbClr val="181817"/>
                </a:solidFill>
                <a:latin typeface="Didot"/>
                <a:ea typeface="Didot"/>
                <a:cs typeface="Didot"/>
              </a:rPr>
              <a:t>Perturbación</a:t>
            </a:r>
          </a:p>
        </p:txBody>
      </p:sp>
      <p:sp>
        <p:nvSpPr>
          <p:cNvPr id="9" name="">
            <a:extLst xmlns:a="http://schemas.openxmlformats.org/drawingml/2006/main">
              <a:ext uri="{FF2B5EF4-FFF2-40B4-BE49-F238E27FC236}">
                <a16:creationId xmlns:a16="http://schemas.microsoft.com/office/drawing/2014/main" id="{B7E8689B-4C17-4046-9110-D5BD493FC604}"/>
              </a:ext>
            </a:extLst>
          </p:cNvPr>
          <p:cNvSpPr>
            <a:spLocks xmlns:a="http://schemas.openxmlformats.org/drawingml/2006/main" noGrp="1"/>
          </p:cNvSpPr>
          <p:nvPr/>
        </p:nvSpPr>
        <p:spPr>
          <a:xfrm xmlns:a="http://schemas.openxmlformats.org/drawingml/2006/main">
            <a:off x="10001250" y="1200150"/>
            <a:ext cx="1238250" cy="514350"/>
          </a:xfrm>
          <a:prstGeom xmlns:a="http://schemas.openxmlformats.org/drawingml/2006/main" prst="roundRect">
            <a:avLst>
              <a:gd name="adj" fmla="val 14815"/>
            </a:avLst>
          </a:prstGeom>
          <a:solidFill xmlns:a="http://schemas.openxmlformats.org/drawingml/2006/main">
            <a:srgbClr val="E4E6E5"/>
          </a:solidFill>
          <a:ln xmlns:a="http://schemas.openxmlformats.org/drawingml/2006/main" w="9525">
            <a:solidFill>
              <a:srgbClr val="AEB1AE"/>
            </a:solidFill>
          </a:ln>
        </p:spPr>
      </p:sp>
      <p:sp>
        <p:nvSpPr>
          <p:cNvPr id="10" name="">
            <a:extLst xmlns:a="http://schemas.openxmlformats.org/drawingml/2006/main">
              <a:ext uri="{FF2B5EF4-FFF2-40B4-BE49-F238E27FC236}">
                <a16:creationId xmlns:a16="http://schemas.microsoft.com/office/drawing/2014/main" id="{0C7D42D6-0025-4AD1-BFA1-D9EB900BA44D}"/>
              </a:ext>
            </a:extLst>
          </p:cNvPr>
          <p:cNvSpPr>
            <a:spLocks xmlns:a="http://schemas.openxmlformats.org/drawingml/2006/main" noGrp="1"/>
          </p:cNvSpPr>
          <p:nvPr/>
        </p:nvSpPr>
        <p:spPr>
          <a:xfrm xmlns:a="http://schemas.openxmlformats.org/drawingml/2006/main">
            <a:off x="10001250" y="1323975"/>
            <a:ext cx="123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p xmlns:a="http://schemas.openxmlformats.org/drawingml/2006/main">
            <a:pPr>
              <a:defRPr sz="1125" b="1" i="0">
                <a:solidFill>
                  <a:srgbClr val="181817"/>
                </a:solidFill>
                <a:latin typeface="Avenir"/>
                <a:ea typeface="Avenir"/>
                <a:cs typeface="Avenir"/>
              </a:defRPr>
            </a:pPr>
            <a:r>
              <a:rPr sz="1125" b="1" i="0">
                <a:solidFill>
                  <a:srgbClr val="181817"/>
                </a:solidFill>
                <a:latin typeface="Avenir"/>
                <a:ea typeface="Avenir"/>
                <a:cs typeface="Avenir"/>
              </a:rPr>
              <a:t>20 MIN</a:t>
            </a:r>
          </a:p>
        </p:txBody>
      </p:sp>
      <p:sp>
        <p:nvSpPr>
          <p:cNvPr id="11" name="">
            <a:extLst xmlns:a="http://schemas.openxmlformats.org/drawingml/2006/main">
              <a:ext uri="{FF2B5EF4-FFF2-40B4-BE49-F238E27FC236}">
                <a16:creationId xmlns:a16="http://schemas.microsoft.com/office/drawing/2014/main" id="{C4AEE748-5645-492C-A38D-2869BD0B2865}"/>
              </a:ext>
            </a:extLst>
          </p:cNvPr>
          <p:cNvSpPr>
            <a:spLocks xmlns:a="http://schemas.openxmlformats.org/drawingml/2006/main" noGrp="1"/>
          </p:cNvSpPr>
          <p:nvPr/>
        </p:nvSpPr>
        <p:spPr>
          <a:xfrm xmlns:a="http://schemas.openxmlformats.org/drawingml/2006/main">
            <a:off x="704850" y="2114550"/>
            <a:ext cx="10763250" cy="3371850"/>
          </a:xfrm>
          <a:prstGeom xmlns:a="http://schemas.openxmlformats.org/drawingml/2006/main" prst="rect">
            <a:avLst/>
          </a:prstGeom>
          <a:solidFill xmlns:a="http://schemas.openxmlformats.org/drawingml/2006/main">
            <a:srgbClr val="E4E6E5"/>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06D7D78F-6728-4F9A-BADE-E3B07BD0D50B}"/>
              </a:ext>
            </a:extLst>
          </p:cNvPr>
          <p:cNvSpPr>
            <a:spLocks xmlns:a="http://schemas.openxmlformats.org/drawingml/2006/main" noGrp="1"/>
          </p:cNvSpPr>
          <p:nvPr/>
        </p:nvSpPr>
        <p:spPr>
          <a:xfrm xmlns:a="http://schemas.openxmlformats.org/drawingml/2006/main">
            <a:off x="990600" y="2362200"/>
            <a:ext cx="285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0000"/>
          </a:bodyPr>
          <a:lstStyle xmlns:a="http://schemas.openxmlformats.org/drawingml/2006/main"/>
          <a:p xmlns:a="http://schemas.openxmlformats.org/drawingml/2006/main">
            <a:pPr>
              <a:defRPr sz="1125" b="1" i="0">
                <a:solidFill>
                  <a:srgbClr val="5B5D59"/>
                </a:solidFill>
                <a:latin typeface="Avenir"/>
                <a:ea typeface="Avenir"/>
                <a:cs typeface="Avenir"/>
              </a:defRPr>
            </a:pPr>
            <a:r>
              <a:rPr sz="1125" b="1" i="0">
                <a:solidFill>
                  <a:srgbClr val="5B5D59"/>
                </a:solidFill>
                <a:latin typeface="Avenir"/>
                <a:ea typeface="Avenir"/>
                <a:cs typeface="Avenir"/>
              </a:rPr>
              <a:t>TRABAJO DE EQUIPO</a:t>
            </a:r>
          </a:p>
        </p:txBody>
      </p:sp>
      <p:sp>
        <p:nvSpPr>
          <p:cNvPr id="13" name="">
            <a:extLst xmlns:a="http://schemas.openxmlformats.org/drawingml/2006/main">
              <a:ext uri="{FF2B5EF4-FFF2-40B4-BE49-F238E27FC236}">
                <a16:creationId xmlns:a16="http://schemas.microsoft.com/office/drawing/2014/main" id="{A7C7C172-709A-49CC-A6E8-C5A2D0F20EEA}"/>
              </a:ext>
            </a:extLst>
          </p:cNvPr>
          <p:cNvSpPr>
            <a:spLocks xmlns:a="http://schemas.openxmlformats.org/drawingml/2006/main" noGrp="1"/>
          </p:cNvSpPr>
          <p:nvPr/>
        </p:nvSpPr>
        <p:spPr>
          <a:xfrm xmlns:a="http://schemas.openxmlformats.org/drawingml/2006/main">
            <a:off x="990600" y="2800350"/>
            <a:ext cx="7810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2550" b="0" i="0">
                <a:solidFill>
                  <a:srgbClr val="181817"/>
                </a:solidFill>
                <a:latin typeface="Didot"/>
                <a:ea typeface="Didot"/>
                <a:cs typeface="Didot"/>
              </a:defRPr>
            </a:pPr>
            <a:r>
              <a:rPr sz="2550" b="0" i="0">
                <a:solidFill>
                  <a:srgbClr val="181817"/>
                </a:solidFill>
                <a:latin typeface="Didot"/>
                <a:ea typeface="Didot"/>
                <a:cs typeface="Didot"/>
              </a:rPr>
              <a:t>Plantilla HH-01 vacía y reloj</a:t>
            </a:r>
          </a:p>
        </p:txBody>
      </p:sp>
      <p:sp>
        <p:nvSpPr>
          <p:cNvPr id="14" name="">
            <a:extLst xmlns:a="http://schemas.openxmlformats.org/drawingml/2006/main">
              <a:ext uri="{FF2B5EF4-FFF2-40B4-BE49-F238E27FC236}">
                <a16:creationId xmlns:a16="http://schemas.microsoft.com/office/drawing/2014/main" id="{998633FA-CE7A-4A7A-9225-811DCC216D66}"/>
              </a:ext>
            </a:extLst>
          </p:cNvPr>
          <p:cNvSpPr>
            <a:spLocks xmlns:a="http://schemas.openxmlformats.org/drawingml/2006/main" noGrp="1"/>
          </p:cNvSpPr>
          <p:nvPr/>
        </p:nvSpPr>
        <p:spPr>
          <a:xfrm xmlns:a="http://schemas.openxmlformats.org/drawingml/2006/main">
            <a:off x="990600" y="3638550"/>
            <a:ext cx="809625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575" b="0" i="0">
                <a:solidFill>
                  <a:srgbClr val="181817"/>
                </a:solidFill>
                <a:latin typeface="Avenir"/>
                <a:ea typeface="Avenir"/>
                <a:cs typeface="Avenir"/>
              </a:defRPr>
            </a:pPr>
            <a:r>
              <a:rPr sz="1575" b="0" i="0">
                <a:solidFill>
                  <a:srgbClr val="181817"/>
                </a:solidFill>
                <a:latin typeface="Avenir"/>
                <a:ea typeface="Avenir"/>
                <a:cs typeface="Avenir"/>
              </a:rPr>
              <a:t>Cada equipo recibe dos piezas de evidencia elegidas para tensionar su explicación: 1. el PMS respondió dentro del tiempo acordado durante el episodio; 2. Recepción no pudo asignar una habitación declarada limpia; 3. Comercial publicó una condición que Operaciones no había validado; 4.…</a:t>
            </a:r>
          </a:p>
        </p:txBody>
      </p:sp>
      <p:sp>
        <p:nvSpPr>
          <p:cNvPr id="15" name="">
            <a:extLst xmlns:a="http://schemas.openxmlformats.org/drawingml/2006/main">
              <a:ext uri="{FF2B5EF4-FFF2-40B4-BE49-F238E27FC236}">
                <a16:creationId xmlns:a16="http://schemas.microsoft.com/office/drawing/2014/main" id="{0E7B95A6-A5CD-4607-8E38-4B217ADCD123}"/>
              </a:ext>
            </a:extLst>
          </p:cNvPr>
          <p:cNvSpPr>
            <a:spLocks xmlns:a="http://schemas.openxmlformats.org/drawingml/2006/main" noGrp="1"/>
          </p:cNvSpPr>
          <p:nvPr/>
        </p:nvSpPr>
        <p:spPr>
          <a:xfrm xmlns:a="http://schemas.openxmlformats.org/drawingml/2006/main">
            <a:off x="9620250" y="2457450"/>
            <a:ext cx="1143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5714"/>
          </a:bodyPr>
          <a:lstStyle xmlns:a="http://schemas.openxmlformats.org/drawingml/2006/main"/>
          <a:p xmlns:a="http://schemas.openxmlformats.org/drawingml/2006/main">
            <a:pPr>
              <a:defRPr sz="1050" b="1" i="0">
                <a:solidFill>
                  <a:srgbClr val="5B5D59"/>
                </a:solidFill>
                <a:latin typeface="Avenir"/>
                <a:ea typeface="Avenir"/>
                <a:cs typeface="Avenir"/>
              </a:defRPr>
            </a:pPr>
            <a:r>
              <a:rPr sz="1050" b="1" i="0">
                <a:solidFill>
                  <a:srgbClr val="5B5D59"/>
                </a:solidFill>
                <a:latin typeface="Avenir"/>
                <a:ea typeface="Avenir"/>
                <a:cs typeface="Avenir"/>
              </a:rPr>
              <a:t>TIEMPO</a:t>
            </a:r>
          </a:p>
        </p:txBody>
      </p:sp>
      <p:sp>
        <p:nvSpPr>
          <p:cNvPr id="16" name="">
            <a:extLst xmlns:a="http://schemas.openxmlformats.org/drawingml/2006/main">
              <a:ext uri="{FF2B5EF4-FFF2-40B4-BE49-F238E27FC236}">
                <a16:creationId xmlns:a16="http://schemas.microsoft.com/office/drawing/2014/main" id="{89DBBEEA-A1AD-4F10-945C-BF0C9AB34727}"/>
              </a:ext>
            </a:extLst>
          </p:cNvPr>
          <p:cNvSpPr>
            <a:spLocks xmlns:a="http://schemas.openxmlformats.org/drawingml/2006/main" noGrp="1"/>
          </p:cNvSpPr>
          <p:nvPr/>
        </p:nvSpPr>
        <p:spPr>
          <a:xfrm xmlns:a="http://schemas.openxmlformats.org/drawingml/2006/main">
            <a:off x="9601200" y="2933700"/>
            <a:ext cx="119062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800" b="0" i="0">
                <a:solidFill>
                  <a:srgbClr val="181817"/>
                </a:solidFill>
                <a:latin typeface="Didot"/>
                <a:ea typeface="Didot"/>
                <a:cs typeface="Didot"/>
              </a:defRPr>
            </a:pPr>
            <a:r>
              <a:rPr sz="1800" b="0" i="0">
                <a:solidFill>
                  <a:srgbClr val="181817"/>
                </a:solidFill>
                <a:latin typeface="Didot"/>
                <a:ea typeface="Didot"/>
                <a:cs typeface="Didot"/>
              </a:rPr>
              <a:t>20</a:t>
            </a:r>
          </a:p>
          <a:p xmlns:a="http://schemas.openxmlformats.org/drawingml/2006/main">
            <a:pPr>
              <a:defRPr sz="1800" b="0" i="0">
                <a:solidFill>
                  <a:srgbClr val="181817"/>
                </a:solidFill>
                <a:latin typeface="Didot"/>
                <a:ea typeface="Didot"/>
                <a:cs typeface="Didot"/>
              </a:defRPr>
            </a:pPr>
            <a:r>
              <a:rPr sz="1800" b="0" i="0">
                <a:solidFill>
                  <a:srgbClr val="181817"/>
                </a:solidFill>
                <a:latin typeface="Didot"/>
                <a:ea typeface="Didot"/>
                <a:cs typeface="Didot"/>
              </a:rPr>
              <a:t>minutos</a:t>
            </a:r>
          </a:p>
        </p:txBody>
      </p:sp>
    </p:spTree>
    <p:extLst>
      <p:ext uri="{BB962C8B-B14F-4D97-AF65-F5344CB8AC3E}">
        <p14:creationId xmlns:p14="http://schemas.microsoft.com/office/powerpoint/2010/main" val="1740257310"/>
      </p:ext>
    </p:extLst>
  </p:cSld>
</p:sld>
</file>

<file path=ppt/slides/slide7.xml><?xml version="1.0" encoding="utf-8"?>
<p:sld xmlns:p="http://schemas.openxmlformats.org/presentationml/2006/main">
  <p:cSld>
    <p:bg>
      <p:bgPr>
        <a:solidFill xmlns:a="http://schemas.openxmlformats.org/drawingml/2006/main">
          <a:srgbClr val="FAFAF8"/>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FF6DD69B-9998-453F-82EC-2D24A1CF8DCC}"/>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CFFF00"/>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31FF629B-5B8E-45DF-B640-BEFE350A5FE2}"/>
              </a:ext>
            </a:extLst>
          </p:cNvPr>
          <p:cNvSpPr>
            <a:spLocks xmlns:a="http://schemas.openxmlformats.org/drawingml/2006/main" noGrp="1"/>
          </p:cNvSpPr>
          <p:nvPr/>
        </p:nvSpPr>
        <p:spPr>
          <a:xfrm xmlns:a="http://schemas.openxmlformats.org/drawingml/2006/main">
            <a:off x="514350" y="323850"/>
            <a:ext cx="2381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5833"/>
          </a:bodyPr>
          <a:lstStyle xmlns:a="http://schemas.openxmlformats.org/drawingml/2006/main"/>
          <a:p xmlns:a="http://schemas.openxmlformats.org/drawingml/2006/main">
            <a:pPr>
              <a:defRPr sz="1200" b="1" i="0">
                <a:solidFill>
                  <a:srgbClr val="5B5D59"/>
                </a:solidFill>
                <a:latin typeface="Avenir"/>
                <a:ea typeface="Avenir"/>
                <a:cs typeface="Avenir"/>
              </a:defRPr>
            </a:pPr>
            <a:r>
              <a:rPr sz="1200" b="1" i="0">
                <a:solidFill>
                  <a:srgbClr val="5B5D59"/>
                </a:solidFill>
                <a:latin typeface="Avenir"/>
                <a:ea typeface="Avenir"/>
                <a:cs typeface="Avenir"/>
              </a:rPr>
              <a:t>N01  ·  METSI</a:t>
            </a:r>
          </a:p>
        </p:txBody>
      </p:sp>
      <p:sp>
        <p:nvSpPr>
          <p:cNvPr id="3" name="">
            <a:extLst xmlns:a="http://schemas.openxmlformats.org/drawingml/2006/main">
              <a:ext uri="{FF2B5EF4-FFF2-40B4-BE49-F238E27FC236}">
                <a16:creationId xmlns:a16="http://schemas.microsoft.com/office/drawing/2014/main" id="{E920CB5D-1D57-4A38-A40E-BD748B5A0870}"/>
              </a:ext>
            </a:extLst>
          </p:cNvPr>
          <p:cNvSpPr>
            <a:spLocks xmlns:a="http://schemas.openxmlformats.org/drawingml/2006/main" noGrp="1"/>
          </p:cNvSpPr>
          <p:nvPr/>
        </p:nvSpPr>
        <p:spPr>
          <a:xfrm xmlns:a="http://schemas.openxmlformats.org/drawingml/2006/main">
            <a:off x="10858500" y="29527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350" b="1" i="0">
                <a:solidFill>
                  <a:srgbClr val="181817"/>
                </a:solidFill>
                <a:latin typeface="Avenir"/>
                <a:ea typeface="Avenir"/>
                <a:cs typeface="Avenir"/>
              </a:defRPr>
            </a:pPr>
            <a:r>
              <a:rPr sz="1350" b="1" i="0">
                <a:solidFill>
                  <a:srgbClr val="181817"/>
                </a:solidFill>
                <a:latin typeface="Avenir"/>
                <a:ea typeface="Avenir"/>
                <a:cs typeface="Avenir"/>
              </a:rPr>
              <a:t>07</a:t>
            </a:r>
          </a:p>
        </p:txBody>
      </p:sp>
      <p:sp>
        <p:nvSpPr>
          <p:cNvPr id="4" name="">
            <a:extLst xmlns:a="http://schemas.openxmlformats.org/drawingml/2006/main">
              <a:ext uri="{FF2B5EF4-FFF2-40B4-BE49-F238E27FC236}">
                <a16:creationId xmlns:a16="http://schemas.microsoft.com/office/drawing/2014/main" id="{2C204C02-729B-49A1-A816-3D91D64FDC8E}"/>
              </a:ext>
            </a:extLst>
          </p:cNvPr>
          <p:cNvSpPr>
            <a:spLocks xmlns:a="http://schemas.openxmlformats.org/drawingml/2006/main" noGrp="1"/>
          </p:cNvSpPr>
          <p:nvPr/>
        </p:nvSpPr>
        <p:spPr>
          <a:xfrm xmlns:a="http://schemas.openxmlformats.org/drawingml/2006/main">
            <a:off x="7239000" y="352425"/>
            <a:ext cx="338137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3939"/>
          </a:bodyPr>
          <a:lstStyle xmlns:a="http://schemas.openxmlformats.org/drawingml/2006/main"/>
          <a:p xmlns:a="http://schemas.openxmlformats.org/drawingml/2006/main">
            <a:pPr>
              <a:defRPr sz="825" b="1" i="0">
                <a:solidFill>
                  <a:srgbClr val="5B5D59"/>
                </a:solidFill>
                <a:latin typeface="Avenir"/>
                <a:ea typeface="Avenir"/>
                <a:cs typeface="Avenir"/>
              </a:defRPr>
            </a:pPr>
            <a:r>
              <a:rPr sz="825" b="1" i="0">
                <a:solidFill>
                  <a:srgbClr val="5B5D59"/>
                </a:solidFill>
                <a:latin typeface="Avenir"/>
                <a:ea typeface="Avenir"/>
                <a:cs typeface="Avenir"/>
              </a:rPr>
              <a:t>BLOQUE A · ENCUADRE  ·  ENCUENTRO</a:t>
            </a:r>
          </a:p>
        </p:txBody>
      </p:sp>
      <p:sp>
        <p:nvSpPr>
          <p:cNvPr id="5" name="">
            <a:extLst xmlns:a="http://schemas.openxmlformats.org/drawingml/2006/main">
              <a:ext uri="{FF2B5EF4-FFF2-40B4-BE49-F238E27FC236}">
                <a16:creationId xmlns:a16="http://schemas.microsoft.com/office/drawing/2014/main" id="{A99A2771-29C6-409F-8F09-8179DB28AEC6}"/>
              </a:ext>
            </a:extLst>
          </p:cNvPr>
          <p:cNvSpPr>
            <a:spLocks xmlns:a="http://schemas.openxmlformats.org/drawingml/2006/main" noGrp="1"/>
          </p:cNvSpPr>
          <p:nvPr/>
        </p:nvSpPr>
        <p:spPr>
          <a:xfrm xmlns:a="http://schemas.openxmlformats.org/drawingml/2006/main">
            <a:off x="514350" y="781050"/>
            <a:ext cx="11049000" cy="19050"/>
          </a:xfrm>
          <a:prstGeom xmlns:a="http://schemas.openxmlformats.org/drawingml/2006/main" prst="rect">
            <a:avLst/>
          </a:prstGeom>
          <a:solidFill xmlns:a="http://schemas.openxmlformats.org/drawingml/2006/main">
            <a:srgbClr val="181817"/>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3A3213F5-116E-4DA2-AE9F-207C2C7E3EDA}"/>
              </a:ext>
            </a:extLst>
          </p:cNvPr>
          <p:cNvSpPr>
            <a:spLocks xmlns:a="http://schemas.openxmlformats.org/drawingml/2006/main" noGrp="1"/>
          </p:cNvSpPr>
          <p:nvPr/>
        </p:nvSpPr>
        <p:spPr>
          <a:xfrm xmlns:a="http://schemas.openxmlformats.org/drawingml/2006/main">
            <a:off x="514350" y="6486525"/>
            <a:ext cx="11049000" cy="9525"/>
          </a:xfrm>
          <a:prstGeom xmlns:a="http://schemas.openxmlformats.org/drawingml/2006/main" prst="rect">
            <a:avLst/>
          </a:prstGeom>
          <a:solidFill xmlns:a="http://schemas.openxmlformats.org/drawingml/2006/main">
            <a:srgbClr val="AEB1AE"/>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CBB7F783-00BE-4FEB-8AAB-051C3137B452}"/>
              </a:ext>
            </a:extLst>
          </p:cNvPr>
          <p:cNvSpPr>
            <a:spLocks xmlns:a="http://schemas.openxmlformats.org/drawingml/2006/main" noGrp="1"/>
          </p:cNvSpPr>
          <p:nvPr/>
        </p:nvSpPr>
        <p:spPr>
          <a:xfrm xmlns:a="http://schemas.openxmlformats.org/drawingml/2006/main">
            <a:off x="514350" y="6553200"/>
            <a:ext cx="5334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8788"/>
          </a:bodyPr>
          <a:lstStyle xmlns:a="http://schemas.openxmlformats.org/drawingml/2006/main"/>
          <a:p xmlns:a="http://schemas.openxmlformats.org/drawingml/2006/main">
            <a:pPr>
              <a:defRPr sz="825" b="0" i="0">
                <a:solidFill>
                  <a:srgbClr val="5B5D59"/>
                </a:solidFill>
                <a:latin typeface="Avenir"/>
                <a:ea typeface="Avenir"/>
                <a:cs typeface="Avenir"/>
              </a:defRPr>
            </a:pPr>
            <a:r>
              <a:rPr sz="825" b="0" i="0">
                <a:solidFill>
                  <a:srgbClr val="5B5D59"/>
                </a:solidFill>
                <a:latin typeface="Avenir"/>
                <a:ea typeface="Avenir"/>
                <a:cs typeface="Avenir"/>
              </a:rPr>
              <a:t>Metodología de Sistemas de Información · FCE UBA</a:t>
            </a:r>
          </a:p>
        </p:txBody>
      </p:sp>
      <p:sp>
        <p:nvSpPr>
          <p:cNvPr id="8" name="">
            <a:extLst xmlns:a="http://schemas.openxmlformats.org/drawingml/2006/main">
              <a:ext uri="{FF2B5EF4-FFF2-40B4-BE49-F238E27FC236}">
                <a16:creationId xmlns:a16="http://schemas.microsoft.com/office/drawing/2014/main" id="{B7A93289-F738-4D0D-850C-4EE991E5CF43}"/>
              </a:ext>
            </a:extLst>
          </p:cNvPr>
          <p:cNvSpPr>
            <a:spLocks xmlns:a="http://schemas.openxmlformats.org/drawingml/2006/main" noGrp="1"/>
          </p:cNvSpPr>
          <p:nvPr/>
        </p:nvSpPr>
        <p:spPr>
          <a:xfrm xmlns:a="http://schemas.openxmlformats.org/drawingml/2006/main">
            <a:off x="704850" y="1066800"/>
            <a:ext cx="8763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3000" b="0" i="0">
                <a:solidFill>
                  <a:srgbClr val="181817"/>
                </a:solidFill>
                <a:latin typeface="Didot"/>
                <a:ea typeface="Didot"/>
                <a:cs typeface="Didot"/>
              </a:defRPr>
            </a:pPr>
            <a:r>
              <a:rPr sz="3000" b="0" i="0">
                <a:solidFill>
                  <a:srgbClr val="181817"/>
                </a:solidFill>
                <a:latin typeface="Didot"/>
                <a:ea typeface="Didot"/>
                <a:cs typeface="Didot"/>
              </a:rPr>
              <a:t>Revisión cruzada</a:t>
            </a:r>
          </a:p>
        </p:txBody>
      </p:sp>
      <p:sp>
        <p:nvSpPr>
          <p:cNvPr id="9" name="">
            <a:extLst xmlns:a="http://schemas.openxmlformats.org/drawingml/2006/main">
              <a:ext uri="{FF2B5EF4-FFF2-40B4-BE49-F238E27FC236}">
                <a16:creationId xmlns:a16="http://schemas.microsoft.com/office/drawing/2014/main" id="{968E3A8E-4C07-4812-AFBB-854DA89B7B45}"/>
              </a:ext>
            </a:extLst>
          </p:cNvPr>
          <p:cNvSpPr>
            <a:spLocks xmlns:a="http://schemas.openxmlformats.org/drawingml/2006/main" noGrp="1"/>
          </p:cNvSpPr>
          <p:nvPr/>
        </p:nvSpPr>
        <p:spPr>
          <a:xfrm xmlns:a="http://schemas.openxmlformats.org/drawingml/2006/main">
            <a:off x="10001250" y="1200150"/>
            <a:ext cx="1238250" cy="514350"/>
          </a:xfrm>
          <a:prstGeom xmlns:a="http://schemas.openxmlformats.org/drawingml/2006/main" prst="roundRect">
            <a:avLst>
              <a:gd name="adj" fmla="val 14815"/>
            </a:avLst>
          </a:prstGeom>
          <a:solidFill xmlns:a="http://schemas.openxmlformats.org/drawingml/2006/main">
            <a:srgbClr val="E4E6E5"/>
          </a:solidFill>
          <a:ln xmlns:a="http://schemas.openxmlformats.org/drawingml/2006/main" w="9525">
            <a:solidFill>
              <a:srgbClr val="AEB1AE"/>
            </a:solidFill>
          </a:ln>
        </p:spPr>
      </p:sp>
      <p:sp>
        <p:nvSpPr>
          <p:cNvPr id="10" name="">
            <a:extLst xmlns:a="http://schemas.openxmlformats.org/drawingml/2006/main">
              <a:ext uri="{FF2B5EF4-FFF2-40B4-BE49-F238E27FC236}">
                <a16:creationId xmlns:a16="http://schemas.microsoft.com/office/drawing/2014/main" id="{C97415ED-1AFC-4BE8-9FDB-A0BF3484A023}"/>
              </a:ext>
            </a:extLst>
          </p:cNvPr>
          <p:cNvSpPr>
            <a:spLocks xmlns:a="http://schemas.openxmlformats.org/drawingml/2006/main" noGrp="1"/>
          </p:cNvSpPr>
          <p:nvPr/>
        </p:nvSpPr>
        <p:spPr>
          <a:xfrm xmlns:a="http://schemas.openxmlformats.org/drawingml/2006/main">
            <a:off x="10001250" y="1323975"/>
            <a:ext cx="123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p xmlns:a="http://schemas.openxmlformats.org/drawingml/2006/main">
            <a:pPr>
              <a:defRPr sz="1125" b="1" i="0">
                <a:solidFill>
                  <a:srgbClr val="181817"/>
                </a:solidFill>
                <a:latin typeface="Avenir"/>
                <a:ea typeface="Avenir"/>
                <a:cs typeface="Avenir"/>
              </a:defRPr>
            </a:pPr>
            <a:r>
              <a:rPr sz="1125" b="1" i="0">
                <a:solidFill>
                  <a:srgbClr val="181817"/>
                </a:solidFill>
                <a:latin typeface="Avenir"/>
                <a:ea typeface="Avenir"/>
                <a:cs typeface="Avenir"/>
              </a:rPr>
              <a:t>18 MIN</a:t>
            </a:r>
          </a:p>
        </p:txBody>
      </p:sp>
      <p:sp>
        <p:nvSpPr>
          <p:cNvPr id="11" name="">
            <a:extLst xmlns:a="http://schemas.openxmlformats.org/drawingml/2006/main">
              <a:ext uri="{FF2B5EF4-FFF2-40B4-BE49-F238E27FC236}">
                <a16:creationId xmlns:a16="http://schemas.microsoft.com/office/drawing/2014/main" id="{C99DBB63-5A78-40D2-9E9E-E3C3C722DD33}"/>
              </a:ext>
            </a:extLst>
          </p:cNvPr>
          <p:cNvSpPr>
            <a:spLocks xmlns:a="http://schemas.openxmlformats.org/drawingml/2006/main" noGrp="1"/>
          </p:cNvSpPr>
          <p:nvPr/>
        </p:nvSpPr>
        <p:spPr>
          <a:xfrm xmlns:a="http://schemas.openxmlformats.org/drawingml/2006/main">
            <a:off x="704850" y="2238375"/>
            <a:ext cx="103822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4444"/>
          </a:bodyPr>
          <a:lstStyle xmlns:a="http://schemas.openxmlformats.org/drawingml/2006/main"/>
          <a:p xmlns:a="http://schemas.openxmlformats.org/drawingml/2006/main">
            <a:pPr>
              <a:defRPr sz="3600" b="1" i="0">
                <a:solidFill>
                  <a:srgbClr val="181817"/>
                </a:solidFill>
                <a:latin typeface="Avenir"/>
                <a:ea typeface="Avenir"/>
                <a:cs typeface="Avenir"/>
              </a:defRPr>
            </a:pPr>
            <a:r>
              <a:rPr sz="3600" b="1" i="0">
                <a:solidFill>
                  <a:srgbClr val="181817"/>
                </a:solidFill>
                <a:latin typeface="Avenir"/>
                <a:ea typeface="Avenir"/>
                <a:cs typeface="Avenir"/>
              </a:rPr>
              <a:t>EVIDENCIA NUEVA</a:t>
            </a:r>
          </a:p>
        </p:txBody>
      </p:sp>
      <p:sp>
        <p:nvSpPr>
          <p:cNvPr id="12" name="">
            <a:extLst xmlns:a="http://schemas.openxmlformats.org/drawingml/2006/main">
              <a:ext uri="{FF2B5EF4-FFF2-40B4-BE49-F238E27FC236}">
                <a16:creationId xmlns:a16="http://schemas.microsoft.com/office/drawing/2014/main" id="{19C7FB9A-F380-48FB-AACF-04EDB58879EB}"/>
              </a:ext>
            </a:extLst>
          </p:cNvPr>
          <p:cNvSpPr>
            <a:spLocks xmlns:a="http://schemas.openxmlformats.org/drawingml/2006/main" noGrp="1"/>
          </p:cNvSpPr>
          <p:nvPr/>
        </p:nvSpPr>
        <p:spPr>
          <a:xfrm xmlns:a="http://schemas.openxmlformats.org/drawingml/2006/main">
            <a:off x="704850" y="3086100"/>
            <a:ext cx="1066800" cy="114300"/>
          </a:xfrm>
          <a:prstGeom xmlns:a="http://schemas.openxmlformats.org/drawingml/2006/main" prst="rect">
            <a:avLst/>
          </a:prstGeom>
          <a:solidFill xmlns:a="http://schemas.openxmlformats.org/drawingml/2006/main">
            <a:srgbClr val="CFFF00"/>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7AE6A38E-633D-45D3-93E8-531063DD68E9}"/>
              </a:ext>
            </a:extLst>
          </p:cNvPr>
          <p:cNvSpPr>
            <a:spLocks xmlns:a="http://schemas.openxmlformats.org/drawingml/2006/main" noGrp="1"/>
          </p:cNvSpPr>
          <p:nvPr/>
        </p:nvSpPr>
        <p:spPr>
          <a:xfrm xmlns:a="http://schemas.openxmlformats.org/drawingml/2006/main">
            <a:off x="704850" y="3524250"/>
            <a:ext cx="1000125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592"/>
          </a:bodyPr>
          <a:lstStyle xmlns:a="http://schemas.openxmlformats.org/drawingml/2006/main"/>
          <a:p xmlns:a="http://schemas.openxmlformats.org/drawingml/2006/main">
            <a:pPr>
              <a:defRPr sz="2250" b="0" i="0">
                <a:solidFill>
                  <a:srgbClr val="181817"/>
                </a:solidFill>
                <a:latin typeface="Didot"/>
                <a:ea typeface="Didot"/>
                <a:cs typeface="Didot"/>
              </a:defRPr>
            </a:pPr>
            <a:r>
              <a:rPr sz="2250" b="0" i="0">
                <a:solidFill>
                  <a:srgbClr val="181817"/>
                </a:solidFill>
                <a:latin typeface="Didot"/>
                <a:ea typeface="Didot"/>
                <a:cs typeface="Didot"/>
              </a:rPr>
              <a:t>Los equipos intercambian sus memos. El equipo revisor formula dos objeciones: una relación entre evidencia y decisión que todavía no se sostiene; una condición de revisión demasiado vaga o imposible de observar.…</a:t>
            </a:r>
          </a:p>
        </p:txBody>
      </p:sp>
      <p:sp>
        <p:nvSpPr>
          <p:cNvPr id="14" name="">
            <a:extLst xmlns:a="http://schemas.openxmlformats.org/drawingml/2006/main">
              <a:ext uri="{FF2B5EF4-FFF2-40B4-BE49-F238E27FC236}">
                <a16:creationId xmlns:a16="http://schemas.microsoft.com/office/drawing/2014/main" id="{1F0D7782-8387-4628-9C37-D5A9755BD05B}"/>
              </a:ext>
            </a:extLst>
          </p:cNvPr>
          <p:cNvSpPr>
            <a:spLocks xmlns:a="http://schemas.openxmlformats.org/drawingml/2006/main" noGrp="1"/>
          </p:cNvSpPr>
          <p:nvPr/>
        </p:nvSpPr>
        <p:spPr>
          <a:xfrm xmlns:a="http://schemas.openxmlformats.org/drawingml/2006/main">
            <a:off x="704850" y="5162550"/>
            <a:ext cx="10001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500" b="0" i="0">
                <a:solidFill>
                  <a:srgbClr val="5B5D59"/>
                </a:solidFill>
                <a:latin typeface="Avenir"/>
                <a:ea typeface="Avenir"/>
                <a:cs typeface="Avenir"/>
              </a:defRPr>
            </a:pPr>
            <a:r>
              <a:rPr sz="1500" b="0" i="0">
                <a:solidFill>
                  <a:srgbClr val="5B5D59"/>
                </a:solidFill>
                <a:latin typeface="Avenir"/>
                <a:ea typeface="Avenir"/>
                <a:cs typeface="Avenir"/>
              </a:rPr>
              <a:t>Localicen qué cambia, qué se sostiene y qué todavía falta probar.</a:t>
            </a:r>
          </a:p>
        </p:txBody>
      </p:sp>
    </p:spTree>
    <p:extLst>
      <p:ext uri="{BB962C8B-B14F-4D97-AF65-F5344CB8AC3E}">
        <p14:creationId xmlns:p14="http://schemas.microsoft.com/office/powerpoint/2010/main" val="203858514"/>
      </p:ext>
    </p:extLst>
  </p:cSld>
</p:sld>
</file>

<file path=ppt/slides/slide8.xml><?xml version="1.0" encoding="utf-8"?>
<p:sld xmlns:p="http://schemas.openxmlformats.org/presentationml/2006/main">
  <p:cSld>
    <p:bg>
      <p:bgPr>
        <a:solidFill xmlns:a="http://schemas.openxmlformats.org/drawingml/2006/main">
          <a:srgbClr val="FAFAF8"/>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9E4ADB0C-6F64-4432-A251-E3E26871966C}"/>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CFFF00"/>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5539C2CD-03F4-4C70-945E-CB1548DFE092}"/>
              </a:ext>
            </a:extLst>
          </p:cNvPr>
          <p:cNvSpPr>
            <a:spLocks xmlns:a="http://schemas.openxmlformats.org/drawingml/2006/main" noGrp="1"/>
          </p:cNvSpPr>
          <p:nvPr/>
        </p:nvSpPr>
        <p:spPr>
          <a:xfrm xmlns:a="http://schemas.openxmlformats.org/drawingml/2006/main">
            <a:off x="514350" y="323850"/>
            <a:ext cx="2381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5833"/>
          </a:bodyPr>
          <a:lstStyle xmlns:a="http://schemas.openxmlformats.org/drawingml/2006/main"/>
          <a:p xmlns:a="http://schemas.openxmlformats.org/drawingml/2006/main">
            <a:pPr>
              <a:defRPr sz="1200" b="1" i="0">
                <a:solidFill>
                  <a:srgbClr val="5B5D59"/>
                </a:solidFill>
                <a:latin typeface="Avenir"/>
                <a:ea typeface="Avenir"/>
                <a:cs typeface="Avenir"/>
              </a:defRPr>
            </a:pPr>
            <a:r>
              <a:rPr sz="1200" b="1" i="0">
                <a:solidFill>
                  <a:srgbClr val="5B5D59"/>
                </a:solidFill>
                <a:latin typeface="Avenir"/>
                <a:ea typeface="Avenir"/>
                <a:cs typeface="Avenir"/>
              </a:rPr>
              <a:t>N01  ·  METSI</a:t>
            </a:r>
          </a:p>
        </p:txBody>
      </p:sp>
      <p:sp>
        <p:nvSpPr>
          <p:cNvPr id="3" name="">
            <a:extLst xmlns:a="http://schemas.openxmlformats.org/drawingml/2006/main">
              <a:ext uri="{FF2B5EF4-FFF2-40B4-BE49-F238E27FC236}">
                <a16:creationId xmlns:a16="http://schemas.microsoft.com/office/drawing/2014/main" id="{C3CBCFB2-02AD-4687-950D-C6EF6FA0C3C7}"/>
              </a:ext>
            </a:extLst>
          </p:cNvPr>
          <p:cNvSpPr>
            <a:spLocks xmlns:a="http://schemas.openxmlformats.org/drawingml/2006/main" noGrp="1"/>
          </p:cNvSpPr>
          <p:nvPr/>
        </p:nvSpPr>
        <p:spPr>
          <a:xfrm xmlns:a="http://schemas.openxmlformats.org/drawingml/2006/main">
            <a:off x="10858500" y="29527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350" b="1" i="0">
                <a:solidFill>
                  <a:srgbClr val="181817"/>
                </a:solidFill>
                <a:latin typeface="Avenir"/>
                <a:ea typeface="Avenir"/>
                <a:cs typeface="Avenir"/>
              </a:defRPr>
            </a:pPr>
            <a:r>
              <a:rPr sz="1350" b="1" i="0">
                <a:solidFill>
                  <a:srgbClr val="181817"/>
                </a:solidFill>
                <a:latin typeface="Avenir"/>
                <a:ea typeface="Avenir"/>
                <a:cs typeface="Avenir"/>
              </a:rPr>
              <a:t>08</a:t>
            </a:r>
          </a:p>
        </p:txBody>
      </p:sp>
      <p:sp>
        <p:nvSpPr>
          <p:cNvPr id="4" name="">
            <a:extLst xmlns:a="http://schemas.openxmlformats.org/drawingml/2006/main">
              <a:ext uri="{FF2B5EF4-FFF2-40B4-BE49-F238E27FC236}">
                <a16:creationId xmlns:a16="http://schemas.microsoft.com/office/drawing/2014/main" id="{A7BC016B-C5E9-45AA-A6A7-33A54737B1BD}"/>
              </a:ext>
            </a:extLst>
          </p:cNvPr>
          <p:cNvSpPr>
            <a:spLocks xmlns:a="http://schemas.openxmlformats.org/drawingml/2006/main" noGrp="1"/>
          </p:cNvSpPr>
          <p:nvPr/>
        </p:nvSpPr>
        <p:spPr>
          <a:xfrm xmlns:a="http://schemas.openxmlformats.org/drawingml/2006/main">
            <a:off x="7239000" y="352425"/>
            <a:ext cx="338137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3939"/>
          </a:bodyPr>
          <a:lstStyle xmlns:a="http://schemas.openxmlformats.org/drawingml/2006/main"/>
          <a:p xmlns:a="http://schemas.openxmlformats.org/drawingml/2006/main">
            <a:pPr>
              <a:defRPr sz="825" b="1" i="0">
                <a:solidFill>
                  <a:srgbClr val="5B5D59"/>
                </a:solidFill>
                <a:latin typeface="Avenir"/>
                <a:ea typeface="Avenir"/>
                <a:cs typeface="Avenir"/>
              </a:defRPr>
            </a:pPr>
            <a:r>
              <a:rPr sz="825" b="1" i="0">
                <a:solidFill>
                  <a:srgbClr val="5B5D59"/>
                </a:solidFill>
                <a:latin typeface="Avenir"/>
                <a:ea typeface="Avenir"/>
                <a:cs typeface="Avenir"/>
              </a:rPr>
              <a:t>BLOQUE A · ENCUADRE  ·  ENCUENTRO</a:t>
            </a:r>
          </a:p>
        </p:txBody>
      </p:sp>
      <p:sp>
        <p:nvSpPr>
          <p:cNvPr id="5" name="">
            <a:extLst xmlns:a="http://schemas.openxmlformats.org/drawingml/2006/main">
              <a:ext uri="{FF2B5EF4-FFF2-40B4-BE49-F238E27FC236}">
                <a16:creationId xmlns:a16="http://schemas.microsoft.com/office/drawing/2014/main" id="{DF85DD09-B8B6-4FEE-98A1-8E014A2B4810}"/>
              </a:ext>
            </a:extLst>
          </p:cNvPr>
          <p:cNvSpPr>
            <a:spLocks xmlns:a="http://schemas.openxmlformats.org/drawingml/2006/main" noGrp="1"/>
          </p:cNvSpPr>
          <p:nvPr/>
        </p:nvSpPr>
        <p:spPr>
          <a:xfrm xmlns:a="http://schemas.openxmlformats.org/drawingml/2006/main">
            <a:off x="514350" y="781050"/>
            <a:ext cx="11049000" cy="19050"/>
          </a:xfrm>
          <a:prstGeom xmlns:a="http://schemas.openxmlformats.org/drawingml/2006/main" prst="rect">
            <a:avLst/>
          </a:prstGeom>
          <a:solidFill xmlns:a="http://schemas.openxmlformats.org/drawingml/2006/main">
            <a:srgbClr val="181817"/>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C3D4D632-178C-4703-B517-DB769D3D5BBC}"/>
              </a:ext>
            </a:extLst>
          </p:cNvPr>
          <p:cNvSpPr>
            <a:spLocks xmlns:a="http://schemas.openxmlformats.org/drawingml/2006/main" noGrp="1"/>
          </p:cNvSpPr>
          <p:nvPr/>
        </p:nvSpPr>
        <p:spPr>
          <a:xfrm xmlns:a="http://schemas.openxmlformats.org/drawingml/2006/main">
            <a:off x="514350" y="6486525"/>
            <a:ext cx="11049000" cy="9525"/>
          </a:xfrm>
          <a:prstGeom xmlns:a="http://schemas.openxmlformats.org/drawingml/2006/main" prst="rect">
            <a:avLst/>
          </a:prstGeom>
          <a:solidFill xmlns:a="http://schemas.openxmlformats.org/drawingml/2006/main">
            <a:srgbClr val="AEB1AE"/>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882BBBC7-C3D7-4D1D-93F8-2DB24B047B25}"/>
              </a:ext>
            </a:extLst>
          </p:cNvPr>
          <p:cNvSpPr>
            <a:spLocks xmlns:a="http://schemas.openxmlformats.org/drawingml/2006/main" noGrp="1"/>
          </p:cNvSpPr>
          <p:nvPr/>
        </p:nvSpPr>
        <p:spPr>
          <a:xfrm xmlns:a="http://schemas.openxmlformats.org/drawingml/2006/main">
            <a:off x="514350" y="6553200"/>
            <a:ext cx="5334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8788"/>
          </a:bodyPr>
          <a:lstStyle xmlns:a="http://schemas.openxmlformats.org/drawingml/2006/main"/>
          <a:p xmlns:a="http://schemas.openxmlformats.org/drawingml/2006/main">
            <a:pPr>
              <a:defRPr sz="825" b="0" i="0">
                <a:solidFill>
                  <a:srgbClr val="5B5D59"/>
                </a:solidFill>
                <a:latin typeface="Avenir"/>
                <a:ea typeface="Avenir"/>
                <a:cs typeface="Avenir"/>
              </a:defRPr>
            </a:pPr>
            <a:r>
              <a:rPr sz="825" b="0" i="0">
                <a:solidFill>
                  <a:srgbClr val="5B5D59"/>
                </a:solidFill>
                <a:latin typeface="Avenir"/>
                <a:ea typeface="Avenir"/>
                <a:cs typeface="Avenir"/>
              </a:rPr>
              <a:t>Metodología de Sistemas de Información · FCE UBA</a:t>
            </a:r>
          </a:p>
        </p:txBody>
      </p:sp>
      <p:sp>
        <p:nvSpPr>
          <p:cNvPr id="8" name="">
            <a:extLst xmlns:a="http://schemas.openxmlformats.org/drawingml/2006/main">
              <a:ext uri="{FF2B5EF4-FFF2-40B4-BE49-F238E27FC236}">
                <a16:creationId xmlns:a16="http://schemas.microsoft.com/office/drawing/2014/main" id="{74FA122F-7757-4520-A676-65293343455E}"/>
              </a:ext>
            </a:extLst>
          </p:cNvPr>
          <p:cNvSpPr>
            <a:spLocks xmlns:a="http://schemas.openxmlformats.org/drawingml/2006/main" noGrp="1"/>
          </p:cNvSpPr>
          <p:nvPr/>
        </p:nvSpPr>
        <p:spPr>
          <a:xfrm xmlns:a="http://schemas.openxmlformats.org/drawingml/2006/main">
            <a:off x="704850" y="1066800"/>
            <a:ext cx="8763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3000" b="0" i="0">
                <a:solidFill>
                  <a:srgbClr val="181817"/>
                </a:solidFill>
                <a:latin typeface="Didot"/>
                <a:ea typeface="Didot"/>
                <a:cs typeface="Didot"/>
              </a:defRPr>
            </a:pPr>
            <a:r>
              <a:rPr sz="3000" b="0" i="0">
                <a:solidFill>
                  <a:srgbClr val="181817"/>
                </a:solidFill>
                <a:latin typeface="Didot"/>
                <a:ea typeface="Didot"/>
                <a:cs typeface="Didot"/>
              </a:rPr>
              <a:t>Defensa y decisión provisional</a:t>
            </a:r>
          </a:p>
        </p:txBody>
      </p:sp>
      <p:sp>
        <p:nvSpPr>
          <p:cNvPr id="9" name="">
            <a:extLst xmlns:a="http://schemas.openxmlformats.org/drawingml/2006/main">
              <a:ext uri="{FF2B5EF4-FFF2-40B4-BE49-F238E27FC236}">
                <a16:creationId xmlns:a16="http://schemas.microsoft.com/office/drawing/2014/main" id="{CA5566D4-198C-44C7-BAD8-2D948F1BF96E}"/>
              </a:ext>
            </a:extLst>
          </p:cNvPr>
          <p:cNvSpPr>
            <a:spLocks xmlns:a="http://schemas.openxmlformats.org/drawingml/2006/main" noGrp="1"/>
          </p:cNvSpPr>
          <p:nvPr/>
        </p:nvSpPr>
        <p:spPr>
          <a:xfrm xmlns:a="http://schemas.openxmlformats.org/drawingml/2006/main">
            <a:off x="10001250" y="1200150"/>
            <a:ext cx="1238250" cy="514350"/>
          </a:xfrm>
          <a:prstGeom xmlns:a="http://schemas.openxmlformats.org/drawingml/2006/main" prst="roundRect">
            <a:avLst>
              <a:gd name="adj" fmla="val 14815"/>
            </a:avLst>
          </a:prstGeom>
          <a:solidFill xmlns:a="http://schemas.openxmlformats.org/drawingml/2006/main">
            <a:srgbClr val="E4E6E5"/>
          </a:solidFill>
          <a:ln xmlns:a="http://schemas.openxmlformats.org/drawingml/2006/main" w="9525">
            <a:solidFill>
              <a:srgbClr val="AEB1AE"/>
            </a:solidFill>
          </a:ln>
        </p:spPr>
      </p:sp>
      <p:sp>
        <p:nvSpPr>
          <p:cNvPr id="10" name="">
            <a:extLst xmlns:a="http://schemas.openxmlformats.org/drawingml/2006/main">
              <a:ext uri="{FF2B5EF4-FFF2-40B4-BE49-F238E27FC236}">
                <a16:creationId xmlns:a16="http://schemas.microsoft.com/office/drawing/2014/main" id="{918112B5-90E4-4902-8726-8D10869BFBBA}"/>
              </a:ext>
            </a:extLst>
          </p:cNvPr>
          <p:cNvSpPr>
            <a:spLocks xmlns:a="http://schemas.openxmlformats.org/drawingml/2006/main" noGrp="1"/>
          </p:cNvSpPr>
          <p:nvPr/>
        </p:nvSpPr>
        <p:spPr>
          <a:xfrm xmlns:a="http://schemas.openxmlformats.org/drawingml/2006/main">
            <a:off x="10001250" y="1323975"/>
            <a:ext cx="123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p xmlns:a="http://schemas.openxmlformats.org/drawingml/2006/main">
            <a:pPr>
              <a:defRPr sz="1125" b="1" i="0">
                <a:solidFill>
                  <a:srgbClr val="181817"/>
                </a:solidFill>
                <a:latin typeface="Avenir"/>
                <a:ea typeface="Avenir"/>
                <a:cs typeface="Avenir"/>
              </a:defRPr>
            </a:pPr>
            <a:r>
              <a:rPr sz="1125" b="1" i="0">
                <a:solidFill>
                  <a:srgbClr val="181817"/>
                </a:solidFill>
                <a:latin typeface="Avenir"/>
                <a:ea typeface="Avenir"/>
                <a:cs typeface="Avenir"/>
              </a:rPr>
              <a:t>15 MIN</a:t>
            </a:r>
          </a:p>
        </p:txBody>
      </p:sp>
      <p:sp>
        <p:nvSpPr>
          <p:cNvPr id="11" name="">
            <a:extLst xmlns:a="http://schemas.openxmlformats.org/drawingml/2006/main">
              <a:ext uri="{FF2B5EF4-FFF2-40B4-BE49-F238E27FC236}">
                <a16:creationId xmlns:a16="http://schemas.microsoft.com/office/drawing/2014/main" id="{79540ACC-3FC9-41BB-820E-165514058A7C}"/>
              </a:ext>
            </a:extLst>
          </p:cNvPr>
          <p:cNvSpPr>
            <a:spLocks xmlns:a="http://schemas.openxmlformats.org/drawingml/2006/main" noGrp="1"/>
          </p:cNvSpPr>
          <p:nvPr/>
        </p:nvSpPr>
        <p:spPr>
          <a:xfrm xmlns:a="http://schemas.openxmlformats.org/drawingml/2006/main">
            <a:off x="704850" y="1952625"/>
            <a:ext cx="10287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500" b="0" i="0">
                <a:solidFill>
                  <a:srgbClr val="5B5D59"/>
                </a:solidFill>
                <a:latin typeface="Avenir"/>
                <a:ea typeface="Avenir"/>
                <a:cs typeface="Avenir"/>
              </a:defRPr>
            </a:pPr>
            <a:r>
              <a:rPr sz="1500" b="0" i="0">
                <a:solidFill>
                  <a:srgbClr val="5B5D59"/>
                </a:solidFill>
                <a:latin typeface="Avenir"/>
                <a:ea typeface="Avenir"/>
                <a:cs typeface="Avenir"/>
              </a:rPr>
              <a:t>Cada equipo dispone de noventa segundos para defender: el propósito de intervención; la siguiente acción autorizada; una decisión que deliberadamente permanece cerrada; la evidencia que podría cambiar su encuadre.</a:t>
            </a:r>
          </a:p>
        </p:txBody>
      </p:sp>
      <p:sp>
        <p:nvSpPr>
          <p:cNvPr id="12" name="">
            <a:extLst xmlns:a="http://schemas.openxmlformats.org/drawingml/2006/main">
              <a:ext uri="{FF2B5EF4-FFF2-40B4-BE49-F238E27FC236}">
                <a16:creationId xmlns:a16="http://schemas.microsoft.com/office/drawing/2014/main" id="{13BA21CF-3905-4F07-A33F-03D40BAD5D16}"/>
              </a:ext>
            </a:extLst>
          </p:cNvPr>
          <p:cNvSpPr>
            <a:spLocks xmlns:a="http://schemas.openxmlformats.org/drawingml/2006/main" noGrp="1"/>
          </p:cNvSpPr>
          <p:nvPr/>
        </p:nvSpPr>
        <p:spPr>
          <a:xfrm xmlns:a="http://schemas.openxmlformats.org/drawingml/2006/main">
            <a:off x="704850" y="3000375"/>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125" b="1" i="0">
                <a:solidFill>
                  <a:srgbClr val="5B5D59"/>
                </a:solidFill>
                <a:latin typeface="Avenir"/>
                <a:ea typeface="Avenir"/>
                <a:cs typeface="Avenir"/>
              </a:defRPr>
            </a:pPr>
            <a:r>
              <a:rPr sz="1125" b="1" i="0">
                <a:solidFill>
                  <a:srgbClr val="5B5D59"/>
                </a:solidFill>
                <a:latin typeface="Avenir"/>
                <a:ea typeface="Avenir"/>
                <a:cs typeface="Avenir"/>
              </a:rPr>
              <a:t>01</a:t>
            </a:r>
          </a:p>
        </p:txBody>
      </p:sp>
      <p:sp>
        <p:nvSpPr>
          <p:cNvPr id="13" name="">
            <a:extLst xmlns:a="http://schemas.openxmlformats.org/drawingml/2006/main">
              <a:ext uri="{FF2B5EF4-FFF2-40B4-BE49-F238E27FC236}">
                <a16:creationId xmlns:a16="http://schemas.microsoft.com/office/drawing/2014/main" id="{C9B75F18-4B3C-4AEE-8A74-344A8E50AEEF}"/>
              </a:ext>
            </a:extLst>
          </p:cNvPr>
          <p:cNvSpPr>
            <a:spLocks xmlns:a="http://schemas.openxmlformats.org/drawingml/2006/main" noGrp="1"/>
          </p:cNvSpPr>
          <p:nvPr/>
        </p:nvSpPr>
        <p:spPr>
          <a:xfrm xmlns:a="http://schemas.openxmlformats.org/drawingml/2006/main">
            <a:off x="1314450" y="2943225"/>
            <a:ext cx="42862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2025" b="1" i="0">
                <a:solidFill>
                  <a:srgbClr val="181817"/>
                </a:solidFill>
                <a:latin typeface="Avenir"/>
                <a:ea typeface="Avenir"/>
                <a:cs typeface="Avenir"/>
              </a:defRPr>
            </a:pPr>
            <a:r>
              <a:rPr sz="2025" b="1" i="0">
                <a:solidFill>
                  <a:srgbClr val="181817"/>
                </a:solidFill>
                <a:latin typeface="Avenir"/>
                <a:ea typeface="Avenir"/>
                <a:cs typeface="Avenir"/>
              </a:rPr>
              <a:t>Citar el punto observado</a:t>
            </a:r>
          </a:p>
        </p:txBody>
      </p:sp>
      <p:sp>
        <p:nvSpPr>
          <p:cNvPr id="14" name="">
            <a:extLst xmlns:a="http://schemas.openxmlformats.org/drawingml/2006/main">
              <a:ext uri="{FF2B5EF4-FFF2-40B4-BE49-F238E27FC236}">
                <a16:creationId xmlns:a16="http://schemas.microsoft.com/office/drawing/2014/main" id="{E7021A3D-6BAD-4012-82AE-97E5AC71AA26}"/>
              </a:ext>
            </a:extLst>
          </p:cNvPr>
          <p:cNvSpPr>
            <a:spLocks xmlns:a="http://schemas.openxmlformats.org/drawingml/2006/main" noGrp="1"/>
          </p:cNvSpPr>
          <p:nvPr/>
        </p:nvSpPr>
        <p:spPr>
          <a:xfrm xmlns:a="http://schemas.openxmlformats.org/drawingml/2006/main">
            <a:off x="1314450" y="3743325"/>
            <a:ext cx="4000500" cy="19050"/>
          </a:xfrm>
          <a:prstGeom xmlns:a="http://schemas.openxmlformats.org/drawingml/2006/main" prst="rect">
            <a:avLst/>
          </a:prstGeom>
          <a:solidFill xmlns:a="http://schemas.openxmlformats.org/drawingml/2006/main">
            <a:srgbClr val="AEB1AE"/>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54EFDBB2-6AEC-4DCF-AB2E-16BD7666B353}"/>
              </a:ext>
            </a:extLst>
          </p:cNvPr>
          <p:cNvSpPr>
            <a:spLocks xmlns:a="http://schemas.openxmlformats.org/drawingml/2006/main" noGrp="1"/>
          </p:cNvSpPr>
          <p:nvPr/>
        </p:nvSpPr>
        <p:spPr>
          <a:xfrm xmlns:a="http://schemas.openxmlformats.org/drawingml/2006/main">
            <a:off x="6086475" y="3000375"/>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125" b="1" i="0">
                <a:solidFill>
                  <a:srgbClr val="5B5D59"/>
                </a:solidFill>
                <a:latin typeface="Avenir"/>
                <a:ea typeface="Avenir"/>
                <a:cs typeface="Avenir"/>
              </a:defRPr>
            </a:pPr>
            <a:r>
              <a:rPr sz="1125" b="1" i="0">
                <a:solidFill>
                  <a:srgbClr val="5B5D59"/>
                </a:solidFill>
                <a:latin typeface="Avenir"/>
                <a:ea typeface="Avenir"/>
                <a:cs typeface="Avenir"/>
              </a:rPr>
              <a:t>02</a:t>
            </a:r>
          </a:p>
        </p:txBody>
      </p:sp>
      <p:sp>
        <p:nvSpPr>
          <p:cNvPr id="16" name="">
            <a:extLst xmlns:a="http://schemas.openxmlformats.org/drawingml/2006/main">
              <a:ext uri="{FF2B5EF4-FFF2-40B4-BE49-F238E27FC236}">
                <a16:creationId xmlns:a16="http://schemas.microsoft.com/office/drawing/2014/main" id="{9C1EA1FE-53C8-499C-A496-4BCD273C4E50}"/>
              </a:ext>
            </a:extLst>
          </p:cNvPr>
          <p:cNvSpPr>
            <a:spLocks xmlns:a="http://schemas.openxmlformats.org/drawingml/2006/main" noGrp="1"/>
          </p:cNvSpPr>
          <p:nvPr/>
        </p:nvSpPr>
        <p:spPr>
          <a:xfrm xmlns:a="http://schemas.openxmlformats.org/drawingml/2006/main">
            <a:off x="6696075" y="2943225"/>
            <a:ext cx="42862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2025" b="1" i="0">
                <a:solidFill>
                  <a:srgbClr val="181817"/>
                </a:solidFill>
                <a:latin typeface="Avenir"/>
                <a:ea typeface="Avenir"/>
                <a:cs typeface="Avenir"/>
              </a:defRPr>
            </a:pPr>
            <a:r>
              <a:rPr sz="2025" b="1" i="0">
                <a:solidFill>
                  <a:srgbClr val="181817"/>
                </a:solidFill>
                <a:latin typeface="Avenir"/>
                <a:ea typeface="Avenir"/>
                <a:cs typeface="Avenir"/>
              </a:rPr>
              <a:t>Nombrar la relación débil</a:t>
            </a:r>
          </a:p>
        </p:txBody>
      </p:sp>
      <p:sp>
        <p:nvSpPr>
          <p:cNvPr id="17" name="">
            <a:extLst xmlns:a="http://schemas.openxmlformats.org/drawingml/2006/main">
              <a:ext uri="{FF2B5EF4-FFF2-40B4-BE49-F238E27FC236}">
                <a16:creationId xmlns:a16="http://schemas.microsoft.com/office/drawing/2014/main" id="{20AFFF4B-6CA2-4DDB-87D3-95BA15C1AD6F}"/>
              </a:ext>
            </a:extLst>
          </p:cNvPr>
          <p:cNvSpPr>
            <a:spLocks xmlns:a="http://schemas.openxmlformats.org/drawingml/2006/main" noGrp="1"/>
          </p:cNvSpPr>
          <p:nvPr/>
        </p:nvSpPr>
        <p:spPr>
          <a:xfrm xmlns:a="http://schemas.openxmlformats.org/drawingml/2006/main">
            <a:off x="6696075" y="3743325"/>
            <a:ext cx="4000500" cy="19050"/>
          </a:xfrm>
          <a:prstGeom xmlns:a="http://schemas.openxmlformats.org/drawingml/2006/main" prst="rect">
            <a:avLst/>
          </a:prstGeom>
          <a:solidFill xmlns:a="http://schemas.openxmlformats.org/drawingml/2006/main">
            <a:srgbClr val="AEB1AE"/>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DC5439D2-219D-4F9D-B0EC-2C410B304E8F}"/>
              </a:ext>
            </a:extLst>
          </p:cNvPr>
          <p:cNvSpPr>
            <a:spLocks xmlns:a="http://schemas.openxmlformats.org/drawingml/2006/main" noGrp="1"/>
          </p:cNvSpPr>
          <p:nvPr/>
        </p:nvSpPr>
        <p:spPr>
          <a:xfrm xmlns:a="http://schemas.openxmlformats.org/drawingml/2006/main">
            <a:off x="704850" y="4238625"/>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125" b="1" i="0">
                <a:solidFill>
                  <a:srgbClr val="5B5D59"/>
                </a:solidFill>
                <a:latin typeface="Avenir"/>
                <a:ea typeface="Avenir"/>
                <a:cs typeface="Avenir"/>
              </a:defRPr>
            </a:pPr>
            <a:r>
              <a:rPr sz="1125" b="1" i="0">
                <a:solidFill>
                  <a:srgbClr val="5B5D59"/>
                </a:solidFill>
                <a:latin typeface="Avenir"/>
                <a:ea typeface="Avenir"/>
                <a:cs typeface="Avenir"/>
              </a:rPr>
              <a:t>03</a:t>
            </a:r>
          </a:p>
        </p:txBody>
      </p:sp>
      <p:sp>
        <p:nvSpPr>
          <p:cNvPr id="19" name="">
            <a:extLst xmlns:a="http://schemas.openxmlformats.org/drawingml/2006/main">
              <a:ext uri="{FF2B5EF4-FFF2-40B4-BE49-F238E27FC236}">
                <a16:creationId xmlns:a16="http://schemas.microsoft.com/office/drawing/2014/main" id="{0294F51F-11C1-4E44-80CB-4BF3099186D5}"/>
              </a:ext>
            </a:extLst>
          </p:cNvPr>
          <p:cNvSpPr>
            <a:spLocks xmlns:a="http://schemas.openxmlformats.org/drawingml/2006/main" noGrp="1"/>
          </p:cNvSpPr>
          <p:nvPr/>
        </p:nvSpPr>
        <p:spPr>
          <a:xfrm xmlns:a="http://schemas.openxmlformats.org/drawingml/2006/main">
            <a:off x="1314450" y="4181475"/>
            <a:ext cx="42862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2025" b="1" i="0">
                <a:solidFill>
                  <a:srgbClr val="181817"/>
                </a:solidFill>
                <a:latin typeface="Avenir"/>
                <a:ea typeface="Avenir"/>
                <a:cs typeface="Avenir"/>
              </a:defRPr>
            </a:pPr>
            <a:r>
              <a:rPr sz="2025" b="1" i="0">
                <a:solidFill>
                  <a:srgbClr val="181817"/>
                </a:solidFill>
                <a:latin typeface="Avenir"/>
                <a:ea typeface="Avenir"/>
                <a:cs typeface="Avenir"/>
              </a:rPr>
              <a:t>Proponer una prueba</a:t>
            </a:r>
          </a:p>
        </p:txBody>
      </p:sp>
      <p:sp>
        <p:nvSpPr>
          <p:cNvPr id="20" name="">
            <a:extLst xmlns:a="http://schemas.openxmlformats.org/drawingml/2006/main">
              <a:ext uri="{FF2B5EF4-FFF2-40B4-BE49-F238E27FC236}">
                <a16:creationId xmlns:a16="http://schemas.microsoft.com/office/drawing/2014/main" id="{CEA22181-DCB7-43E8-9665-AE2169AA16DC}"/>
              </a:ext>
            </a:extLst>
          </p:cNvPr>
          <p:cNvSpPr>
            <a:spLocks xmlns:a="http://schemas.openxmlformats.org/drawingml/2006/main" noGrp="1"/>
          </p:cNvSpPr>
          <p:nvPr/>
        </p:nvSpPr>
        <p:spPr>
          <a:xfrm xmlns:a="http://schemas.openxmlformats.org/drawingml/2006/main">
            <a:off x="1314450" y="4981575"/>
            <a:ext cx="4000500" cy="19050"/>
          </a:xfrm>
          <a:prstGeom xmlns:a="http://schemas.openxmlformats.org/drawingml/2006/main" prst="rect">
            <a:avLst/>
          </a:prstGeom>
          <a:solidFill xmlns:a="http://schemas.openxmlformats.org/drawingml/2006/main">
            <a:srgbClr val="CFFF00"/>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FEDE2CB2-4179-4FAE-A752-F36E3637D74E}"/>
              </a:ext>
            </a:extLst>
          </p:cNvPr>
          <p:cNvSpPr>
            <a:spLocks xmlns:a="http://schemas.openxmlformats.org/drawingml/2006/main" noGrp="1"/>
          </p:cNvSpPr>
          <p:nvPr/>
        </p:nvSpPr>
        <p:spPr>
          <a:xfrm xmlns:a="http://schemas.openxmlformats.org/drawingml/2006/main">
            <a:off x="6086475" y="4238625"/>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125" b="1" i="0">
                <a:solidFill>
                  <a:srgbClr val="5B5D59"/>
                </a:solidFill>
                <a:latin typeface="Avenir"/>
                <a:ea typeface="Avenir"/>
                <a:cs typeface="Avenir"/>
              </a:defRPr>
            </a:pPr>
            <a:r>
              <a:rPr sz="1125" b="1" i="0">
                <a:solidFill>
                  <a:srgbClr val="5B5D59"/>
                </a:solidFill>
                <a:latin typeface="Avenir"/>
                <a:ea typeface="Avenir"/>
                <a:cs typeface="Avenir"/>
              </a:rPr>
              <a:t>04</a:t>
            </a:r>
          </a:p>
        </p:txBody>
      </p:sp>
      <p:sp>
        <p:nvSpPr>
          <p:cNvPr id="22" name="">
            <a:extLst xmlns:a="http://schemas.openxmlformats.org/drawingml/2006/main">
              <a:ext uri="{FF2B5EF4-FFF2-40B4-BE49-F238E27FC236}">
                <a16:creationId xmlns:a16="http://schemas.microsoft.com/office/drawing/2014/main" id="{17CDA71F-D0B5-4D11-AA11-09C923EC9E0C}"/>
              </a:ext>
            </a:extLst>
          </p:cNvPr>
          <p:cNvSpPr>
            <a:spLocks xmlns:a="http://schemas.openxmlformats.org/drawingml/2006/main" noGrp="1"/>
          </p:cNvSpPr>
          <p:nvPr/>
        </p:nvSpPr>
        <p:spPr>
          <a:xfrm xmlns:a="http://schemas.openxmlformats.org/drawingml/2006/main">
            <a:off x="6696075" y="4181475"/>
            <a:ext cx="42862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2025" b="1" i="0">
                <a:solidFill>
                  <a:srgbClr val="181817"/>
                </a:solidFill>
                <a:latin typeface="Avenir"/>
                <a:ea typeface="Avenir"/>
                <a:cs typeface="Avenir"/>
              </a:defRPr>
            </a:pPr>
            <a:r>
              <a:rPr sz="2025" b="1" i="0">
                <a:solidFill>
                  <a:srgbClr val="181817"/>
                </a:solidFill>
                <a:latin typeface="Avenir"/>
                <a:ea typeface="Avenir"/>
                <a:cs typeface="Avenir"/>
              </a:rPr>
              <a:t>Evitar resolver por el otro equipo</a:t>
            </a:r>
          </a:p>
        </p:txBody>
      </p:sp>
      <p:sp>
        <p:nvSpPr>
          <p:cNvPr id="23" name="">
            <a:extLst xmlns:a="http://schemas.openxmlformats.org/drawingml/2006/main">
              <a:ext uri="{FF2B5EF4-FFF2-40B4-BE49-F238E27FC236}">
                <a16:creationId xmlns:a16="http://schemas.microsoft.com/office/drawing/2014/main" id="{8864A5DD-1E3C-4A68-A4D0-6F840C13F5A4}"/>
              </a:ext>
            </a:extLst>
          </p:cNvPr>
          <p:cNvSpPr>
            <a:spLocks xmlns:a="http://schemas.openxmlformats.org/drawingml/2006/main" noGrp="1"/>
          </p:cNvSpPr>
          <p:nvPr/>
        </p:nvSpPr>
        <p:spPr>
          <a:xfrm xmlns:a="http://schemas.openxmlformats.org/drawingml/2006/main">
            <a:off x="6696075" y="4981575"/>
            <a:ext cx="4000500" cy="19050"/>
          </a:xfrm>
          <a:prstGeom xmlns:a="http://schemas.openxmlformats.org/drawingml/2006/main" prst="rect">
            <a:avLst/>
          </a:prstGeom>
          <a:solidFill xmlns:a="http://schemas.openxmlformats.org/drawingml/2006/main">
            <a:srgbClr val="AEB1AE"/>
          </a:solidFill>
          <a:ln xmlns:a="http://schemas.openxmlformats.org/drawingml/2006/main" w="0">
            <a:noFill/>
          </a:ln>
        </p:spPr>
      </p:sp>
    </p:spTree>
    <p:extLst>
      <p:ext uri="{BB962C8B-B14F-4D97-AF65-F5344CB8AC3E}">
        <p14:creationId xmlns:p14="http://schemas.microsoft.com/office/powerpoint/2010/main" val="712329859"/>
      </p:ext>
    </p:extLst>
  </p:cSld>
</p:sld>
</file>

<file path=ppt/slides/slide9.xml><?xml version="1.0" encoding="utf-8"?>
<p:sld xmlns:p="http://schemas.openxmlformats.org/presentationml/2006/main">
  <p:cSld>
    <p:bg>
      <p:bgPr>
        <a:solidFill xmlns:a="http://schemas.openxmlformats.org/drawingml/2006/main">
          <a:srgbClr val="FAFAF8"/>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E9887C79-E1DA-4D6F-9C63-268A3A4EE4B6}"/>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CFFF00"/>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993731A9-0807-48E5-9119-6A59B2DCB3F8}"/>
              </a:ext>
            </a:extLst>
          </p:cNvPr>
          <p:cNvSpPr>
            <a:spLocks xmlns:a="http://schemas.openxmlformats.org/drawingml/2006/main" noGrp="1"/>
          </p:cNvSpPr>
          <p:nvPr/>
        </p:nvSpPr>
        <p:spPr>
          <a:xfrm xmlns:a="http://schemas.openxmlformats.org/drawingml/2006/main">
            <a:off x="514350" y="323850"/>
            <a:ext cx="2381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5833"/>
          </a:bodyPr>
          <a:lstStyle xmlns:a="http://schemas.openxmlformats.org/drawingml/2006/main"/>
          <a:p xmlns:a="http://schemas.openxmlformats.org/drawingml/2006/main">
            <a:pPr>
              <a:defRPr sz="1200" b="1" i="0">
                <a:solidFill>
                  <a:srgbClr val="5B5D59"/>
                </a:solidFill>
                <a:latin typeface="Avenir"/>
                <a:ea typeface="Avenir"/>
                <a:cs typeface="Avenir"/>
              </a:defRPr>
            </a:pPr>
            <a:r>
              <a:rPr sz="1200" b="1" i="0">
                <a:solidFill>
                  <a:srgbClr val="5B5D59"/>
                </a:solidFill>
                <a:latin typeface="Avenir"/>
                <a:ea typeface="Avenir"/>
                <a:cs typeface="Avenir"/>
              </a:rPr>
              <a:t>N01  ·  METSI</a:t>
            </a:r>
          </a:p>
        </p:txBody>
      </p:sp>
      <p:sp>
        <p:nvSpPr>
          <p:cNvPr id="3" name="">
            <a:extLst xmlns:a="http://schemas.openxmlformats.org/drawingml/2006/main">
              <a:ext uri="{FF2B5EF4-FFF2-40B4-BE49-F238E27FC236}">
                <a16:creationId xmlns:a16="http://schemas.microsoft.com/office/drawing/2014/main" id="{164F7A0D-5C95-43A9-8DF8-D323978ABC6D}"/>
              </a:ext>
            </a:extLst>
          </p:cNvPr>
          <p:cNvSpPr>
            <a:spLocks xmlns:a="http://schemas.openxmlformats.org/drawingml/2006/main" noGrp="1"/>
          </p:cNvSpPr>
          <p:nvPr/>
        </p:nvSpPr>
        <p:spPr>
          <a:xfrm xmlns:a="http://schemas.openxmlformats.org/drawingml/2006/main">
            <a:off x="10858500" y="29527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350" b="1" i="0">
                <a:solidFill>
                  <a:srgbClr val="181817"/>
                </a:solidFill>
                <a:latin typeface="Avenir"/>
                <a:ea typeface="Avenir"/>
                <a:cs typeface="Avenir"/>
              </a:defRPr>
            </a:pPr>
            <a:r>
              <a:rPr sz="1350" b="1" i="0">
                <a:solidFill>
                  <a:srgbClr val="181817"/>
                </a:solidFill>
                <a:latin typeface="Avenir"/>
                <a:ea typeface="Avenir"/>
                <a:cs typeface="Avenir"/>
              </a:rPr>
              <a:t>09</a:t>
            </a:r>
          </a:p>
        </p:txBody>
      </p:sp>
      <p:sp>
        <p:nvSpPr>
          <p:cNvPr id="4" name="">
            <a:extLst xmlns:a="http://schemas.openxmlformats.org/drawingml/2006/main">
              <a:ext uri="{FF2B5EF4-FFF2-40B4-BE49-F238E27FC236}">
                <a16:creationId xmlns:a16="http://schemas.microsoft.com/office/drawing/2014/main" id="{A9799DA4-1B4E-4E1F-8AEA-B12BC92750E8}"/>
              </a:ext>
            </a:extLst>
          </p:cNvPr>
          <p:cNvSpPr>
            <a:spLocks xmlns:a="http://schemas.openxmlformats.org/drawingml/2006/main" noGrp="1"/>
          </p:cNvSpPr>
          <p:nvPr/>
        </p:nvSpPr>
        <p:spPr>
          <a:xfrm xmlns:a="http://schemas.openxmlformats.org/drawingml/2006/main">
            <a:off x="7239000" y="352425"/>
            <a:ext cx="338137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3939"/>
          </a:bodyPr>
          <a:lstStyle xmlns:a="http://schemas.openxmlformats.org/drawingml/2006/main"/>
          <a:p xmlns:a="http://schemas.openxmlformats.org/drawingml/2006/main">
            <a:pPr>
              <a:defRPr sz="825" b="1" i="0">
                <a:solidFill>
                  <a:srgbClr val="5B5D59"/>
                </a:solidFill>
                <a:latin typeface="Avenir"/>
                <a:ea typeface="Avenir"/>
                <a:cs typeface="Avenir"/>
              </a:defRPr>
            </a:pPr>
            <a:r>
              <a:rPr sz="825" b="1" i="0">
                <a:solidFill>
                  <a:srgbClr val="5B5D59"/>
                </a:solidFill>
                <a:latin typeface="Avenir"/>
                <a:ea typeface="Avenir"/>
                <a:cs typeface="Avenir"/>
              </a:rPr>
              <a:t>BLOQUE A · ENCUADRE  ·  ENCUENTRO</a:t>
            </a:r>
          </a:p>
        </p:txBody>
      </p:sp>
      <p:sp>
        <p:nvSpPr>
          <p:cNvPr id="5" name="">
            <a:extLst xmlns:a="http://schemas.openxmlformats.org/drawingml/2006/main">
              <a:ext uri="{FF2B5EF4-FFF2-40B4-BE49-F238E27FC236}">
                <a16:creationId xmlns:a16="http://schemas.microsoft.com/office/drawing/2014/main" id="{01F7B765-EF73-4210-855D-ACFF91E04EA3}"/>
              </a:ext>
            </a:extLst>
          </p:cNvPr>
          <p:cNvSpPr>
            <a:spLocks xmlns:a="http://schemas.openxmlformats.org/drawingml/2006/main" noGrp="1"/>
          </p:cNvSpPr>
          <p:nvPr/>
        </p:nvSpPr>
        <p:spPr>
          <a:xfrm xmlns:a="http://schemas.openxmlformats.org/drawingml/2006/main">
            <a:off x="514350" y="781050"/>
            <a:ext cx="11049000" cy="19050"/>
          </a:xfrm>
          <a:prstGeom xmlns:a="http://schemas.openxmlformats.org/drawingml/2006/main" prst="rect">
            <a:avLst/>
          </a:prstGeom>
          <a:solidFill xmlns:a="http://schemas.openxmlformats.org/drawingml/2006/main">
            <a:srgbClr val="181817"/>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3FA455B2-E9C6-4A71-BF00-E2AD003F5875}"/>
              </a:ext>
            </a:extLst>
          </p:cNvPr>
          <p:cNvSpPr>
            <a:spLocks xmlns:a="http://schemas.openxmlformats.org/drawingml/2006/main" noGrp="1"/>
          </p:cNvSpPr>
          <p:nvPr/>
        </p:nvSpPr>
        <p:spPr>
          <a:xfrm xmlns:a="http://schemas.openxmlformats.org/drawingml/2006/main">
            <a:off x="514350" y="6486525"/>
            <a:ext cx="11049000" cy="9525"/>
          </a:xfrm>
          <a:prstGeom xmlns:a="http://schemas.openxmlformats.org/drawingml/2006/main" prst="rect">
            <a:avLst/>
          </a:prstGeom>
          <a:solidFill xmlns:a="http://schemas.openxmlformats.org/drawingml/2006/main">
            <a:srgbClr val="AEB1AE"/>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9536F48F-A9E1-4CD8-B481-49BA4930DCF6}"/>
              </a:ext>
            </a:extLst>
          </p:cNvPr>
          <p:cNvSpPr>
            <a:spLocks xmlns:a="http://schemas.openxmlformats.org/drawingml/2006/main" noGrp="1"/>
          </p:cNvSpPr>
          <p:nvPr/>
        </p:nvSpPr>
        <p:spPr>
          <a:xfrm xmlns:a="http://schemas.openxmlformats.org/drawingml/2006/main">
            <a:off x="514350" y="6553200"/>
            <a:ext cx="5334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8788"/>
          </a:bodyPr>
          <a:lstStyle xmlns:a="http://schemas.openxmlformats.org/drawingml/2006/main"/>
          <a:p xmlns:a="http://schemas.openxmlformats.org/drawingml/2006/main">
            <a:pPr>
              <a:defRPr sz="825" b="0" i="0">
                <a:solidFill>
                  <a:srgbClr val="5B5D59"/>
                </a:solidFill>
                <a:latin typeface="Avenir"/>
                <a:ea typeface="Avenir"/>
                <a:cs typeface="Avenir"/>
              </a:defRPr>
            </a:pPr>
            <a:r>
              <a:rPr sz="825" b="0" i="0">
                <a:solidFill>
                  <a:srgbClr val="5B5D59"/>
                </a:solidFill>
                <a:latin typeface="Avenir"/>
                <a:ea typeface="Avenir"/>
                <a:cs typeface="Avenir"/>
              </a:rPr>
              <a:t>Metodología de Sistemas de Información · FCE UBA</a:t>
            </a:r>
          </a:p>
        </p:txBody>
      </p:sp>
      <p:sp>
        <p:nvSpPr>
          <p:cNvPr id="8" name="">
            <a:extLst xmlns:a="http://schemas.openxmlformats.org/drawingml/2006/main">
              <a:ext uri="{FF2B5EF4-FFF2-40B4-BE49-F238E27FC236}">
                <a16:creationId xmlns:a16="http://schemas.microsoft.com/office/drawing/2014/main" id="{D22706AC-8D96-40D0-8D80-D73A692C2564}"/>
              </a:ext>
            </a:extLst>
          </p:cNvPr>
          <p:cNvSpPr>
            <a:spLocks xmlns:a="http://schemas.openxmlformats.org/drawingml/2006/main" noGrp="1"/>
          </p:cNvSpPr>
          <p:nvPr/>
        </p:nvSpPr>
        <p:spPr>
          <a:xfrm xmlns:a="http://schemas.openxmlformats.org/drawingml/2006/main">
            <a:off x="704850" y="1066800"/>
            <a:ext cx="8763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3000" b="0" i="0">
                <a:solidFill>
                  <a:srgbClr val="181817"/>
                </a:solidFill>
                <a:latin typeface="Didot"/>
                <a:ea typeface="Didot"/>
                <a:cs typeface="Didot"/>
              </a:defRPr>
            </a:pPr>
            <a:r>
              <a:rPr sz="3000" b="0" i="0">
                <a:solidFill>
                  <a:srgbClr val="181817"/>
                </a:solidFill>
                <a:latin typeface="Didot"/>
                <a:ea typeface="Didot"/>
                <a:cs typeface="Didot"/>
              </a:rPr>
              <a:t>Registro individual y puente</a:t>
            </a:r>
          </a:p>
        </p:txBody>
      </p:sp>
      <p:sp>
        <p:nvSpPr>
          <p:cNvPr id="9" name="">
            <a:extLst xmlns:a="http://schemas.openxmlformats.org/drawingml/2006/main">
              <a:ext uri="{FF2B5EF4-FFF2-40B4-BE49-F238E27FC236}">
                <a16:creationId xmlns:a16="http://schemas.microsoft.com/office/drawing/2014/main" id="{25B00640-5AFC-4D8A-AD69-6E828A34E3F4}"/>
              </a:ext>
            </a:extLst>
          </p:cNvPr>
          <p:cNvSpPr>
            <a:spLocks xmlns:a="http://schemas.openxmlformats.org/drawingml/2006/main" noGrp="1"/>
          </p:cNvSpPr>
          <p:nvPr/>
        </p:nvSpPr>
        <p:spPr>
          <a:xfrm xmlns:a="http://schemas.openxmlformats.org/drawingml/2006/main">
            <a:off x="10001250" y="1200150"/>
            <a:ext cx="1238250" cy="514350"/>
          </a:xfrm>
          <a:prstGeom xmlns:a="http://schemas.openxmlformats.org/drawingml/2006/main" prst="roundRect">
            <a:avLst>
              <a:gd name="adj" fmla="val 14815"/>
            </a:avLst>
          </a:prstGeom>
          <a:solidFill xmlns:a="http://schemas.openxmlformats.org/drawingml/2006/main">
            <a:srgbClr val="E4E6E5"/>
          </a:solidFill>
          <a:ln xmlns:a="http://schemas.openxmlformats.org/drawingml/2006/main" w="9525">
            <a:solidFill>
              <a:srgbClr val="AEB1AE"/>
            </a:solidFill>
          </a:ln>
        </p:spPr>
      </p:sp>
      <p:sp>
        <p:nvSpPr>
          <p:cNvPr id="10" name="">
            <a:extLst xmlns:a="http://schemas.openxmlformats.org/drawingml/2006/main">
              <a:ext uri="{FF2B5EF4-FFF2-40B4-BE49-F238E27FC236}">
                <a16:creationId xmlns:a16="http://schemas.microsoft.com/office/drawing/2014/main" id="{764D3E96-060C-4978-ADDE-88AC2EB38B89}"/>
              </a:ext>
            </a:extLst>
          </p:cNvPr>
          <p:cNvSpPr>
            <a:spLocks xmlns:a="http://schemas.openxmlformats.org/drawingml/2006/main" noGrp="1"/>
          </p:cNvSpPr>
          <p:nvPr/>
        </p:nvSpPr>
        <p:spPr>
          <a:xfrm xmlns:a="http://schemas.openxmlformats.org/drawingml/2006/main">
            <a:off x="10001250" y="1323975"/>
            <a:ext cx="123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p xmlns:a="http://schemas.openxmlformats.org/drawingml/2006/main">
            <a:pPr>
              <a:defRPr sz="1125" b="1" i="0">
                <a:solidFill>
                  <a:srgbClr val="181817"/>
                </a:solidFill>
                <a:latin typeface="Avenir"/>
                <a:ea typeface="Avenir"/>
                <a:cs typeface="Avenir"/>
              </a:defRPr>
            </a:pPr>
            <a:r>
              <a:rPr sz="1125" b="1" i="0">
                <a:solidFill>
                  <a:srgbClr val="181817"/>
                </a:solidFill>
                <a:latin typeface="Avenir"/>
                <a:ea typeface="Avenir"/>
                <a:cs typeface="Avenir"/>
              </a:rPr>
              <a:t>7 MIN</a:t>
            </a:r>
          </a:p>
        </p:txBody>
      </p:sp>
      <p:sp>
        <p:nvSpPr>
          <p:cNvPr id="11" name="">
            <a:extLst xmlns:a="http://schemas.openxmlformats.org/drawingml/2006/main">
              <a:ext uri="{FF2B5EF4-FFF2-40B4-BE49-F238E27FC236}">
                <a16:creationId xmlns:a16="http://schemas.microsoft.com/office/drawing/2014/main" id="{AC6E9F80-9C46-479E-867B-CF8E926D8327}"/>
              </a:ext>
            </a:extLst>
          </p:cNvPr>
          <p:cNvSpPr>
            <a:spLocks xmlns:a="http://schemas.openxmlformats.org/drawingml/2006/main" noGrp="1"/>
          </p:cNvSpPr>
          <p:nvPr/>
        </p:nvSpPr>
        <p:spPr>
          <a:xfrm xmlns:a="http://schemas.openxmlformats.org/drawingml/2006/main">
            <a:off x="704850" y="1952625"/>
            <a:ext cx="10287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500" b="0" i="0">
                <a:solidFill>
                  <a:srgbClr val="5B5D59"/>
                </a:solidFill>
                <a:latin typeface="Avenir"/>
                <a:ea typeface="Avenir"/>
                <a:cs typeface="Avenir"/>
              </a:defRPr>
            </a:pPr>
            <a:r>
              <a:rPr sz="1500" b="0" i="0">
                <a:solidFill>
                  <a:srgbClr val="5B5D59"/>
                </a:solidFill>
                <a:latin typeface="Avenir"/>
                <a:ea typeface="Avenir"/>
                <a:cs typeface="Avenir"/>
              </a:rPr>
              <a:t>Cada persona completa: 1. al comienzo pensaba; 2. ahora sostengo; 3. cambié por esta evidencia u objeción; 4. todavía podría cambiar si; 5. para N02 necesito saber qué relaciones forman el sistema relevante.</a:t>
            </a:r>
          </a:p>
        </p:txBody>
      </p:sp>
      <p:sp>
        <p:nvSpPr>
          <p:cNvPr id="12" name="">
            <a:extLst xmlns:a="http://schemas.openxmlformats.org/drawingml/2006/main">
              <a:ext uri="{FF2B5EF4-FFF2-40B4-BE49-F238E27FC236}">
                <a16:creationId xmlns:a16="http://schemas.microsoft.com/office/drawing/2014/main" id="{6654A9FC-47B4-4042-8D9B-9B5CBA353747}"/>
              </a:ext>
            </a:extLst>
          </p:cNvPr>
          <p:cNvSpPr>
            <a:spLocks xmlns:a="http://schemas.openxmlformats.org/drawingml/2006/main" noGrp="1"/>
          </p:cNvSpPr>
          <p:nvPr/>
        </p:nvSpPr>
        <p:spPr>
          <a:xfrm xmlns:a="http://schemas.openxmlformats.org/drawingml/2006/main">
            <a:off x="762000" y="2857500"/>
            <a:ext cx="6191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200" b="1" i="0">
                <a:solidFill>
                  <a:srgbClr val="5B5D59"/>
                </a:solidFill>
                <a:latin typeface="Avenir"/>
                <a:ea typeface="Avenir"/>
                <a:cs typeface="Avenir"/>
              </a:defRPr>
            </a:pPr>
            <a:r>
              <a:rPr sz="1200" b="1" i="0">
                <a:solidFill>
                  <a:srgbClr val="5B5D59"/>
                </a:solidFill>
                <a:latin typeface="Avenir"/>
                <a:ea typeface="Avenir"/>
                <a:cs typeface="Avenir"/>
              </a:rPr>
              <a:t>01</a:t>
            </a:r>
          </a:p>
        </p:txBody>
      </p:sp>
      <p:sp>
        <p:nvSpPr>
          <p:cNvPr id="13" name="">
            <a:extLst xmlns:a="http://schemas.openxmlformats.org/drawingml/2006/main">
              <a:ext uri="{FF2B5EF4-FFF2-40B4-BE49-F238E27FC236}">
                <a16:creationId xmlns:a16="http://schemas.microsoft.com/office/drawing/2014/main" id="{5A6F55BA-495D-41AE-8852-E6906253A56E}"/>
              </a:ext>
            </a:extLst>
          </p:cNvPr>
          <p:cNvSpPr>
            <a:spLocks xmlns:a="http://schemas.openxmlformats.org/drawingml/2006/main" noGrp="1"/>
          </p:cNvSpPr>
          <p:nvPr/>
        </p:nvSpPr>
        <p:spPr>
          <a:xfrm xmlns:a="http://schemas.openxmlformats.org/drawingml/2006/main">
            <a:off x="1571625" y="2790825"/>
            <a:ext cx="8001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2025" b="0" i="0">
                <a:solidFill>
                  <a:srgbClr val="181817"/>
                </a:solidFill>
                <a:latin typeface="Didot"/>
                <a:ea typeface="Didot"/>
                <a:cs typeface="Didot"/>
              </a:defRPr>
            </a:pPr>
            <a:r>
              <a:rPr sz="2025" b="0" i="0">
                <a:solidFill>
                  <a:srgbClr val="181817"/>
                </a:solidFill>
                <a:latin typeface="Didot"/>
                <a:ea typeface="Didot"/>
                <a:cs typeface="Didot"/>
              </a:rPr>
              <a:t>Qué sostenemos</a:t>
            </a:r>
          </a:p>
        </p:txBody>
      </p:sp>
      <p:sp>
        <p:nvSpPr>
          <p:cNvPr id="14" name="">
            <a:extLst xmlns:a="http://schemas.openxmlformats.org/drawingml/2006/main">
              <a:ext uri="{FF2B5EF4-FFF2-40B4-BE49-F238E27FC236}">
                <a16:creationId xmlns:a16="http://schemas.microsoft.com/office/drawing/2014/main" id="{3BCEC368-0A6F-4E25-98AD-00D0F3499F8C}"/>
              </a:ext>
            </a:extLst>
          </p:cNvPr>
          <p:cNvSpPr>
            <a:spLocks xmlns:a="http://schemas.openxmlformats.org/drawingml/2006/main" noGrp="1"/>
          </p:cNvSpPr>
          <p:nvPr/>
        </p:nvSpPr>
        <p:spPr>
          <a:xfrm xmlns:a="http://schemas.openxmlformats.org/drawingml/2006/main">
            <a:off x="9667875" y="2990850"/>
            <a:ext cx="1238250" cy="28575"/>
          </a:xfrm>
          <a:prstGeom xmlns:a="http://schemas.openxmlformats.org/drawingml/2006/main" prst="rect">
            <a:avLst/>
          </a:prstGeom>
          <a:solidFill xmlns:a="http://schemas.openxmlformats.org/drawingml/2006/main">
            <a:srgbClr val="181817"/>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CF480FE4-9F3B-4555-B8A1-C6238F9F6652}"/>
              </a:ext>
            </a:extLst>
          </p:cNvPr>
          <p:cNvSpPr>
            <a:spLocks xmlns:a="http://schemas.openxmlformats.org/drawingml/2006/main" noGrp="1"/>
          </p:cNvSpPr>
          <p:nvPr/>
        </p:nvSpPr>
        <p:spPr>
          <a:xfrm xmlns:a="http://schemas.openxmlformats.org/drawingml/2006/main">
            <a:off x="762000" y="3543300"/>
            <a:ext cx="6191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200" b="1" i="0">
                <a:solidFill>
                  <a:srgbClr val="5B5D59"/>
                </a:solidFill>
                <a:latin typeface="Avenir"/>
                <a:ea typeface="Avenir"/>
                <a:cs typeface="Avenir"/>
              </a:defRPr>
            </a:pPr>
            <a:r>
              <a:rPr sz="1200" b="1" i="0">
                <a:solidFill>
                  <a:srgbClr val="5B5D59"/>
                </a:solidFill>
                <a:latin typeface="Avenir"/>
                <a:ea typeface="Avenir"/>
                <a:cs typeface="Avenir"/>
              </a:rPr>
              <a:t>02</a:t>
            </a:r>
          </a:p>
        </p:txBody>
      </p:sp>
      <p:sp>
        <p:nvSpPr>
          <p:cNvPr id="16" name="">
            <a:extLst xmlns:a="http://schemas.openxmlformats.org/drawingml/2006/main">
              <a:ext uri="{FF2B5EF4-FFF2-40B4-BE49-F238E27FC236}">
                <a16:creationId xmlns:a16="http://schemas.microsoft.com/office/drawing/2014/main" id="{545FF365-25D2-49D6-8875-3331737181E8}"/>
              </a:ext>
            </a:extLst>
          </p:cNvPr>
          <p:cNvSpPr>
            <a:spLocks xmlns:a="http://schemas.openxmlformats.org/drawingml/2006/main" noGrp="1"/>
          </p:cNvSpPr>
          <p:nvPr/>
        </p:nvSpPr>
        <p:spPr>
          <a:xfrm xmlns:a="http://schemas.openxmlformats.org/drawingml/2006/main">
            <a:off x="1571625" y="3476625"/>
            <a:ext cx="8001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2025" b="0" i="0">
                <a:solidFill>
                  <a:srgbClr val="181817"/>
                </a:solidFill>
                <a:latin typeface="Didot"/>
                <a:ea typeface="Didot"/>
                <a:cs typeface="Didot"/>
              </a:defRPr>
            </a:pPr>
            <a:r>
              <a:rPr sz="2025" b="0" i="0">
                <a:solidFill>
                  <a:srgbClr val="181817"/>
                </a:solidFill>
                <a:latin typeface="Didot"/>
                <a:ea typeface="Didot"/>
                <a:cs typeface="Didot"/>
              </a:rPr>
              <a:t>Qué evidencia usamos</a:t>
            </a:r>
          </a:p>
        </p:txBody>
      </p:sp>
      <p:sp>
        <p:nvSpPr>
          <p:cNvPr id="17" name="">
            <a:extLst xmlns:a="http://schemas.openxmlformats.org/drawingml/2006/main">
              <a:ext uri="{FF2B5EF4-FFF2-40B4-BE49-F238E27FC236}">
                <a16:creationId xmlns:a16="http://schemas.microsoft.com/office/drawing/2014/main" id="{D2353929-E642-45F4-9874-F1FE47615584}"/>
              </a:ext>
            </a:extLst>
          </p:cNvPr>
          <p:cNvSpPr>
            <a:spLocks xmlns:a="http://schemas.openxmlformats.org/drawingml/2006/main" noGrp="1"/>
          </p:cNvSpPr>
          <p:nvPr/>
        </p:nvSpPr>
        <p:spPr>
          <a:xfrm xmlns:a="http://schemas.openxmlformats.org/drawingml/2006/main">
            <a:off x="9667875" y="3676650"/>
            <a:ext cx="1238250" cy="28575"/>
          </a:xfrm>
          <a:prstGeom xmlns:a="http://schemas.openxmlformats.org/drawingml/2006/main" prst="rect">
            <a:avLst/>
          </a:prstGeom>
          <a:solidFill xmlns:a="http://schemas.openxmlformats.org/drawingml/2006/main">
            <a:srgbClr val="181817"/>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B22ABAEE-02A2-4907-9D91-A7BDC9ED3FC6}"/>
              </a:ext>
            </a:extLst>
          </p:cNvPr>
          <p:cNvSpPr>
            <a:spLocks xmlns:a="http://schemas.openxmlformats.org/drawingml/2006/main" noGrp="1"/>
          </p:cNvSpPr>
          <p:nvPr/>
        </p:nvSpPr>
        <p:spPr>
          <a:xfrm xmlns:a="http://schemas.openxmlformats.org/drawingml/2006/main">
            <a:off x="762000" y="4229100"/>
            <a:ext cx="6191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200" b="1" i="0">
                <a:solidFill>
                  <a:srgbClr val="5B5D59"/>
                </a:solidFill>
                <a:latin typeface="Avenir"/>
                <a:ea typeface="Avenir"/>
                <a:cs typeface="Avenir"/>
              </a:defRPr>
            </a:pPr>
            <a:r>
              <a:rPr sz="1200" b="1" i="0">
                <a:solidFill>
                  <a:srgbClr val="5B5D59"/>
                </a:solidFill>
                <a:latin typeface="Avenir"/>
                <a:ea typeface="Avenir"/>
                <a:cs typeface="Avenir"/>
              </a:rPr>
              <a:t>03</a:t>
            </a:r>
          </a:p>
        </p:txBody>
      </p:sp>
      <p:sp>
        <p:nvSpPr>
          <p:cNvPr id="19" name="">
            <a:extLst xmlns:a="http://schemas.openxmlformats.org/drawingml/2006/main">
              <a:ext uri="{FF2B5EF4-FFF2-40B4-BE49-F238E27FC236}">
                <a16:creationId xmlns:a16="http://schemas.microsoft.com/office/drawing/2014/main" id="{F980AD18-ABC1-40C1-AF13-C9BAD24F9474}"/>
              </a:ext>
            </a:extLst>
          </p:cNvPr>
          <p:cNvSpPr>
            <a:spLocks xmlns:a="http://schemas.openxmlformats.org/drawingml/2006/main" noGrp="1"/>
          </p:cNvSpPr>
          <p:nvPr/>
        </p:nvSpPr>
        <p:spPr>
          <a:xfrm xmlns:a="http://schemas.openxmlformats.org/drawingml/2006/main">
            <a:off x="1571625" y="4162425"/>
            <a:ext cx="8001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2025" b="0" i="0">
                <a:solidFill>
                  <a:srgbClr val="181817"/>
                </a:solidFill>
                <a:latin typeface="Didot"/>
                <a:ea typeface="Didot"/>
                <a:cs typeface="Didot"/>
              </a:defRPr>
            </a:pPr>
            <a:r>
              <a:rPr sz="2025" b="0" i="0">
                <a:solidFill>
                  <a:srgbClr val="181817"/>
                </a:solidFill>
                <a:latin typeface="Didot"/>
                <a:ea typeface="Didot"/>
                <a:cs typeface="Didot"/>
              </a:rPr>
              <a:t>Qué decidimos</a:t>
            </a:r>
          </a:p>
        </p:txBody>
      </p:sp>
      <p:sp>
        <p:nvSpPr>
          <p:cNvPr id="20" name="">
            <a:extLst xmlns:a="http://schemas.openxmlformats.org/drawingml/2006/main">
              <a:ext uri="{FF2B5EF4-FFF2-40B4-BE49-F238E27FC236}">
                <a16:creationId xmlns:a16="http://schemas.microsoft.com/office/drawing/2014/main" id="{F11BDCB4-6B24-4C43-9725-6FCBCDE6556D}"/>
              </a:ext>
            </a:extLst>
          </p:cNvPr>
          <p:cNvSpPr>
            <a:spLocks xmlns:a="http://schemas.openxmlformats.org/drawingml/2006/main" noGrp="1"/>
          </p:cNvSpPr>
          <p:nvPr/>
        </p:nvSpPr>
        <p:spPr>
          <a:xfrm xmlns:a="http://schemas.openxmlformats.org/drawingml/2006/main">
            <a:off x="9667875" y="4362450"/>
            <a:ext cx="1238250" cy="28575"/>
          </a:xfrm>
          <a:prstGeom xmlns:a="http://schemas.openxmlformats.org/drawingml/2006/main" prst="rect">
            <a:avLst/>
          </a:prstGeom>
          <a:solidFill xmlns:a="http://schemas.openxmlformats.org/drawingml/2006/main">
            <a:srgbClr val="181817"/>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B216368D-6AC1-4F7A-9EFF-44170A67DD47}"/>
              </a:ext>
            </a:extLst>
          </p:cNvPr>
          <p:cNvSpPr>
            <a:spLocks xmlns:a="http://schemas.openxmlformats.org/drawingml/2006/main" noGrp="1"/>
          </p:cNvSpPr>
          <p:nvPr/>
        </p:nvSpPr>
        <p:spPr>
          <a:xfrm xmlns:a="http://schemas.openxmlformats.org/drawingml/2006/main">
            <a:off x="762000" y="4914900"/>
            <a:ext cx="6191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200" b="1" i="0">
                <a:solidFill>
                  <a:srgbClr val="5B5D59"/>
                </a:solidFill>
                <a:latin typeface="Avenir"/>
                <a:ea typeface="Avenir"/>
                <a:cs typeface="Avenir"/>
              </a:defRPr>
            </a:pPr>
            <a:r>
              <a:rPr sz="1200" b="1" i="0">
                <a:solidFill>
                  <a:srgbClr val="5B5D59"/>
                </a:solidFill>
                <a:latin typeface="Avenir"/>
                <a:ea typeface="Avenir"/>
                <a:cs typeface="Avenir"/>
              </a:rPr>
              <a:t>04</a:t>
            </a:r>
          </a:p>
        </p:txBody>
      </p:sp>
      <p:sp>
        <p:nvSpPr>
          <p:cNvPr id="22" name="">
            <a:extLst xmlns:a="http://schemas.openxmlformats.org/drawingml/2006/main">
              <a:ext uri="{FF2B5EF4-FFF2-40B4-BE49-F238E27FC236}">
                <a16:creationId xmlns:a16="http://schemas.microsoft.com/office/drawing/2014/main" id="{0445C659-05AF-4B08-A622-658C6369BC57}"/>
              </a:ext>
            </a:extLst>
          </p:cNvPr>
          <p:cNvSpPr>
            <a:spLocks xmlns:a="http://schemas.openxmlformats.org/drawingml/2006/main" noGrp="1"/>
          </p:cNvSpPr>
          <p:nvPr/>
        </p:nvSpPr>
        <p:spPr>
          <a:xfrm xmlns:a="http://schemas.openxmlformats.org/drawingml/2006/main">
            <a:off x="1571625" y="4848225"/>
            <a:ext cx="8001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2025" b="0" i="0">
                <a:solidFill>
                  <a:srgbClr val="181817"/>
                </a:solidFill>
                <a:latin typeface="Didot"/>
                <a:ea typeface="Didot"/>
                <a:cs typeface="Didot"/>
              </a:defRPr>
            </a:pPr>
            <a:r>
              <a:rPr sz="2025" b="0" i="0">
                <a:solidFill>
                  <a:srgbClr val="181817"/>
                </a:solidFill>
                <a:latin typeface="Didot"/>
                <a:ea typeface="Didot"/>
                <a:cs typeface="Didot"/>
              </a:rPr>
              <a:t>Qué podría hacernos revisar</a:t>
            </a:r>
          </a:p>
        </p:txBody>
      </p:sp>
      <p:sp>
        <p:nvSpPr>
          <p:cNvPr id="23" name="">
            <a:extLst xmlns:a="http://schemas.openxmlformats.org/drawingml/2006/main">
              <a:ext uri="{FF2B5EF4-FFF2-40B4-BE49-F238E27FC236}">
                <a16:creationId xmlns:a16="http://schemas.microsoft.com/office/drawing/2014/main" id="{8583DC51-259F-4759-B5E2-3BCD2B745949}"/>
              </a:ext>
            </a:extLst>
          </p:cNvPr>
          <p:cNvSpPr>
            <a:spLocks xmlns:a="http://schemas.openxmlformats.org/drawingml/2006/main" noGrp="1"/>
          </p:cNvSpPr>
          <p:nvPr/>
        </p:nvSpPr>
        <p:spPr>
          <a:xfrm xmlns:a="http://schemas.openxmlformats.org/drawingml/2006/main">
            <a:off x="9667875" y="5048250"/>
            <a:ext cx="1238250" cy="28575"/>
          </a:xfrm>
          <a:prstGeom xmlns:a="http://schemas.openxmlformats.org/drawingml/2006/main" prst="rect">
            <a:avLst/>
          </a:prstGeom>
          <a:solidFill xmlns:a="http://schemas.openxmlformats.org/drawingml/2006/main">
            <a:srgbClr val="CFFF00"/>
          </a:solidFill>
          <a:ln xmlns:a="http://schemas.openxmlformats.org/drawingml/2006/main" w="0">
            <a:noFill/>
          </a:ln>
        </p:spPr>
      </p:sp>
    </p:spTree>
    <p:extLst>
      <p:ext uri="{BB962C8B-B14F-4D97-AF65-F5344CB8AC3E}">
        <p14:creationId xmlns:p14="http://schemas.microsoft.com/office/powerpoint/2010/main" val="1615676811"/>
      </p:ext>
    </p:extLst>
  </p:cSld>
</p:sld>
</file>

<file path=ppt/slides/slide10.xml><?xml version="1.0" encoding="utf-8"?>
<p:sld xmlns:p="http://schemas.openxmlformats.org/presentationml/2006/main">
  <p:cSld>
    <p:bg>
      <p:bgPr>
        <a:solidFill xmlns:a="http://schemas.openxmlformats.org/drawingml/2006/main">
          <a:srgbClr val="FAFAF8"/>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1D8F4370-D52C-43AC-87E5-96F4343B7789}"/>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CFFF00"/>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31DD3F05-96E5-4605-9B31-E1D162F4297C}"/>
              </a:ext>
            </a:extLst>
          </p:cNvPr>
          <p:cNvSpPr>
            <a:spLocks xmlns:a="http://schemas.openxmlformats.org/drawingml/2006/main" noGrp="1"/>
          </p:cNvSpPr>
          <p:nvPr/>
        </p:nvSpPr>
        <p:spPr>
          <a:xfrm xmlns:a="http://schemas.openxmlformats.org/drawingml/2006/main">
            <a:off x="514350" y="323850"/>
            <a:ext cx="2381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5833"/>
          </a:bodyPr>
          <a:lstStyle xmlns:a="http://schemas.openxmlformats.org/drawingml/2006/main"/>
          <a:p xmlns:a="http://schemas.openxmlformats.org/drawingml/2006/main">
            <a:pPr>
              <a:defRPr sz="1200" b="1" i="0">
                <a:solidFill>
                  <a:srgbClr val="5B5D59"/>
                </a:solidFill>
                <a:latin typeface="Avenir"/>
                <a:ea typeface="Avenir"/>
                <a:cs typeface="Avenir"/>
              </a:defRPr>
            </a:pPr>
            <a:r>
              <a:rPr sz="1200" b="1" i="0">
                <a:solidFill>
                  <a:srgbClr val="5B5D59"/>
                </a:solidFill>
                <a:latin typeface="Avenir"/>
                <a:ea typeface="Avenir"/>
                <a:cs typeface="Avenir"/>
              </a:rPr>
              <a:t>N01  ·  METSI</a:t>
            </a:r>
          </a:p>
        </p:txBody>
      </p:sp>
      <p:sp>
        <p:nvSpPr>
          <p:cNvPr id="3" name="">
            <a:extLst xmlns:a="http://schemas.openxmlformats.org/drawingml/2006/main">
              <a:ext uri="{FF2B5EF4-FFF2-40B4-BE49-F238E27FC236}">
                <a16:creationId xmlns:a16="http://schemas.microsoft.com/office/drawing/2014/main" id="{900FE132-3C53-46DF-81D1-E30516A5C578}"/>
              </a:ext>
            </a:extLst>
          </p:cNvPr>
          <p:cNvSpPr>
            <a:spLocks xmlns:a="http://schemas.openxmlformats.org/drawingml/2006/main" noGrp="1"/>
          </p:cNvSpPr>
          <p:nvPr/>
        </p:nvSpPr>
        <p:spPr>
          <a:xfrm xmlns:a="http://schemas.openxmlformats.org/drawingml/2006/main">
            <a:off x="10858500" y="29527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350" b="1" i="0">
                <a:solidFill>
                  <a:srgbClr val="181817"/>
                </a:solidFill>
                <a:latin typeface="Avenir"/>
                <a:ea typeface="Avenir"/>
                <a:cs typeface="Avenir"/>
              </a:defRPr>
            </a:pPr>
            <a:r>
              <a:rPr sz="1350" b="1" i="0">
                <a:solidFill>
                  <a:srgbClr val="181817"/>
                </a:solidFill>
                <a:latin typeface="Avenir"/>
                <a:ea typeface="Avenir"/>
                <a:cs typeface="Avenir"/>
              </a:rPr>
              <a:t>10</a:t>
            </a:r>
          </a:p>
        </p:txBody>
      </p:sp>
      <p:sp>
        <p:nvSpPr>
          <p:cNvPr id="4" name="">
            <a:extLst xmlns:a="http://schemas.openxmlformats.org/drawingml/2006/main">
              <a:ext uri="{FF2B5EF4-FFF2-40B4-BE49-F238E27FC236}">
                <a16:creationId xmlns:a16="http://schemas.microsoft.com/office/drawing/2014/main" id="{775A2738-B6C1-4780-A464-D49086F14FC2}"/>
              </a:ext>
            </a:extLst>
          </p:cNvPr>
          <p:cNvSpPr>
            <a:spLocks xmlns:a="http://schemas.openxmlformats.org/drawingml/2006/main" noGrp="1"/>
          </p:cNvSpPr>
          <p:nvPr/>
        </p:nvSpPr>
        <p:spPr>
          <a:xfrm xmlns:a="http://schemas.openxmlformats.org/drawingml/2006/main">
            <a:off x="7239000" y="352425"/>
            <a:ext cx="338137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3939"/>
          </a:bodyPr>
          <a:lstStyle xmlns:a="http://schemas.openxmlformats.org/drawingml/2006/main"/>
          <a:p xmlns:a="http://schemas.openxmlformats.org/drawingml/2006/main">
            <a:pPr>
              <a:defRPr sz="825" b="1" i="0">
                <a:solidFill>
                  <a:srgbClr val="5B5D59"/>
                </a:solidFill>
                <a:latin typeface="Avenir"/>
                <a:ea typeface="Avenir"/>
                <a:cs typeface="Avenir"/>
              </a:defRPr>
            </a:pPr>
            <a:r>
              <a:rPr sz="825" b="1" i="0">
                <a:solidFill>
                  <a:srgbClr val="5B5D59"/>
                </a:solidFill>
                <a:latin typeface="Avenir"/>
                <a:ea typeface="Avenir"/>
                <a:cs typeface="Avenir"/>
              </a:rPr>
              <a:t>BLOQUE A · ENCUADRE  ·  CIERRE</a:t>
            </a:r>
          </a:p>
        </p:txBody>
      </p:sp>
      <p:sp>
        <p:nvSpPr>
          <p:cNvPr id="5" name="">
            <a:extLst xmlns:a="http://schemas.openxmlformats.org/drawingml/2006/main">
              <a:ext uri="{FF2B5EF4-FFF2-40B4-BE49-F238E27FC236}">
                <a16:creationId xmlns:a16="http://schemas.microsoft.com/office/drawing/2014/main" id="{416E1D75-D748-41DD-8B8C-9C7C7A1F36EB}"/>
              </a:ext>
            </a:extLst>
          </p:cNvPr>
          <p:cNvSpPr>
            <a:spLocks xmlns:a="http://schemas.openxmlformats.org/drawingml/2006/main" noGrp="1"/>
          </p:cNvSpPr>
          <p:nvPr/>
        </p:nvSpPr>
        <p:spPr>
          <a:xfrm xmlns:a="http://schemas.openxmlformats.org/drawingml/2006/main">
            <a:off x="514350" y="781050"/>
            <a:ext cx="11049000" cy="19050"/>
          </a:xfrm>
          <a:prstGeom xmlns:a="http://schemas.openxmlformats.org/drawingml/2006/main" prst="rect">
            <a:avLst/>
          </a:prstGeom>
          <a:solidFill xmlns:a="http://schemas.openxmlformats.org/drawingml/2006/main">
            <a:srgbClr val="181817"/>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9A55D3B0-3A53-464A-BEFB-420A692B0A80}"/>
              </a:ext>
            </a:extLst>
          </p:cNvPr>
          <p:cNvSpPr>
            <a:spLocks xmlns:a="http://schemas.openxmlformats.org/drawingml/2006/main" noGrp="1"/>
          </p:cNvSpPr>
          <p:nvPr/>
        </p:nvSpPr>
        <p:spPr>
          <a:xfrm xmlns:a="http://schemas.openxmlformats.org/drawingml/2006/main">
            <a:off x="514350" y="6486525"/>
            <a:ext cx="11049000" cy="9525"/>
          </a:xfrm>
          <a:prstGeom xmlns:a="http://schemas.openxmlformats.org/drawingml/2006/main" prst="rect">
            <a:avLst/>
          </a:prstGeom>
          <a:solidFill xmlns:a="http://schemas.openxmlformats.org/drawingml/2006/main">
            <a:srgbClr val="AEB1AE"/>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5DD087DC-6164-456B-ACC1-CEEA1169969D}"/>
              </a:ext>
            </a:extLst>
          </p:cNvPr>
          <p:cNvSpPr>
            <a:spLocks xmlns:a="http://schemas.openxmlformats.org/drawingml/2006/main" noGrp="1"/>
          </p:cNvSpPr>
          <p:nvPr/>
        </p:nvSpPr>
        <p:spPr>
          <a:xfrm xmlns:a="http://schemas.openxmlformats.org/drawingml/2006/main">
            <a:off x="514350" y="6553200"/>
            <a:ext cx="5334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8788"/>
          </a:bodyPr>
          <a:lstStyle xmlns:a="http://schemas.openxmlformats.org/drawingml/2006/main"/>
          <a:p xmlns:a="http://schemas.openxmlformats.org/drawingml/2006/main">
            <a:pPr>
              <a:defRPr sz="825" b="0" i="0">
                <a:solidFill>
                  <a:srgbClr val="5B5D59"/>
                </a:solidFill>
                <a:latin typeface="Avenir"/>
                <a:ea typeface="Avenir"/>
                <a:cs typeface="Avenir"/>
              </a:defRPr>
            </a:pPr>
            <a:r>
              <a:rPr sz="825" b="0" i="0">
                <a:solidFill>
                  <a:srgbClr val="5B5D59"/>
                </a:solidFill>
                <a:latin typeface="Avenir"/>
                <a:ea typeface="Avenir"/>
                <a:cs typeface="Avenir"/>
              </a:rPr>
              <a:t>Metodología de Sistemas de Información · FCE UBA</a:t>
            </a:r>
          </a:p>
        </p:txBody>
      </p:sp>
      <p:sp>
        <p:nvSpPr>
          <p:cNvPr id="8" name="">
            <a:extLst xmlns:a="http://schemas.openxmlformats.org/drawingml/2006/main">
              <a:ext uri="{FF2B5EF4-FFF2-40B4-BE49-F238E27FC236}">
                <a16:creationId xmlns:a16="http://schemas.microsoft.com/office/drawing/2014/main" id="{75D96D5C-393F-4B22-AB00-72A763F1EB1F}"/>
              </a:ext>
            </a:extLst>
          </p:cNvPr>
          <p:cNvSpPr>
            <a:spLocks xmlns:a="http://schemas.openxmlformats.org/drawingml/2006/main" noGrp="1"/>
          </p:cNvSpPr>
          <p:nvPr/>
        </p:nvSpPr>
        <p:spPr>
          <a:xfrm xmlns:a="http://schemas.openxmlformats.org/drawingml/2006/main">
            <a:off x="704850" y="1066800"/>
            <a:ext cx="8763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3000" b="0" i="0">
                <a:solidFill>
                  <a:srgbClr val="181817"/>
                </a:solidFill>
                <a:latin typeface="Didot"/>
                <a:ea typeface="Didot"/>
                <a:cs typeface="Didot"/>
              </a:defRPr>
            </a:pPr>
            <a:r>
              <a:rPr sz="3000" b="0" i="0">
                <a:solidFill>
                  <a:srgbClr val="181817"/>
                </a:solidFill>
                <a:latin typeface="Didot"/>
                <a:ea typeface="Didot"/>
                <a:cs typeface="Didot"/>
              </a:rPr>
              <a:t>Antes pensaba, ahora sostengo y puente a N02</a:t>
            </a:r>
          </a:p>
        </p:txBody>
      </p:sp>
      <p:sp>
        <p:nvSpPr>
          <p:cNvPr id="9" name="">
            <a:extLst xmlns:a="http://schemas.openxmlformats.org/drawingml/2006/main">
              <a:ext uri="{FF2B5EF4-FFF2-40B4-BE49-F238E27FC236}">
                <a16:creationId xmlns:a16="http://schemas.microsoft.com/office/drawing/2014/main" id="{30B551D2-4BD2-499E-982F-9F485D017B4D}"/>
              </a:ext>
            </a:extLst>
          </p:cNvPr>
          <p:cNvSpPr>
            <a:spLocks xmlns:a="http://schemas.openxmlformats.org/drawingml/2006/main" noGrp="1"/>
          </p:cNvSpPr>
          <p:nvPr/>
        </p:nvSpPr>
        <p:spPr>
          <a:xfrm xmlns:a="http://schemas.openxmlformats.org/drawingml/2006/main">
            <a:off x="704850" y="2190750"/>
            <a:ext cx="3238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125" b="1" i="0">
                <a:solidFill>
                  <a:srgbClr val="5B5D59"/>
                </a:solidFill>
                <a:latin typeface="Avenir"/>
                <a:ea typeface="Avenir"/>
                <a:cs typeface="Avenir"/>
              </a:defRPr>
            </a:pPr>
            <a:r>
              <a:rPr sz="1125" b="1" i="0">
                <a:solidFill>
                  <a:srgbClr val="5B5D59"/>
                </a:solidFill>
                <a:latin typeface="Avenir"/>
                <a:ea typeface="Avenir"/>
                <a:cs typeface="Avenir"/>
              </a:rPr>
              <a:t>ANTES PENSABA</a:t>
            </a:r>
          </a:p>
        </p:txBody>
      </p:sp>
      <p:sp>
        <p:nvSpPr>
          <p:cNvPr id="10" name="">
            <a:extLst xmlns:a="http://schemas.openxmlformats.org/drawingml/2006/main">
              <a:ext uri="{FF2B5EF4-FFF2-40B4-BE49-F238E27FC236}">
                <a16:creationId xmlns:a16="http://schemas.microsoft.com/office/drawing/2014/main" id="{B0A79CD6-09D4-40C8-BDE0-EFD6C1B75BEC}"/>
              </a:ext>
            </a:extLst>
          </p:cNvPr>
          <p:cNvSpPr>
            <a:spLocks xmlns:a="http://schemas.openxmlformats.org/drawingml/2006/main" noGrp="1"/>
          </p:cNvSpPr>
          <p:nvPr/>
        </p:nvSpPr>
        <p:spPr>
          <a:xfrm xmlns:a="http://schemas.openxmlformats.org/drawingml/2006/main">
            <a:off x="4476750" y="2190750"/>
            <a:ext cx="3238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125" b="1" i="0">
                <a:solidFill>
                  <a:srgbClr val="5B5D59"/>
                </a:solidFill>
                <a:latin typeface="Avenir"/>
                <a:ea typeface="Avenir"/>
                <a:cs typeface="Avenir"/>
              </a:defRPr>
            </a:pPr>
            <a:r>
              <a:rPr sz="1125" b="1" i="0">
                <a:solidFill>
                  <a:srgbClr val="5B5D59"/>
                </a:solidFill>
                <a:latin typeface="Avenir"/>
                <a:ea typeface="Avenir"/>
                <a:cs typeface="Avenir"/>
              </a:rPr>
              <a:t>AHORA SOSTENGO</a:t>
            </a:r>
          </a:p>
        </p:txBody>
      </p:sp>
      <p:sp>
        <p:nvSpPr>
          <p:cNvPr id="11" name="">
            <a:extLst xmlns:a="http://schemas.openxmlformats.org/drawingml/2006/main">
              <a:ext uri="{FF2B5EF4-FFF2-40B4-BE49-F238E27FC236}">
                <a16:creationId xmlns:a16="http://schemas.microsoft.com/office/drawing/2014/main" id="{333B2753-8994-49BE-9567-94FE2333238D}"/>
              </a:ext>
            </a:extLst>
          </p:cNvPr>
          <p:cNvSpPr>
            <a:spLocks xmlns:a="http://schemas.openxmlformats.org/drawingml/2006/main" noGrp="1"/>
          </p:cNvSpPr>
          <p:nvPr/>
        </p:nvSpPr>
        <p:spPr>
          <a:xfrm xmlns:a="http://schemas.openxmlformats.org/drawingml/2006/main">
            <a:off x="8248650" y="2190750"/>
            <a:ext cx="3238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125" b="1" i="0">
                <a:solidFill>
                  <a:srgbClr val="5B5D59"/>
                </a:solidFill>
                <a:latin typeface="Avenir"/>
                <a:ea typeface="Avenir"/>
                <a:cs typeface="Avenir"/>
              </a:defRPr>
            </a:pPr>
            <a:r>
              <a:rPr sz="1125" b="1" i="0">
                <a:solidFill>
                  <a:srgbClr val="5B5D59"/>
                </a:solidFill>
                <a:latin typeface="Avenir"/>
                <a:ea typeface="Avenir"/>
                <a:cs typeface="Avenir"/>
              </a:rPr>
              <a:t>TODAVÍA REVISARÍA SI</a:t>
            </a:r>
          </a:p>
        </p:txBody>
      </p:sp>
      <p:sp>
        <p:nvSpPr>
          <p:cNvPr id="12" name="">
            <a:extLst xmlns:a="http://schemas.openxmlformats.org/drawingml/2006/main">
              <a:ext uri="{FF2B5EF4-FFF2-40B4-BE49-F238E27FC236}">
                <a16:creationId xmlns:a16="http://schemas.microsoft.com/office/drawing/2014/main" id="{1D6F93D0-14B8-47FE-A296-40148242BC49}"/>
              </a:ext>
            </a:extLst>
          </p:cNvPr>
          <p:cNvSpPr>
            <a:spLocks xmlns:a="http://schemas.openxmlformats.org/drawingml/2006/main" noGrp="1"/>
          </p:cNvSpPr>
          <p:nvPr/>
        </p:nvSpPr>
        <p:spPr>
          <a:xfrm xmlns:a="http://schemas.openxmlformats.org/drawingml/2006/main">
            <a:off x="704850" y="2647950"/>
            <a:ext cx="3219450" cy="2190750"/>
          </a:xfrm>
          <a:prstGeom xmlns:a="http://schemas.openxmlformats.org/drawingml/2006/main" prst="rect">
            <a:avLst/>
          </a:prstGeom>
          <a:solidFill xmlns:a="http://schemas.openxmlformats.org/drawingml/2006/main">
            <a:srgbClr val="FFFFFF"/>
          </a:solidFill>
          <a:ln xmlns:a="http://schemas.openxmlformats.org/drawingml/2006/main" w="9525">
            <a:solidFill>
              <a:srgbClr val="AEB1AE"/>
            </a:solidFill>
          </a:ln>
        </p:spPr>
      </p:sp>
      <p:sp>
        <p:nvSpPr>
          <p:cNvPr id="13" name="">
            <a:extLst xmlns:a="http://schemas.openxmlformats.org/drawingml/2006/main">
              <a:ext uri="{FF2B5EF4-FFF2-40B4-BE49-F238E27FC236}">
                <a16:creationId xmlns:a16="http://schemas.microsoft.com/office/drawing/2014/main" id="{55BCD0C3-BB8A-4026-8023-6B995C788E68}"/>
              </a:ext>
            </a:extLst>
          </p:cNvPr>
          <p:cNvSpPr>
            <a:spLocks xmlns:a="http://schemas.openxmlformats.org/drawingml/2006/main" noGrp="1"/>
          </p:cNvSpPr>
          <p:nvPr/>
        </p:nvSpPr>
        <p:spPr>
          <a:xfrm xmlns:a="http://schemas.openxmlformats.org/drawingml/2006/main">
            <a:off x="4476750" y="2647950"/>
            <a:ext cx="3219450" cy="2190750"/>
          </a:xfrm>
          <a:prstGeom xmlns:a="http://schemas.openxmlformats.org/drawingml/2006/main" prst="rect">
            <a:avLst/>
          </a:prstGeom>
          <a:solidFill xmlns:a="http://schemas.openxmlformats.org/drawingml/2006/main">
            <a:srgbClr val="E4E6E5"/>
          </a:solidFill>
          <a:ln xmlns:a="http://schemas.openxmlformats.org/drawingml/2006/main" w="9525">
            <a:solidFill>
              <a:srgbClr val="AEB1AE"/>
            </a:solidFill>
          </a:ln>
        </p:spPr>
      </p:sp>
      <p:sp>
        <p:nvSpPr>
          <p:cNvPr id="14" name="">
            <a:extLst xmlns:a="http://schemas.openxmlformats.org/drawingml/2006/main">
              <a:ext uri="{FF2B5EF4-FFF2-40B4-BE49-F238E27FC236}">
                <a16:creationId xmlns:a16="http://schemas.microsoft.com/office/drawing/2014/main" id="{09BF73A4-2C7D-42C7-B86C-9DCB0267A4F9}"/>
              </a:ext>
            </a:extLst>
          </p:cNvPr>
          <p:cNvSpPr>
            <a:spLocks xmlns:a="http://schemas.openxmlformats.org/drawingml/2006/main" noGrp="1"/>
          </p:cNvSpPr>
          <p:nvPr/>
        </p:nvSpPr>
        <p:spPr>
          <a:xfrm xmlns:a="http://schemas.openxmlformats.org/drawingml/2006/main">
            <a:off x="8248650" y="2647950"/>
            <a:ext cx="3219450" cy="2190750"/>
          </a:xfrm>
          <a:prstGeom xmlns:a="http://schemas.openxmlformats.org/drawingml/2006/main" prst="rect">
            <a:avLst/>
          </a:prstGeom>
          <a:solidFill xmlns:a="http://schemas.openxmlformats.org/drawingml/2006/main">
            <a:srgbClr val="FFFFFF"/>
          </a:solidFill>
          <a:ln xmlns:a="http://schemas.openxmlformats.org/drawingml/2006/main" w="9525">
            <a:solidFill>
              <a:srgbClr val="AEB1AE"/>
            </a:solidFill>
          </a:ln>
        </p:spPr>
      </p:sp>
      <p:sp>
        <p:nvSpPr>
          <p:cNvPr id="15" name="">
            <a:extLst xmlns:a="http://schemas.openxmlformats.org/drawingml/2006/main">
              <a:ext uri="{FF2B5EF4-FFF2-40B4-BE49-F238E27FC236}">
                <a16:creationId xmlns:a16="http://schemas.microsoft.com/office/drawing/2014/main" id="{B16705C4-710F-45BF-8DF8-8EB701AE5941}"/>
              </a:ext>
            </a:extLst>
          </p:cNvPr>
          <p:cNvSpPr>
            <a:spLocks xmlns:a="http://schemas.openxmlformats.org/drawingml/2006/main" noGrp="1"/>
          </p:cNvSpPr>
          <p:nvPr/>
        </p:nvSpPr>
        <p:spPr>
          <a:xfrm xmlns:a="http://schemas.openxmlformats.org/drawingml/2006/main">
            <a:off x="704850" y="5219700"/>
            <a:ext cx="10287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425" b="0" i="0">
                <a:solidFill>
                  <a:srgbClr val="5B5D59"/>
                </a:solidFill>
                <a:latin typeface="Avenir"/>
                <a:ea typeface="Avenir"/>
                <a:cs typeface="Avenir"/>
              </a:defRPr>
            </a:pPr>
            <a:r>
              <a:rPr sz="1425" b="0" i="0">
                <a:solidFill>
                  <a:srgbClr val="5B5D59"/>
                </a:solidFill>
                <a:latin typeface="Avenir"/>
                <a:ea typeface="Avenir"/>
                <a:cs typeface="Avenir"/>
              </a:rPr>
              <a:t>Cada equipo entrega una segunda versión de HH-01 capaz de distinguir pedido, propósito, incertidumbre, evidencia y autoridad. La versión debe incluir una decisión provisional y una condición concreta que pueda revisarla.</a:t>
            </a:r>
          </a:p>
        </p:txBody>
      </p:sp>
    </p:spTree>
    <p:extLst>
      <p:ext uri="{BB962C8B-B14F-4D97-AF65-F5344CB8AC3E}">
        <p14:creationId xmlns:p14="http://schemas.microsoft.com/office/powerpoint/2010/main" val="141585490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2026-09-15T15:46:39.6400000Z</dcterms:created>
  <dcterms:modified xsi:type="dcterms:W3CDTF">2026-09-15T15:46:39.6400000Z</dcterms:modified>
</coreProperties>
</file>