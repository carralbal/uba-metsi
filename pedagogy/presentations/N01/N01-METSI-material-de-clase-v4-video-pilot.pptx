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empezar sin explicar nada. Imaginen que somos el equipo que recibió un pedido muy claro: comprar un nuevo PMS para el Hotel Horizonte. La solución ya viene nombrada, incluso parece urgente. La pregunta es qué necesitamos comprender antes de comprometernos con ella. Tómense unos segundos y elijan una palabra para nombrar el problema. Puede ser una falla, una demora, una descoordinación, una promesa comercial o algo distinto. No busco todavía la palabra correcta. Me interesa que escuchemos la diversidad de encuadres que aparece incluso cuando todos leímos el mismo material. Voy a registrar esas palabras porque al final vamos a volver a ellas. Si nuestras palabras cambian, también cambia lo que consideramos evidencia, la acción que parece razonable y quién debería poder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sí, cada persona va a tomar una posición. La pregunta es concreta: ¿compraríamos el PMS ahora? Sólo hay tres respuestas posibles: sí, no o todavía no. Escriban su elección, una razón y una evidencia que hoy les falta. Una opción sin razón es apenas una preferencia; una razón sin evidencia faltante corre el riesgo de convertirse en una conclusión cerrada. Tienen dos minutos en silencio. Después voy a relevar la distribución, pero no vamos a debatir todavía cuál respuesta es correcta. Lo que quiero conservar es el punto de partida. Si eligieron “todavía no”, no alcanza con decir que falta información: nombren una observación posible, de qué fuente podría venir y qué decisión cambiaría. Si eligieron “sí” o “no”, hagan el mismo esfuerzo. Toda decisión profesional necesita mostrar qué la sostiene y qué podría revisarla.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comparar las palabras que aparecieron. Un pedido es lo que alguien solicita; un problema es la situación que todavía necesitamos comprender; una solución es una intervención posible. Las tres cosas pueden estar relacionadas, pero no son equivalentes. Si alguien pide un nuevo PMS, eso demuestra que existe un pedido. No demuestra todavía que el software actual sea la causa dominante. En grupos de cuatro, compartan el campo de HH-01 que les resultó más difícil y busquen dos diferencias entre sus versiones que podrían cambiar una decisión. No vale cerrar la conversación diciendo que falta toda la información. Elijan una diferencia concreta: qué actor queda fuera, qué propósito cambia, qué evidencia se considera suficiente o quién tiene autoridad. Quince minutos. Cuando volvamos, no me cuenten todo el memo. Tráiganme una diferencia y la consecuencia práctica que tendría.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Miren estas dos versiones. Las dos pueden estar bien escritas y las dos pueden parecer razonables. La primera convierte al sistema actual en el problema y habilita una acción de reemplazo. La segunda ubica la tensión entre una promesa comercial y la capacidad real de operación, y habilita una investigación del episodio. No vamos a elegir la más linda ni la que usa palabras más técnicas. Vamos a preguntar qué diferencia cambia una decisión y qué evidencia permitiría distinguirlas. Si el PMS respondió a tiempo, la primera explicación pierde fuerza. Si Comercial publicó una condición que Operaciones nunca validó, la segunda gana fuerza. Esto no significa que ya tengamos la verdad. Significa que el encuadre dejó de ser una opinión suelta y empezó a producir preguntas observables. Ese es el trabajo que vamos a hacer con nuestros propios memos.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detenerme sólo en dos confusiones que suelen aparecer. La primera es tomar el pedido como prueba del problema. La segunda es tomar una actividad como evidencia de aprendizaje. Para revisar ambas vamos a usar cuatro preguntas. ¿Qué incertidumbre reducimos? ¿Antes de qué decisión? ¿Mediante qué evidencia? ¿Qué resultado cambiaría el camino? Si no podemos responderlas, quizás estamos haciendo cosas, pero todavía no sabemos qué aprendemos ni para qué sirve. Apliquen la prueba a una acción de su memo. Por ejemplo, entrevistar a Recepción no es valioso por sí mismo. Se vuelve metodológicamente útil si busca distinguir entre una falla técnica y una regla operativa, antes de decidir un reemplazo, mediante evidencia del episodio, y si existe un resultado que nos haría abandonar la explicación inicial. Tienen doce minutos para probar y ajustar.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cada equipo va a construir una segunda versión común de HH-01. No buscamos que todos piensen igual. Buscamos que el desacuerdo quede ubicado en un campo que podamos revisar. Revisen pedido, propósito, incertidumbre, evidencia, actores, autoridad y próxima decisión. El memo no es un diagnóstico definitivo ni un plan completo. Es una forma de declarar qué creemos comprender, qué sigue abierto y qué acción pequeña queda autorizada. Conserven al menos un desacuerdo relevante y nombren a un actor que podría cuestionar el propósito que formularon. Mientras trabajan, háganse una pregunta incómoda: ¿qué evidencia adversa estaríamos dispuestos a aceptar? Si la respuesta es “ninguna”, el memo está defendiendo una conclusión previa. Tienen veintitrés minutos. El producto es una versión que otra persona pueda objetar y revisar, no una pieza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voy a entregar dos piezas de evidencia a cada equipo. No fueron elegidas para confirmar lo que ustedes ya sostienen. Fueron elegidas para ponerlo a prueba. Puede aparecer que el PMS respondió a tiempo, que Recepción no pudo asignar una habitación declarada limpia, que Comercial publicó una condición no validada, que una persona abandonó por una barrera de accesibilidad, que el chatbot canceló sin confirmar identidad o que la sobreventa ocurre sólo en un canal externo. Lean las dos piezas y registren tres cosas: qué campo de HH-01 cambia, cuál se mantiene y qué nueva acción queda autorizada. No intenten hacer que toda la evidencia encaje a la fuerza. Si una pieza contradice su explicación, esa contradicción es valiosa. Tienen veinte minutos. Al final necesito ver una revisión explícita, incluso si la revisión consiste en sostener el encuadre y explicar por qué esta evidencia todavía no alcanza para cambiarlo.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Intercambien ahora sus memos con otro equipo. La tarea no es corregir el trabajo ajeno ni imponer una solución. Cada equipo revisor va a formular dos objeciones que puedan usarse. La primera debe señalar una relación entre evidencia y decisión que todavía no se sostiene. La segunda debe detectar una condición de revisión demasiado vaga o imposible de observar. Para que la devolución sea útil, citen el campo cuestionado, expliquen qué relación es débil y propongan una prueba. Por ejemplo: “En evidencia afirman que el PMS falla, pero no muestran el tiempo acordado ni el registro del episodio; proponemos contrastar logs y secuencia operativa”. Eso es distinto de decir “cambien el sistema”. Tienen dieciocho minutos. Cuando reciban las objeciones, no se defiendan enseguida. Primero prueben si permiten mejorar el memo. Una buena revisión no cierra la discusión: hace más precisa la próxima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equipo dispone de noventa segundos. No necesitamos una descripción completa del memo. Necesitamos cuatro frases claras. La primera nombra el propósito que quieren sostener. La segunda declara la siguiente acción autorizada. La tercera dice qué decisión permanece deliberadamente cerrada. La cuarta identifica la evidencia que podría cambiar el encuadre. Voy a cuidar el tiempo porque la restricción nos obliga a priorizar. Si escuchamos sólo actividades, voy a preguntar qué decisión habilitan. Si escuchamos una conclusión sin límite, voy a preguntar qué no están autorizando todavía. Defender no significa fingir certeza. Significa mostrar una posición suficientemente sostenida para actuar y suficientemente abierta para ser revisada. Mientras escuchan a los demás, registren una frase que les ayude a mejorar su propio memo. No busquen copiar una respuesta; busquen una forma más precisa de conectar propósito, evidencia, decisión y condición de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vuelvan a la posición que registraron al comienzo. Completen cinco frases: al comienzo pensaba, ahora sostengo, cambié por esta evidencia u objeción, todavía podría cambiar si, y para N02 necesito saber qué relaciones forman el sistema relevante. Háganlo en silencio. No hace falta que el cambio sea total. Puede haber cambiado una palabra, una relación o el límite de una decisión. Lo importante es que podamos reconstruir por qué cambió. Esa huella es evidencia de aprendizaje mucho más valiosa que decir “entendí”. Antes de irnos, quiero que miremos el recorrido completo: recibimos una solución formulada, distinguimos pedido y problema, comparamos encuadres, sometimos el memo a evidencia adversa, aceptamos objeciones y defendimos una decisión provisional. N02 retoma justamente lo que hoy dejamos abierto: dónde termina el sistema relevante y qué relaciones necesitamos incluir para no intervenir sobre una parte aislada.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817"/>
        </a:solidFill>
      </p:bgPr>
    </p:bg>
    <p:spTree>
      <p:nvGrpSpPr>
        <p:cNvPr id="1" name=""/>
        <p:cNvGrpSpPr/>
        <p:nvPr/>
      </p:nvGrpSpPr>
      <p:grpSpPr>
        <a:xfrm>
          <a:off x="0" y="0"/>
          <a:ext cx="0" cy="0"/>
          <a:chOff x="0" y="0"/>
          <a:chExt cx="0" cy="0"/>
        </a:xfrm>
      </p:grpSpPr>
      <p:pic>
        <p:nvPicPr>
          <p:cNvPr id="3" name="Fondo de video · road">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46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01</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APERTURA</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01</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21792" y="1325880"/>
            <a:ext cx="7452360" cy="1965960"/>
          </a:xfrm>
          <a:prstGeom prst="rect">
            <a:avLst/>
          </a:prstGeom>
          <a:noFill/>
          <a:ln/>
        </p:spPr>
        <p:txBody>
          <a:bodyPr wrap="square" lIns="0" tIns="0" rIns="0" bIns="0" rtlCol="0" anchor="t">
            <a:normAutofit/>
          </a:bodyPr>
          <a:lstStyle/>
          <a:p>
            <a:pPr algn="l" indent="0" marL="0">
              <a:lnSpc>
                <a:spcPct val="90000"/>
              </a:lnSpc>
              <a:buNone/>
            </a:pPr>
            <a:r>
              <a:rPr lang="en-US" sz="4300" dirty="0">
                <a:solidFill>
                  <a:srgbClr val="FFFFFF"/>
                </a:solidFill>
                <a:latin typeface="Didot" pitchFamily="34" charset="0"/>
                <a:ea typeface="Didot" pitchFamily="34" charset="-122"/>
                <a:cs typeface="Didot" pitchFamily="34" charset="-120"/>
              </a:rPr>
              <a:t>La solución llega formulada.</a:t>
            </a:r>
            <a:endParaRPr lang="en-US" sz="4300" dirty="0"/>
          </a:p>
          <a:p>
            <a:pPr algn="l" indent="0" marL="0">
              <a:lnSpc>
                <a:spcPct val="90000"/>
              </a:lnSpc>
              <a:buNone/>
            </a:pPr>
            <a:r>
              <a:rPr lang="en-US" sz="4300" dirty="0">
                <a:solidFill>
                  <a:srgbClr val="FFFFFF"/>
                </a:solidFill>
                <a:latin typeface="Didot" pitchFamily="34" charset="0"/>
                <a:ea typeface="Didot" pitchFamily="34" charset="-122"/>
                <a:cs typeface="Didot" pitchFamily="34" charset="-120"/>
              </a:rPr>
              <a:t>El problema, todavía no.</a:t>
            </a:r>
            <a:endParaRPr lang="en-US" sz="4300" dirty="0"/>
          </a:p>
        </p:txBody>
      </p:sp>
      <p:sp>
        <p:nvSpPr>
          <p:cNvPr id="13" name="Shape 10"/>
          <p:cNvSpPr/>
          <p:nvPr/>
        </p:nvSpPr>
        <p:spPr>
          <a:xfrm>
            <a:off x="658368" y="3712464"/>
            <a:ext cx="987552" cy="0"/>
          </a:xfrm>
          <a:prstGeom prst="line">
            <a:avLst/>
          </a:prstGeom>
          <a:noFill/>
          <a:ln w="38100">
            <a:solidFill>
              <a:srgbClr val="CFFF00"/>
            </a:solidFill>
            <a:prstDash val="solid"/>
          </a:ln>
        </p:spPr>
      </p:sp>
      <p:sp>
        <p:nvSpPr>
          <p:cNvPr id="14" name="Text 11"/>
          <p:cNvSpPr txBox="1"/>
          <p:nvPr/>
        </p:nvSpPr>
        <p:spPr>
          <a:xfrm>
            <a:off x="658368" y="3977640"/>
            <a:ext cx="6492240" cy="914400"/>
          </a:xfrm>
          <a:prstGeom prst="rect">
            <a:avLst/>
          </a:prstGeom>
          <a:noFill/>
          <a:ln/>
        </p:spPr>
        <p:txBody>
          <a:bodyPr wrap="square" lIns="0" tIns="0" rIns="0" bIns="0" rtlCol="0" anchor="t">
            <a:normAutofit/>
          </a:bodyPr>
          <a:lstStyle/>
          <a:p>
            <a:pPr algn="l" indent="0" marL="0">
              <a:buNone/>
            </a:pPr>
            <a:r>
              <a:rPr lang="en-US" sz="2000" dirty="0">
                <a:solidFill>
                  <a:srgbClr val="F8F8F5"/>
                </a:solidFill>
                <a:latin typeface="Avenir" pitchFamily="34" charset="0"/>
                <a:ea typeface="Avenir" pitchFamily="34" charset="-122"/>
                <a:cs typeface="Avenir" pitchFamily="34" charset="-120"/>
              </a:rPr>
              <a:t>¿Qué necesitamos comprender antes de comprometernos con una solución?</a:t>
            </a:r>
            <a:endParaRPr lang="en-US" sz="2000" dirty="0"/>
          </a:p>
        </p:txBody>
      </p:sp>
      <p:sp>
        <p:nvSpPr>
          <p:cNvPr id="15" name="Text 12"/>
          <p:cNvSpPr txBox="1"/>
          <p:nvPr/>
        </p:nvSpPr>
        <p:spPr>
          <a:xfrm>
            <a:off x="8183880" y="4773168"/>
            <a:ext cx="2926080" cy="731520"/>
          </a:xfrm>
          <a:prstGeom prst="rect">
            <a:avLst/>
          </a:prstGeom>
          <a:noFill/>
          <a:ln/>
        </p:spPr>
        <p:txBody>
          <a:bodyPr wrap="square" lIns="0" tIns="0" rIns="0" bIns="0" rtlCol="0" anchor="t">
            <a:normAutofit/>
          </a:bodyPr>
          <a:lstStyle/>
          <a:p>
            <a:pPr algn="r" indent="0" marL="0">
              <a:buNone/>
            </a:pPr>
            <a:r>
              <a:rPr lang="en-US" sz="2000" i="1" dirty="0">
                <a:solidFill>
                  <a:srgbClr val="FFFFFF"/>
                </a:solidFill>
                <a:latin typeface="Didot" pitchFamily="34" charset="0"/>
                <a:ea typeface="Didot" pitchFamily="34" charset="-122"/>
                <a:cs typeface="Didot" pitchFamily="34" charset="-120"/>
              </a:rPr>
              <a:t>Hoy no venimos a repetir N01.</a:t>
            </a:r>
            <a:endParaRPr lang="en-US" sz="2000" dirty="0"/>
          </a:p>
          <a:p>
            <a:pPr algn="r" indent="0" marL="0">
              <a:buNone/>
            </a:pPr>
            <a:r>
              <a:rPr lang="en-US" sz="2000" i="1" dirty="0">
                <a:solidFill>
                  <a:srgbClr val="FFFFFF"/>
                </a:solidFill>
                <a:latin typeface="Didot" pitchFamily="34" charset="0"/>
                <a:ea typeface="Didot" pitchFamily="34" charset="-122"/>
                <a:cs typeface="Didot" pitchFamily="34" charset="-120"/>
              </a:rPr>
              <a:t>Venimos a ponerlo a trabajar.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817"/>
        </a:solidFill>
      </p:bgPr>
    </p:bg>
    <p:spTree>
      <p:nvGrpSpPr>
        <p:cNvPr id="1" name=""/>
        <p:cNvGrpSpPr/>
        <p:nvPr/>
      </p:nvGrpSpPr>
      <p:grpSpPr>
        <a:xfrm>
          <a:off x="0" y="0"/>
          <a:ext cx="0" cy="0"/>
          <a:chOff x="0" y="0"/>
          <a:chExt cx="0" cy="0"/>
        </a:xfrm>
      </p:grpSpPr>
      <p:pic>
        <p:nvPicPr>
          <p:cNvPr id="3" name="Fondo de video · structure">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52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02</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DECISIÓN INICIAL</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02</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1143000"/>
            <a:ext cx="6675120" cy="658368"/>
          </a:xfrm>
          <a:prstGeom prst="rect">
            <a:avLst/>
          </a:prstGeom>
          <a:noFill/>
          <a:ln/>
        </p:spPr>
        <p:txBody>
          <a:bodyPr wrap="square" lIns="0" tIns="0" rIns="0" bIns="0" rtlCol="0" anchor="t">
            <a:normAutofit/>
          </a:bodyPr>
          <a:lstStyle/>
          <a:p>
            <a:pPr algn="l" indent="0" marL="0">
              <a:buNone/>
            </a:pPr>
            <a:r>
              <a:rPr lang="en-US" sz="3800" dirty="0">
                <a:solidFill>
                  <a:srgbClr val="FFFFFF"/>
                </a:solidFill>
                <a:latin typeface="Didot" pitchFamily="34" charset="0"/>
                <a:ea typeface="Didot" pitchFamily="34" charset="-122"/>
                <a:cs typeface="Didot" pitchFamily="34" charset="-120"/>
              </a:rPr>
              <a:t>¿Comprar el PMS ahora?</a:t>
            </a:r>
            <a:endParaRPr lang="en-US" sz="3800" dirty="0"/>
          </a:p>
        </p:txBody>
      </p:sp>
      <p:sp>
        <p:nvSpPr>
          <p:cNvPr id="13" name="Text 10"/>
          <p:cNvSpPr txBox="1"/>
          <p:nvPr/>
        </p:nvSpPr>
        <p:spPr>
          <a:xfrm>
            <a:off x="658368" y="2331720"/>
            <a:ext cx="2057400" cy="731520"/>
          </a:xfrm>
          <a:prstGeom prst="rect">
            <a:avLst/>
          </a:prstGeom>
          <a:noFill/>
          <a:ln/>
        </p:spPr>
        <p:txBody>
          <a:bodyPr wrap="square" lIns="0" tIns="0" rIns="0" bIns="0" rtlCol="0" anchor="t">
            <a:normAutofit/>
          </a:bodyPr>
          <a:lstStyle/>
          <a:p>
            <a:pPr algn="l" indent="0" marL="0">
              <a:buNone/>
            </a:pPr>
            <a:r>
              <a:rPr lang="en-US" sz="4800" dirty="0">
                <a:solidFill>
                  <a:srgbClr val="FFFFFF"/>
                </a:solidFill>
                <a:latin typeface="Didot" pitchFamily="34" charset="0"/>
                <a:ea typeface="Didot" pitchFamily="34" charset="-122"/>
                <a:cs typeface="Didot" pitchFamily="34" charset="-120"/>
              </a:rPr>
              <a:t>SÍ</a:t>
            </a:r>
            <a:endParaRPr lang="en-US" sz="4800" dirty="0"/>
          </a:p>
        </p:txBody>
      </p:sp>
      <p:sp>
        <p:nvSpPr>
          <p:cNvPr id="14" name="Text 11"/>
          <p:cNvSpPr txBox="1"/>
          <p:nvPr/>
        </p:nvSpPr>
        <p:spPr>
          <a:xfrm>
            <a:off x="3767328" y="2331720"/>
            <a:ext cx="2057400" cy="731520"/>
          </a:xfrm>
          <a:prstGeom prst="rect">
            <a:avLst/>
          </a:prstGeom>
          <a:noFill/>
          <a:ln/>
        </p:spPr>
        <p:txBody>
          <a:bodyPr wrap="square" lIns="0" tIns="0" rIns="0" bIns="0" rtlCol="0" anchor="t">
            <a:normAutofit/>
          </a:bodyPr>
          <a:lstStyle/>
          <a:p>
            <a:pPr algn="l" indent="0" marL="0">
              <a:buNone/>
            </a:pPr>
            <a:r>
              <a:rPr lang="en-US" sz="4800" dirty="0">
                <a:solidFill>
                  <a:srgbClr val="FFFFFF"/>
                </a:solidFill>
                <a:latin typeface="Didot" pitchFamily="34" charset="0"/>
                <a:ea typeface="Didot" pitchFamily="34" charset="-122"/>
                <a:cs typeface="Didot" pitchFamily="34" charset="-120"/>
              </a:rPr>
              <a:t>NO</a:t>
            </a:r>
            <a:endParaRPr lang="en-US" sz="4800" dirty="0"/>
          </a:p>
        </p:txBody>
      </p:sp>
      <p:sp>
        <p:nvSpPr>
          <p:cNvPr id="15" name="Text 12"/>
          <p:cNvSpPr txBox="1"/>
          <p:nvPr/>
        </p:nvSpPr>
        <p:spPr>
          <a:xfrm>
            <a:off x="6675120" y="2331720"/>
            <a:ext cx="4023360" cy="731520"/>
          </a:xfrm>
          <a:prstGeom prst="rect">
            <a:avLst/>
          </a:prstGeom>
          <a:noFill/>
          <a:ln/>
        </p:spPr>
        <p:txBody>
          <a:bodyPr wrap="square" lIns="0" tIns="0" rIns="0" bIns="0" rtlCol="0" anchor="t">
            <a:normAutofit/>
          </a:bodyPr>
          <a:lstStyle/>
          <a:p>
            <a:pPr algn="l" indent="0" marL="0">
              <a:buNone/>
            </a:pPr>
            <a:r>
              <a:rPr lang="en-US" sz="4800" dirty="0">
                <a:solidFill>
                  <a:srgbClr val="FFFFFF"/>
                </a:solidFill>
                <a:latin typeface="Didot" pitchFamily="34" charset="0"/>
                <a:ea typeface="Didot" pitchFamily="34" charset="-122"/>
                <a:cs typeface="Didot" pitchFamily="34" charset="-120"/>
              </a:rPr>
              <a:t>TODAVÍA NO</a:t>
            </a:r>
            <a:endParaRPr lang="en-US" sz="4800" dirty="0"/>
          </a:p>
        </p:txBody>
      </p:sp>
      <p:sp>
        <p:nvSpPr>
          <p:cNvPr id="16" name="Shape 13"/>
          <p:cNvSpPr/>
          <p:nvPr/>
        </p:nvSpPr>
        <p:spPr>
          <a:xfrm>
            <a:off x="658368" y="3246120"/>
            <a:ext cx="640080" cy="0"/>
          </a:xfrm>
          <a:prstGeom prst="line">
            <a:avLst/>
          </a:prstGeom>
          <a:noFill/>
          <a:ln w="38100">
            <a:solidFill>
              <a:srgbClr val="CFFF00"/>
            </a:solidFill>
            <a:prstDash val="solid"/>
          </a:ln>
        </p:spPr>
      </p:sp>
      <p:sp>
        <p:nvSpPr>
          <p:cNvPr id="17" name="Shape 14"/>
          <p:cNvSpPr/>
          <p:nvPr/>
        </p:nvSpPr>
        <p:spPr>
          <a:xfrm>
            <a:off x="3767328" y="3246120"/>
            <a:ext cx="640080" cy="0"/>
          </a:xfrm>
          <a:prstGeom prst="line">
            <a:avLst/>
          </a:prstGeom>
          <a:noFill/>
          <a:ln w="38100">
            <a:solidFill>
              <a:srgbClr val="CFFF00"/>
            </a:solidFill>
            <a:prstDash val="solid"/>
          </a:ln>
        </p:spPr>
      </p:sp>
      <p:sp>
        <p:nvSpPr>
          <p:cNvPr id="18" name="Shape 15"/>
          <p:cNvSpPr/>
          <p:nvPr/>
        </p:nvSpPr>
        <p:spPr>
          <a:xfrm>
            <a:off x="6675120" y="3246120"/>
            <a:ext cx="1508760" cy="0"/>
          </a:xfrm>
          <a:prstGeom prst="line">
            <a:avLst/>
          </a:prstGeom>
          <a:noFill/>
          <a:ln w="38100">
            <a:solidFill>
              <a:srgbClr val="CFFF00"/>
            </a:solidFill>
            <a:prstDash val="solid"/>
          </a:ln>
        </p:spPr>
      </p:sp>
      <p:sp>
        <p:nvSpPr>
          <p:cNvPr id="19" name="Text 16"/>
          <p:cNvSpPr txBox="1"/>
          <p:nvPr/>
        </p:nvSpPr>
        <p:spPr>
          <a:xfrm>
            <a:off x="658368" y="3520440"/>
            <a:ext cx="2103120" cy="274320"/>
          </a:xfrm>
          <a:prstGeom prst="rect">
            <a:avLst/>
          </a:prstGeom>
          <a:noFill/>
          <a:ln/>
        </p:spPr>
        <p:txBody>
          <a:bodyPr wrap="square" lIns="0" tIns="0" rIns="0" bIns="0" rtlCol="0" anchor="t">
            <a:normAutofit/>
          </a:bodyPr>
          <a:lstStyle/>
          <a:p>
            <a:pPr algn="l" indent="0" marL="0">
              <a:buNone/>
            </a:pPr>
            <a:r>
              <a:rPr lang="en-US" sz="1500" dirty="0">
                <a:solidFill>
                  <a:srgbClr val="D9DBD8"/>
                </a:solidFill>
                <a:latin typeface="Avenir" pitchFamily="34" charset="0"/>
                <a:ea typeface="Avenir" pitchFamily="34" charset="-122"/>
                <a:cs typeface="Avenir" pitchFamily="34" charset="-120"/>
              </a:rPr>
              <a:t>una razón</a:t>
            </a:r>
            <a:endParaRPr lang="en-US" sz="1500" dirty="0"/>
          </a:p>
        </p:txBody>
      </p:sp>
      <p:sp>
        <p:nvSpPr>
          <p:cNvPr id="20" name="Text 17"/>
          <p:cNvSpPr txBox="1"/>
          <p:nvPr/>
        </p:nvSpPr>
        <p:spPr>
          <a:xfrm>
            <a:off x="3767328" y="3520440"/>
            <a:ext cx="2103120" cy="274320"/>
          </a:xfrm>
          <a:prstGeom prst="rect">
            <a:avLst/>
          </a:prstGeom>
          <a:noFill/>
          <a:ln/>
        </p:spPr>
        <p:txBody>
          <a:bodyPr wrap="square" lIns="0" tIns="0" rIns="0" bIns="0" rtlCol="0" anchor="t">
            <a:normAutofit/>
          </a:bodyPr>
          <a:lstStyle/>
          <a:p>
            <a:pPr algn="l" indent="0" marL="0">
              <a:buNone/>
            </a:pPr>
            <a:r>
              <a:rPr lang="en-US" sz="1500" dirty="0">
                <a:solidFill>
                  <a:srgbClr val="D9DBD8"/>
                </a:solidFill>
                <a:latin typeface="Avenir" pitchFamily="34" charset="0"/>
                <a:ea typeface="Avenir" pitchFamily="34" charset="-122"/>
                <a:cs typeface="Avenir" pitchFamily="34" charset="-120"/>
              </a:rPr>
              <a:t>una razón</a:t>
            </a:r>
            <a:endParaRPr lang="en-US" sz="1500" dirty="0"/>
          </a:p>
        </p:txBody>
      </p:sp>
      <p:sp>
        <p:nvSpPr>
          <p:cNvPr id="21" name="Text 18"/>
          <p:cNvSpPr txBox="1"/>
          <p:nvPr/>
        </p:nvSpPr>
        <p:spPr>
          <a:xfrm>
            <a:off x="6675120" y="3520440"/>
            <a:ext cx="2103120" cy="274320"/>
          </a:xfrm>
          <a:prstGeom prst="rect">
            <a:avLst/>
          </a:prstGeom>
          <a:noFill/>
          <a:ln/>
        </p:spPr>
        <p:txBody>
          <a:bodyPr wrap="square" lIns="0" tIns="0" rIns="0" bIns="0" rtlCol="0" anchor="t">
            <a:normAutofit/>
          </a:bodyPr>
          <a:lstStyle/>
          <a:p>
            <a:pPr algn="l" indent="0" marL="0">
              <a:buNone/>
            </a:pPr>
            <a:r>
              <a:rPr lang="en-US" sz="1500" dirty="0">
                <a:solidFill>
                  <a:srgbClr val="D9DBD8"/>
                </a:solidFill>
                <a:latin typeface="Avenir" pitchFamily="34" charset="0"/>
                <a:ea typeface="Avenir" pitchFamily="34" charset="-122"/>
                <a:cs typeface="Avenir" pitchFamily="34" charset="-120"/>
              </a:rPr>
              <a:t>una razón</a:t>
            </a:r>
            <a:endParaRPr lang="en-US" sz="1500" dirty="0"/>
          </a:p>
        </p:txBody>
      </p:sp>
      <p:sp>
        <p:nvSpPr>
          <p:cNvPr id="22" name="Text 19"/>
          <p:cNvSpPr txBox="1"/>
          <p:nvPr/>
        </p:nvSpPr>
        <p:spPr>
          <a:xfrm>
            <a:off x="658368" y="4892040"/>
            <a:ext cx="6400800" cy="411480"/>
          </a:xfrm>
          <a:prstGeom prst="rect">
            <a:avLst/>
          </a:prstGeom>
          <a:noFill/>
          <a:ln/>
        </p:spPr>
        <p:txBody>
          <a:bodyPr wrap="square" lIns="0" tIns="0" rIns="0" bIns="0" rtlCol="0" anchor="t">
            <a:normAutofit/>
          </a:bodyPr>
          <a:lstStyle/>
          <a:p>
            <a:pPr algn="l" indent="0" marL="0">
              <a:buNone/>
            </a:pPr>
            <a:r>
              <a:rPr lang="en-US" sz="2200" b="1" dirty="0">
                <a:solidFill>
                  <a:srgbClr val="FFFFFF"/>
                </a:solidFill>
                <a:latin typeface="Avenir" pitchFamily="34" charset="0"/>
                <a:ea typeface="Avenir" pitchFamily="34" charset="-122"/>
                <a:cs typeface="Avenir" pitchFamily="34" charset="-120"/>
              </a:rPr>
              <a:t>+ una evidencia que falta</a:t>
            </a:r>
            <a:endParaRPr lang="en-US" sz="2200" dirty="0"/>
          </a:p>
        </p:txBody>
      </p:sp>
      <p:sp>
        <p:nvSpPr>
          <p:cNvPr id="23" name="Text 20"/>
          <p:cNvSpPr txBox="1"/>
          <p:nvPr/>
        </p:nvSpPr>
        <p:spPr>
          <a:xfrm>
            <a:off x="10442448" y="4892040"/>
            <a:ext cx="1097280" cy="320040"/>
          </a:xfrm>
          <a:prstGeom prst="rect">
            <a:avLst/>
          </a:prstGeom>
          <a:noFill/>
          <a:ln/>
        </p:spPr>
        <p:txBody>
          <a:bodyPr wrap="square" lIns="0" tIns="0" rIns="0" bIns="0" rtlCol="0" anchor="t">
            <a:normAutofit/>
          </a:bodyPr>
          <a:lstStyle/>
          <a:p>
            <a:pPr algn="r" indent="0" marL="0">
              <a:buNone/>
            </a:pPr>
            <a:r>
              <a:rPr lang="en-US" sz="1300" b="1" dirty="0">
                <a:solidFill>
                  <a:srgbClr val="CFFF00"/>
                </a:solidFill>
                <a:latin typeface="Avenir" pitchFamily="34" charset="0"/>
                <a:ea typeface="Avenir" pitchFamily="34" charset="-122"/>
                <a:cs typeface="Avenir" pitchFamily="34" charset="-120"/>
              </a:rPr>
              <a:t>10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817"/>
        </a:solidFill>
      </p:bgPr>
    </p:bg>
    <p:spTree>
      <p:nvGrpSpPr>
        <p:cNvPr id="1" name=""/>
        <p:cNvGrpSpPr/>
        <p:nvPr/>
      </p:nvGrpSpPr>
      <p:grpSpPr>
        <a:xfrm>
          <a:off x="0" y="0"/>
          <a:ext cx="0" cy="0"/>
          <a:chOff x="0" y="0"/>
          <a:chExt cx="0" cy="0"/>
        </a:xfrm>
      </p:grpSpPr>
      <p:pic>
        <p:nvPicPr>
          <p:cNvPr id="3" name="Fondo de video · wires">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56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03</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COMPARAR ENCUADRES</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03</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1051560"/>
            <a:ext cx="6858000" cy="548640"/>
          </a:xfrm>
          <a:prstGeom prst="rect">
            <a:avLst/>
          </a:prstGeom>
          <a:noFill/>
          <a:ln/>
        </p:spPr>
        <p:txBody>
          <a:bodyPr wrap="square" lIns="0" tIns="0" rIns="0" bIns="0" rtlCol="0" anchor="t">
            <a:normAutofit/>
          </a:bodyPr>
          <a:lstStyle/>
          <a:p>
            <a:pPr algn="l" indent="0" marL="0">
              <a:buNone/>
            </a:pPr>
            <a:r>
              <a:rPr lang="en-US" sz="3400" dirty="0">
                <a:solidFill>
                  <a:srgbClr val="FFFFFF"/>
                </a:solidFill>
                <a:latin typeface="Didot" pitchFamily="34" charset="0"/>
                <a:ea typeface="Didot" pitchFamily="34" charset="-122"/>
                <a:cs typeface="Didot" pitchFamily="34" charset="-120"/>
              </a:rPr>
              <a:t>Tres palabras que suelen mezclarse</a:t>
            </a:r>
            <a:endParaRPr lang="en-US" sz="3400" dirty="0"/>
          </a:p>
        </p:txBody>
      </p:sp>
      <p:sp>
        <p:nvSpPr>
          <p:cNvPr id="13" name="Text 10"/>
          <p:cNvSpPr txBox="1"/>
          <p:nvPr/>
        </p:nvSpPr>
        <p:spPr>
          <a:xfrm>
            <a:off x="658368" y="2148840"/>
            <a:ext cx="384048" cy="201168"/>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01</a:t>
            </a:r>
            <a:endParaRPr lang="en-US" sz="1000" dirty="0"/>
          </a:p>
        </p:txBody>
      </p:sp>
      <p:sp>
        <p:nvSpPr>
          <p:cNvPr id="14" name="Text 11"/>
          <p:cNvSpPr txBox="1"/>
          <p:nvPr/>
        </p:nvSpPr>
        <p:spPr>
          <a:xfrm>
            <a:off x="658368" y="2542032"/>
            <a:ext cx="3246120" cy="411480"/>
          </a:xfrm>
          <a:prstGeom prst="rect">
            <a:avLst/>
          </a:prstGeom>
          <a:noFill/>
          <a:ln/>
        </p:spPr>
        <p:txBody>
          <a:bodyPr wrap="square" lIns="0" tIns="0" rIns="0" bIns="0" rtlCol="0" anchor="t">
            <a:normAutofit/>
          </a:bodyPr>
          <a:lstStyle/>
          <a:p>
            <a:pPr algn="l" indent="0" marL="0">
              <a:buNone/>
            </a:pPr>
            <a:r>
              <a:rPr lang="en-US" sz="2900" dirty="0">
                <a:solidFill>
                  <a:srgbClr val="FFFFFF"/>
                </a:solidFill>
                <a:latin typeface="Didot" pitchFamily="34" charset="0"/>
                <a:ea typeface="Didot" pitchFamily="34" charset="-122"/>
                <a:cs typeface="Didot" pitchFamily="34" charset="-120"/>
              </a:rPr>
              <a:t>PEDIDO</a:t>
            </a:r>
            <a:endParaRPr lang="en-US" sz="2900" dirty="0"/>
          </a:p>
        </p:txBody>
      </p:sp>
      <p:sp>
        <p:nvSpPr>
          <p:cNvPr id="15" name="Shape 12"/>
          <p:cNvSpPr/>
          <p:nvPr/>
        </p:nvSpPr>
        <p:spPr>
          <a:xfrm>
            <a:off x="658368" y="3182112"/>
            <a:ext cx="658368" cy="0"/>
          </a:xfrm>
          <a:prstGeom prst="line">
            <a:avLst/>
          </a:prstGeom>
          <a:noFill/>
          <a:ln w="38100">
            <a:solidFill>
              <a:srgbClr val="CFFF00"/>
            </a:solidFill>
            <a:prstDash val="solid"/>
          </a:ln>
        </p:spPr>
      </p:sp>
      <p:sp>
        <p:nvSpPr>
          <p:cNvPr id="16" name="Text 13"/>
          <p:cNvSpPr txBox="1"/>
          <p:nvPr/>
        </p:nvSpPr>
        <p:spPr>
          <a:xfrm>
            <a:off x="658368" y="3438144"/>
            <a:ext cx="3154680" cy="749808"/>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Lo que alguien solicita</a:t>
            </a:r>
            <a:endParaRPr lang="en-US" sz="1700" dirty="0"/>
          </a:p>
        </p:txBody>
      </p:sp>
      <p:sp>
        <p:nvSpPr>
          <p:cNvPr id="17" name="Text 14"/>
          <p:cNvSpPr txBox="1"/>
          <p:nvPr/>
        </p:nvSpPr>
        <p:spPr>
          <a:xfrm>
            <a:off x="4453128" y="2148840"/>
            <a:ext cx="384048" cy="201168"/>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02</a:t>
            </a:r>
            <a:endParaRPr lang="en-US" sz="1000" dirty="0"/>
          </a:p>
        </p:txBody>
      </p:sp>
      <p:sp>
        <p:nvSpPr>
          <p:cNvPr id="18" name="Text 15"/>
          <p:cNvSpPr txBox="1"/>
          <p:nvPr/>
        </p:nvSpPr>
        <p:spPr>
          <a:xfrm>
            <a:off x="4453128" y="2542032"/>
            <a:ext cx="3246120" cy="411480"/>
          </a:xfrm>
          <a:prstGeom prst="rect">
            <a:avLst/>
          </a:prstGeom>
          <a:noFill/>
          <a:ln/>
        </p:spPr>
        <p:txBody>
          <a:bodyPr wrap="square" lIns="0" tIns="0" rIns="0" bIns="0" rtlCol="0" anchor="t">
            <a:normAutofit/>
          </a:bodyPr>
          <a:lstStyle/>
          <a:p>
            <a:pPr algn="l" indent="0" marL="0">
              <a:buNone/>
            </a:pPr>
            <a:r>
              <a:rPr lang="en-US" sz="2900" dirty="0">
                <a:solidFill>
                  <a:srgbClr val="FFFFFF"/>
                </a:solidFill>
                <a:latin typeface="Didot" pitchFamily="34" charset="0"/>
                <a:ea typeface="Didot" pitchFamily="34" charset="-122"/>
                <a:cs typeface="Didot" pitchFamily="34" charset="-120"/>
              </a:rPr>
              <a:t>PROBLEMA</a:t>
            </a:r>
            <a:endParaRPr lang="en-US" sz="2900" dirty="0"/>
          </a:p>
        </p:txBody>
      </p:sp>
      <p:sp>
        <p:nvSpPr>
          <p:cNvPr id="19" name="Shape 16"/>
          <p:cNvSpPr/>
          <p:nvPr/>
        </p:nvSpPr>
        <p:spPr>
          <a:xfrm>
            <a:off x="4453128" y="3182112"/>
            <a:ext cx="658368" cy="0"/>
          </a:xfrm>
          <a:prstGeom prst="line">
            <a:avLst/>
          </a:prstGeom>
          <a:noFill/>
          <a:ln w="38100">
            <a:solidFill>
              <a:srgbClr val="CFFF00"/>
            </a:solidFill>
            <a:prstDash val="solid"/>
          </a:ln>
        </p:spPr>
      </p:sp>
      <p:sp>
        <p:nvSpPr>
          <p:cNvPr id="20" name="Text 17"/>
          <p:cNvSpPr txBox="1"/>
          <p:nvPr/>
        </p:nvSpPr>
        <p:spPr>
          <a:xfrm>
            <a:off x="4453128" y="3438144"/>
            <a:ext cx="3154680" cy="749808"/>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La situación que todavía debemos explicar</a:t>
            </a:r>
            <a:endParaRPr lang="en-US" sz="1700" dirty="0"/>
          </a:p>
        </p:txBody>
      </p:sp>
      <p:sp>
        <p:nvSpPr>
          <p:cNvPr id="21" name="Text 18"/>
          <p:cNvSpPr txBox="1"/>
          <p:nvPr/>
        </p:nvSpPr>
        <p:spPr>
          <a:xfrm>
            <a:off x="8247888" y="2148840"/>
            <a:ext cx="384048" cy="201168"/>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03</a:t>
            </a:r>
            <a:endParaRPr lang="en-US" sz="1000" dirty="0"/>
          </a:p>
        </p:txBody>
      </p:sp>
      <p:sp>
        <p:nvSpPr>
          <p:cNvPr id="22" name="Text 19"/>
          <p:cNvSpPr txBox="1"/>
          <p:nvPr/>
        </p:nvSpPr>
        <p:spPr>
          <a:xfrm>
            <a:off x="8247888" y="2542032"/>
            <a:ext cx="3246120" cy="411480"/>
          </a:xfrm>
          <a:prstGeom prst="rect">
            <a:avLst/>
          </a:prstGeom>
          <a:noFill/>
          <a:ln/>
        </p:spPr>
        <p:txBody>
          <a:bodyPr wrap="square" lIns="0" tIns="0" rIns="0" bIns="0" rtlCol="0" anchor="t">
            <a:normAutofit/>
          </a:bodyPr>
          <a:lstStyle/>
          <a:p>
            <a:pPr algn="l" indent="0" marL="0">
              <a:buNone/>
            </a:pPr>
            <a:r>
              <a:rPr lang="en-US" sz="2900" dirty="0">
                <a:solidFill>
                  <a:srgbClr val="FFFFFF"/>
                </a:solidFill>
                <a:latin typeface="Didot" pitchFamily="34" charset="0"/>
                <a:ea typeface="Didot" pitchFamily="34" charset="-122"/>
                <a:cs typeface="Didot" pitchFamily="34" charset="-120"/>
              </a:rPr>
              <a:t>SOLUCIÓN</a:t>
            </a:r>
            <a:endParaRPr lang="en-US" sz="2900" dirty="0"/>
          </a:p>
        </p:txBody>
      </p:sp>
      <p:sp>
        <p:nvSpPr>
          <p:cNvPr id="23" name="Shape 20"/>
          <p:cNvSpPr/>
          <p:nvPr/>
        </p:nvSpPr>
        <p:spPr>
          <a:xfrm>
            <a:off x="8247888" y="3182112"/>
            <a:ext cx="658368" cy="0"/>
          </a:xfrm>
          <a:prstGeom prst="line">
            <a:avLst/>
          </a:prstGeom>
          <a:noFill/>
          <a:ln w="38100">
            <a:solidFill>
              <a:srgbClr val="CFFF00"/>
            </a:solidFill>
            <a:prstDash val="solid"/>
          </a:ln>
        </p:spPr>
      </p:sp>
      <p:sp>
        <p:nvSpPr>
          <p:cNvPr id="24" name="Text 21"/>
          <p:cNvSpPr txBox="1"/>
          <p:nvPr/>
        </p:nvSpPr>
        <p:spPr>
          <a:xfrm>
            <a:off x="8247888" y="3438144"/>
            <a:ext cx="3154680" cy="749808"/>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Una intervención posible, no un destino</a:t>
            </a:r>
            <a:endParaRPr lang="en-US" sz="1700" dirty="0"/>
          </a:p>
        </p:txBody>
      </p:sp>
      <p:sp>
        <p:nvSpPr>
          <p:cNvPr id="25" name="Text 22"/>
          <p:cNvSpPr txBox="1"/>
          <p:nvPr/>
        </p:nvSpPr>
        <p:spPr>
          <a:xfrm>
            <a:off x="658368" y="5257800"/>
            <a:ext cx="9875520" cy="457200"/>
          </a:xfrm>
          <a:prstGeom prst="rect">
            <a:avLst/>
          </a:prstGeom>
          <a:noFill/>
          <a:ln/>
        </p:spPr>
        <p:txBody>
          <a:bodyPr wrap="square" lIns="0" tIns="0" rIns="0" bIns="0" rtlCol="0" anchor="t">
            <a:normAutofit/>
          </a:bodyPr>
          <a:lstStyle/>
          <a:p>
            <a:pPr algn="l" indent="0" marL="0">
              <a:buNone/>
            </a:pPr>
            <a:r>
              <a:rPr lang="en-US" sz="2500" i="1" dirty="0">
                <a:solidFill>
                  <a:srgbClr val="FFFFFF"/>
                </a:solidFill>
                <a:latin typeface="Didot" pitchFamily="34" charset="0"/>
                <a:ea typeface="Didot" pitchFamily="34" charset="-122"/>
                <a:cs typeface="Didot" pitchFamily="34" charset="-120"/>
              </a:rPr>
              <a:t>¿Qué diferencia cambiaría una decisión?</a:t>
            </a:r>
            <a:endParaRPr lang="en-US"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817"/>
        </a:solidFill>
      </p:bgPr>
    </p:bg>
    <p:spTree>
      <p:nvGrpSpPr>
        <p:cNvPr id="1" name=""/>
        <p:cNvGrpSpPr/>
        <p:nvPr/>
      </p:nvGrpSpPr>
      <p:grpSpPr>
        <a:xfrm>
          <a:off x="0" y="0"/>
          <a:ext cx="0" cy="0"/>
          <a:chOff x="0" y="0"/>
          <a:chExt cx="0" cy="0"/>
        </a:xfrm>
      </p:grpSpPr>
      <p:pic>
        <p:nvPicPr>
          <p:cNvPr id="3" name="Fondo de video · lights">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58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04</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DOS VERSIONES</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04</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60120"/>
            <a:ext cx="7315200" cy="594360"/>
          </a:xfrm>
          <a:prstGeom prst="rect">
            <a:avLst/>
          </a:prstGeom>
          <a:noFill/>
          <a:ln/>
        </p:spPr>
        <p:txBody>
          <a:bodyPr wrap="square" lIns="0" tIns="0" rIns="0" bIns="0" rtlCol="0" anchor="t">
            <a:normAutofit/>
          </a:bodyPr>
          <a:lstStyle/>
          <a:p>
            <a:pPr algn="l" indent="0" marL="0">
              <a:buNone/>
            </a:pPr>
            <a:r>
              <a:rPr lang="en-US" sz="3600" dirty="0">
                <a:solidFill>
                  <a:srgbClr val="FFFFFF"/>
                </a:solidFill>
                <a:latin typeface="Didot" pitchFamily="34" charset="0"/>
                <a:ea typeface="Didot" pitchFamily="34" charset="-122"/>
                <a:cs typeface="Didot" pitchFamily="34" charset="-120"/>
              </a:rPr>
              <a:t>No gana el memo más prolijo</a:t>
            </a:r>
            <a:endParaRPr lang="en-US" sz="3600" dirty="0"/>
          </a:p>
        </p:txBody>
      </p:sp>
      <p:sp>
        <p:nvSpPr>
          <p:cNvPr id="13" name="Text 10"/>
          <p:cNvSpPr txBox="1"/>
          <p:nvPr/>
        </p:nvSpPr>
        <p:spPr>
          <a:xfrm>
            <a:off x="658368" y="1609344"/>
            <a:ext cx="7498080" cy="347472"/>
          </a:xfrm>
          <a:prstGeom prst="rect">
            <a:avLst/>
          </a:prstGeom>
          <a:noFill/>
          <a:ln/>
        </p:spPr>
        <p:txBody>
          <a:bodyPr wrap="square" lIns="0" tIns="0" rIns="0" bIns="0" rtlCol="0" anchor="t">
            <a:normAutofit/>
          </a:bodyPr>
          <a:lstStyle/>
          <a:p>
            <a:pPr algn="l" indent="0" marL="0">
              <a:buNone/>
            </a:pPr>
            <a:r>
              <a:rPr lang="en-US" sz="1800" dirty="0">
                <a:solidFill>
                  <a:srgbClr val="D9DBD8"/>
                </a:solidFill>
                <a:latin typeface="Avenir" pitchFamily="34" charset="0"/>
                <a:ea typeface="Avenir" pitchFamily="34" charset="-122"/>
                <a:cs typeface="Avenir" pitchFamily="34" charset="-120"/>
              </a:rPr>
              <a:t>Gana la diferencia que vuelve visible una consecuencia.</a:t>
            </a:r>
            <a:endParaRPr lang="en-US" sz="1800" dirty="0"/>
          </a:p>
        </p:txBody>
      </p:sp>
      <p:sp>
        <p:nvSpPr>
          <p:cNvPr id="14" name="Shape 11"/>
          <p:cNvSpPr/>
          <p:nvPr/>
        </p:nvSpPr>
        <p:spPr>
          <a:xfrm>
            <a:off x="658368" y="2331720"/>
            <a:ext cx="5257800" cy="2194560"/>
          </a:xfrm>
          <a:prstGeom prst="rect">
            <a:avLst/>
          </a:prstGeom>
          <a:solidFill>
            <a:srgbClr val="171817">
              <a:alpha val="65000"/>
            </a:srgbClr>
          </a:solidFill>
          <a:ln w="12700">
            <a:solidFill>
              <a:srgbClr val="FFFFFF">
                <a:alpha val="55000"/>
              </a:srgbClr>
            </a:solidFill>
            <a:prstDash val="solid"/>
          </a:ln>
        </p:spPr>
      </p:sp>
      <p:sp>
        <p:nvSpPr>
          <p:cNvPr id="15" name="Text 12"/>
          <p:cNvSpPr txBox="1"/>
          <p:nvPr/>
        </p:nvSpPr>
        <p:spPr>
          <a:xfrm>
            <a:off x="914400" y="2578608"/>
            <a:ext cx="1280160" cy="228600"/>
          </a:xfrm>
          <a:prstGeom prst="rect">
            <a:avLst/>
          </a:prstGeom>
          <a:noFill/>
          <a:ln/>
        </p:spPr>
        <p:txBody>
          <a:bodyPr wrap="square" lIns="0" tIns="0" rIns="0" bIns="0" rtlCol="0" anchor="t">
            <a:normAutofit/>
          </a:bodyPr>
          <a:lstStyle/>
          <a:p>
            <a:pPr algn="l" indent="0" marL="0">
              <a:buNone/>
            </a:pPr>
            <a:r>
              <a:rPr lang="en-US" sz="1200" b="1" dirty="0">
                <a:solidFill>
                  <a:srgbClr val="CFFF00"/>
                </a:solidFill>
                <a:latin typeface="Avenir" pitchFamily="34" charset="0"/>
                <a:ea typeface="Avenir" pitchFamily="34" charset="-122"/>
                <a:cs typeface="Avenir" pitchFamily="34" charset="-120"/>
              </a:rPr>
              <a:t>HH-01 · A</a:t>
            </a:r>
            <a:endParaRPr lang="en-US" sz="1200" dirty="0"/>
          </a:p>
        </p:txBody>
      </p:sp>
      <p:sp>
        <p:nvSpPr>
          <p:cNvPr id="16" name="Text 13"/>
          <p:cNvSpPr txBox="1"/>
          <p:nvPr/>
        </p:nvSpPr>
        <p:spPr>
          <a:xfrm>
            <a:off x="914400" y="3035808"/>
            <a:ext cx="4617720" cy="749808"/>
          </a:xfrm>
          <a:prstGeom prst="rect">
            <a:avLst/>
          </a:prstGeom>
          <a:noFill/>
          <a:ln/>
        </p:spPr>
        <p:txBody>
          <a:bodyPr wrap="square" lIns="0" tIns="0" rIns="0" bIns="0" rtlCol="0" anchor="t">
            <a:normAutofit/>
          </a:bodyPr>
          <a:lstStyle/>
          <a:p>
            <a:pPr algn="l" indent="0" marL="0">
              <a:buNone/>
            </a:pPr>
            <a:r>
              <a:rPr lang="en-US" sz="2500" dirty="0">
                <a:solidFill>
                  <a:srgbClr val="FFFFFF"/>
                </a:solidFill>
                <a:latin typeface="Didot" pitchFamily="34" charset="0"/>
                <a:ea typeface="Didot" pitchFamily="34" charset="-122"/>
                <a:cs typeface="Didot" pitchFamily="34" charset="-120"/>
              </a:rPr>
              <a:t>“El problema es el sistema actual.”</a:t>
            </a:r>
            <a:endParaRPr lang="en-US" sz="2500" dirty="0"/>
          </a:p>
        </p:txBody>
      </p:sp>
      <p:sp>
        <p:nvSpPr>
          <p:cNvPr id="17" name="Text 14"/>
          <p:cNvSpPr txBox="1"/>
          <p:nvPr/>
        </p:nvSpPr>
        <p:spPr>
          <a:xfrm>
            <a:off x="914400" y="4041648"/>
            <a:ext cx="4617720" cy="274320"/>
          </a:xfrm>
          <a:prstGeom prst="rect">
            <a:avLst/>
          </a:prstGeom>
          <a:noFill/>
          <a:ln/>
        </p:spPr>
        <p:txBody>
          <a:bodyPr wrap="square" lIns="0" tIns="0" rIns="0" bIns="0" rtlCol="0" anchor="t">
            <a:normAutofit/>
          </a:bodyPr>
          <a:lstStyle/>
          <a:p>
            <a:pPr algn="l" indent="0" marL="0">
              <a:buNone/>
            </a:pPr>
            <a:r>
              <a:rPr lang="en-US" sz="1500" dirty="0">
                <a:solidFill>
                  <a:srgbClr val="D9DBD8"/>
                </a:solidFill>
                <a:latin typeface="Avenir" pitchFamily="34" charset="0"/>
                <a:ea typeface="Avenir" pitchFamily="34" charset="-122"/>
                <a:cs typeface="Avenir" pitchFamily="34" charset="-120"/>
              </a:rPr>
              <a:t>Próxima acción: reemplazar</a:t>
            </a:r>
            <a:endParaRPr lang="en-US" sz="1500" dirty="0"/>
          </a:p>
        </p:txBody>
      </p:sp>
      <p:sp>
        <p:nvSpPr>
          <p:cNvPr id="18" name="Shape 15"/>
          <p:cNvSpPr/>
          <p:nvPr/>
        </p:nvSpPr>
        <p:spPr>
          <a:xfrm>
            <a:off x="6263640" y="2331720"/>
            <a:ext cx="5257800" cy="2194560"/>
          </a:xfrm>
          <a:prstGeom prst="rect">
            <a:avLst/>
          </a:prstGeom>
          <a:solidFill>
            <a:srgbClr val="171817">
              <a:alpha val="65000"/>
            </a:srgbClr>
          </a:solidFill>
          <a:ln w="12700">
            <a:solidFill>
              <a:srgbClr val="FFFFFF">
                <a:alpha val="55000"/>
              </a:srgbClr>
            </a:solidFill>
            <a:prstDash val="solid"/>
          </a:ln>
        </p:spPr>
      </p:sp>
      <p:sp>
        <p:nvSpPr>
          <p:cNvPr id="19" name="Text 16"/>
          <p:cNvSpPr txBox="1"/>
          <p:nvPr/>
        </p:nvSpPr>
        <p:spPr>
          <a:xfrm>
            <a:off x="6519672" y="2578608"/>
            <a:ext cx="1280160" cy="228600"/>
          </a:xfrm>
          <a:prstGeom prst="rect">
            <a:avLst/>
          </a:prstGeom>
          <a:noFill/>
          <a:ln/>
        </p:spPr>
        <p:txBody>
          <a:bodyPr wrap="square" lIns="0" tIns="0" rIns="0" bIns="0" rtlCol="0" anchor="t">
            <a:normAutofit/>
          </a:bodyPr>
          <a:lstStyle/>
          <a:p>
            <a:pPr algn="l" indent="0" marL="0">
              <a:buNone/>
            </a:pPr>
            <a:r>
              <a:rPr lang="en-US" sz="1200" b="1" dirty="0">
                <a:solidFill>
                  <a:srgbClr val="CFFF00"/>
                </a:solidFill>
                <a:latin typeface="Avenir" pitchFamily="34" charset="0"/>
                <a:ea typeface="Avenir" pitchFamily="34" charset="-122"/>
                <a:cs typeface="Avenir" pitchFamily="34" charset="-120"/>
              </a:rPr>
              <a:t>HH-01 · B</a:t>
            </a:r>
            <a:endParaRPr lang="en-US" sz="1200" dirty="0"/>
          </a:p>
        </p:txBody>
      </p:sp>
      <p:sp>
        <p:nvSpPr>
          <p:cNvPr id="20" name="Text 17"/>
          <p:cNvSpPr txBox="1"/>
          <p:nvPr/>
        </p:nvSpPr>
        <p:spPr>
          <a:xfrm>
            <a:off x="6519672" y="3035808"/>
            <a:ext cx="4617720" cy="749808"/>
          </a:xfrm>
          <a:prstGeom prst="rect">
            <a:avLst/>
          </a:prstGeom>
          <a:noFill/>
          <a:ln/>
        </p:spPr>
        <p:txBody>
          <a:bodyPr wrap="square" lIns="0" tIns="0" rIns="0" bIns="0" rtlCol="0" anchor="t">
            <a:normAutofit/>
          </a:bodyPr>
          <a:lstStyle/>
          <a:p>
            <a:pPr algn="l" indent="0" marL="0">
              <a:buNone/>
            </a:pPr>
            <a:r>
              <a:rPr lang="en-US" sz="2500" dirty="0">
                <a:solidFill>
                  <a:srgbClr val="FFFFFF"/>
                </a:solidFill>
                <a:latin typeface="Didot" pitchFamily="34" charset="0"/>
                <a:ea typeface="Didot" pitchFamily="34" charset="-122"/>
                <a:cs typeface="Didot" pitchFamily="34" charset="-120"/>
              </a:rPr>
              <a:t>“La promesa comercial no llega a operación.”</a:t>
            </a:r>
            <a:endParaRPr lang="en-US" sz="2500" dirty="0"/>
          </a:p>
        </p:txBody>
      </p:sp>
      <p:sp>
        <p:nvSpPr>
          <p:cNvPr id="21" name="Text 18"/>
          <p:cNvSpPr txBox="1"/>
          <p:nvPr/>
        </p:nvSpPr>
        <p:spPr>
          <a:xfrm>
            <a:off x="6519672" y="4041648"/>
            <a:ext cx="4617720" cy="274320"/>
          </a:xfrm>
          <a:prstGeom prst="rect">
            <a:avLst/>
          </a:prstGeom>
          <a:noFill/>
          <a:ln/>
        </p:spPr>
        <p:txBody>
          <a:bodyPr wrap="square" lIns="0" tIns="0" rIns="0" bIns="0" rtlCol="0" anchor="t">
            <a:normAutofit/>
          </a:bodyPr>
          <a:lstStyle/>
          <a:p>
            <a:pPr algn="l" indent="0" marL="0">
              <a:buNone/>
            </a:pPr>
            <a:r>
              <a:rPr lang="en-US" sz="1500" dirty="0">
                <a:solidFill>
                  <a:srgbClr val="D9DBD8"/>
                </a:solidFill>
                <a:latin typeface="Avenir" pitchFamily="34" charset="0"/>
                <a:ea typeface="Avenir" pitchFamily="34" charset="-122"/>
                <a:cs typeface="Avenir" pitchFamily="34" charset="-120"/>
              </a:rPr>
              <a:t>Próxima acción: reconstruir el episodio</a:t>
            </a:r>
            <a:endParaRPr lang="en-US" sz="1500" dirty="0"/>
          </a:p>
        </p:txBody>
      </p:sp>
      <p:sp>
        <p:nvSpPr>
          <p:cNvPr id="22" name="Text 19"/>
          <p:cNvSpPr txBox="1"/>
          <p:nvPr/>
        </p:nvSpPr>
        <p:spPr>
          <a:xfrm>
            <a:off x="658368" y="5138928"/>
            <a:ext cx="8046720" cy="457200"/>
          </a:xfrm>
          <a:prstGeom prst="rect">
            <a:avLst/>
          </a:prstGeom>
          <a:noFill/>
          <a:ln/>
        </p:spPr>
        <p:txBody>
          <a:bodyPr wrap="square" lIns="0" tIns="0" rIns="0" bIns="0" rtlCol="0" anchor="t">
            <a:normAutofit/>
          </a:bodyPr>
          <a:lstStyle/>
          <a:p>
            <a:pPr algn="l" indent="0" marL="0">
              <a:buNone/>
            </a:pPr>
            <a:r>
              <a:rPr lang="en-US" sz="2500" i="1" dirty="0">
                <a:solidFill>
                  <a:srgbClr val="FFFFFF"/>
                </a:solidFill>
                <a:latin typeface="Didot" pitchFamily="34" charset="0"/>
                <a:ea typeface="Didot" pitchFamily="34" charset="-122"/>
                <a:cs typeface="Didot" pitchFamily="34" charset="-120"/>
              </a:rPr>
              <a:t>¿Qué evidencia permitiría distinguirlos?</a:t>
            </a: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817"/>
        </a:solidFill>
      </p:bgPr>
    </p:bg>
    <p:spTree>
      <p:nvGrpSpPr>
        <p:cNvPr id="1" name=""/>
        <p:cNvGrpSpPr/>
        <p:nvPr/>
      </p:nvGrpSpPr>
      <p:grpSpPr>
        <a:xfrm>
          <a:off x="0" y="0"/>
          <a:ext cx="0" cy="0"/>
          <a:chOff x="0" y="0"/>
          <a:chExt cx="0" cy="0"/>
        </a:xfrm>
      </p:grpSpPr>
      <p:pic>
        <p:nvPicPr>
          <p:cNvPr id="3" name="Fondo de video · structure">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55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05</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CLÍNICA CONCEPTUAL</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05</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60120"/>
            <a:ext cx="7498080" cy="594360"/>
          </a:xfrm>
          <a:prstGeom prst="rect">
            <a:avLst/>
          </a:prstGeom>
          <a:noFill/>
          <a:ln/>
        </p:spPr>
        <p:txBody>
          <a:bodyPr wrap="square" lIns="0" tIns="0" rIns="0" bIns="0" rtlCol="0" anchor="t">
            <a:normAutofit/>
          </a:bodyPr>
          <a:lstStyle/>
          <a:p>
            <a:pPr algn="l" indent="0" marL="0">
              <a:buNone/>
            </a:pPr>
            <a:r>
              <a:rPr lang="en-US" sz="3600" dirty="0">
                <a:solidFill>
                  <a:srgbClr val="FFFFFF"/>
                </a:solidFill>
                <a:latin typeface="Didot" pitchFamily="34" charset="0"/>
                <a:ea typeface="Didot" pitchFamily="34" charset="-122"/>
                <a:cs typeface="Didot" pitchFamily="34" charset="-120"/>
              </a:rPr>
              <a:t>Una prueba en cuatro preguntas</a:t>
            </a:r>
            <a:endParaRPr lang="en-US" sz="3600" dirty="0"/>
          </a:p>
        </p:txBody>
      </p:sp>
      <p:sp>
        <p:nvSpPr>
          <p:cNvPr id="13" name="Text 10"/>
          <p:cNvSpPr txBox="1"/>
          <p:nvPr/>
        </p:nvSpPr>
        <p:spPr>
          <a:xfrm>
            <a:off x="713232" y="1965960"/>
            <a:ext cx="411480" cy="182880"/>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01</a:t>
            </a:r>
            <a:endParaRPr lang="en-US" sz="1000" dirty="0"/>
          </a:p>
        </p:txBody>
      </p:sp>
      <p:sp>
        <p:nvSpPr>
          <p:cNvPr id="14" name="Text 11"/>
          <p:cNvSpPr txBox="1"/>
          <p:nvPr/>
        </p:nvSpPr>
        <p:spPr>
          <a:xfrm>
            <a:off x="1417320" y="1874520"/>
            <a:ext cx="8138160" cy="457200"/>
          </a:xfrm>
          <a:prstGeom prst="rect">
            <a:avLst/>
          </a:prstGeom>
          <a:noFill/>
          <a:ln/>
        </p:spPr>
        <p:txBody>
          <a:bodyPr wrap="square" lIns="0" tIns="0" rIns="0" bIns="0" rtlCol="0" anchor="t">
            <a:normAutofit/>
          </a:bodyPr>
          <a:lstStyle/>
          <a:p>
            <a:pPr algn="l" indent="0" marL="0">
              <a:buNone/>
            </a:pPr>
            <a:r>
              <a:rPr lang="en-US" sz="2600" dirty="0">
                <a:solidFill>
                  <a:srgbClr val="FFFFFF"/>
                </a:solidFill>
                <a:latin typeface="Didot" pitchFamily="34" charset="0"/>
                <a:ea typeface="Didot" pitchFamily="34" charset="-122"/>
                <a:cs typeface="Didot" pitchFamily="34" charset="-120"/>
              </a:rPr>
              <a:t>¿Qué incertidumbre reducimos?</a:t>
            </a:r>
            <a:endParaRPr lang="en-US" sz="2600" dirty="0"/>
          </a:p>
        </p:txBody>
      </p:sp>
      <p:sp>
        <p:nvSpPr>
          <p:cNvPr id="15" name="Shape 12"/>
          <p:cNvSpPr/>
          <p:nvPr/>
        </p:nvSpPr>
        <p:spPr>
          <a:xfrm>
            <a:off x="1417320" y="2450592"/>
            <a:ext cx="8641080" cy="0"/>
          </a:xfrm>
          <a:prstGeom prst="line">
            <a:avLst/>
          </a:prstGeom>
          <a:noFill/>
          <a:ln w="7620">
            <a:solidFill>
              <a:srgbClr val="FFFFFF">
                <a:alpha val="30000"/>
              </a:srgbClr>
            </a:solidFill>
            <a:prstDash val="solid"/>
          </a:ln>
        </p:spPr>
      </p:sp>
      <p:sp>
        <p:nvSpPr>
          <p:cNvPr id="16" name="Text 13"/>
          <p:cNvSpPr txBox="1"/>
          <p:nvPr/>
        </p:nvSpPr>
        <p:spPr>
          <a:xfrm>
            <a:off x="713232" y="2807208"/>
            <a:ext cx="411480" cy="182880"/>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02</a:t>
            </a:r>
            <a:endParaRPr lang="en-US" sz="1000" dirty="0"/>
          </a:p>
        </p:txBody>
      </p:sp>
      <p:sp>
        <p:nvSpPr>
          <p:cNvPr id="17" name="Text 14"/>
          <p:cNvSpPr txBox="1"/>
          <p:nvPr/>
        </p:nvSpPr>
        <p:spPr>
          <a:xfrm>
            <a:off x="1417320" y="2715768"/>
            <a:ext cx="8138160" cy="457200"/>
          </a:xfrm>
          <a:prstGeom prst="rect">
            <a:avLst/>
          </a:prstGeom>
          <a:noFill/>
          <a:ln/>
        </p:spPr>
        <p:txBody>
          <a:bodyPr wrap="square" lIns="0" tIns="0" rIns="0" bIns="0" rtlCol="0" anchor="t">
            <a:normAutofit/>
          </a:bodyPr>
          <a:lstStyle/>
          <a:p>
            <a:pPr algn="l" indent="0" marL="0">
              <a:buNone/>
            </a:pPr>
            <a:r>
              <a:rPr lang="en-US" sz="2600" dirty="0">
                <a:solidFill>
                  <a:srgbClr val="FFFFFF"/>
                </a:solidFill>
                <a:latin typeface="Didot" pitchFamily="34" charset="0"/>
                <a:ea typeface="Didot" pitchFamily="34" charset="-122"/>
                <a:cs typeface="Didot" pitchFamily="34" charset="-120"/>
              </a:rPr>
              <a:t>¿Antes de qué decisión?</a:t>
            </a:r>
            <a:endParaRPr lang="en-US" sz="2600" dirty="0"/>
          </a:p>
        </p:txBody>
      </p:sp>
      <p:sp>
        <p:nvSpPr>
          <p:cNvPr id="18" name="Shape 15"/>
          <p:cNvSpPr/>
          <p:nvPr/>
        </p:nvSpPr>
        <p:spPr>
          <a:xfrm>
            <a:off x="1417320" y="3291840"/>
            <a:ext cx="8641080" cy="0"/>
          </a:xfrm>
          <a:prstGeom prst="line">
            <a:avLst/>
          </a:prstGeom>
          <a:noFill/>
          <a:ln w="7620">
            <a:solidFill>
              <a:srgbClr val="FFFFFF">
                <a:alpha val="30000"/>
              </a:srgbClr>
            </a:solidFill>
            <a:prstDash val="solid"/>
          </a:ln>
        </p:spPr>
      </p:sp>
      <p:sp>
        <p:nvSpPr>
          <p:cNvPr id="19" name="Text 16"/>
          <p:cNvSpPr txBox="1"/>
          <p:nvPr/>
        </p:nvSpPr>
        <p:spPr>
          <a:xfrm>
            <a:off x="713232" y="3648456"/>
            <a:ext cx="411480" cy="182880"/>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03</a:t>
            </a:r>
            <a:endParaRPr lang="en-US" sz="1000" dirty="0"/>
          </a:p>
        </p:txBody>
      </p:sp>
      <p:sp>
        <p:nvSpPr>
          <p:cNvPr id="20" name="Text 17"/>
          <p:cNvSpPr txBox="1"/>
          <p:nvPr/>
        </p:nvSpPr>
        <p:spPr>
          <a:xfrm>
            <a:off x="1417320" y="3557016"/>
            <a:ext cx="8138160" cy="457200"/>
          </a:xfrm>
          <a:prstGeom prst="rect">
            <a:avLst/>
          </a:prstGeom>
          <a:noFill/>
          <a:ln/>
        </p:spPr>
        <p:txBody>
          <a:bodyPr wrap="square" lIns="0" tIns="0" rIns="0" bIns="0" rtlCol="0" anchor="t">
            <a:normAutofit/>
          </a:bodyPr>
          <a:lstStyle/>
          <a:p>
            <a:pPr algn="l" indent="0" marL="0">
              <a:buNone/>
            </a:pPr>
            <a:r>
              <a:rPr lang="en-US" sz="2600" dirty="0">
                <a:solidFill>
                  <a:srgbClr val="FFFFFF"/>
                </a:solidFill>
                <a:latin typeface="Didot" pitchFamily="34" charset="0"/>
                <a:ea typeface="Didot" pitchFamily="34" charset="-122"/>
                <a:cs typeface="Didot" pitchFamily="34" charset="-120"/>
              </a:rPr>
              <a:t>¿Mediante qué evidencia?</a:t>
            </a:r>
            <a:endParaRPr lang="en-US" sz="2600" dirty="0"/>
          </a:p>
        </p:txBody>
      </p:sp>
      <p:sp>
        <p:nvSpPr>
          <p:cNvPr id="21" name="Shape 18"/>
          <p:cNvSpPr/>
          <p:nvPr/>
        </p:nvSpPr>
        <p:spPr>
          <a:xfrm>
            <a:off x="1417320" y="4133088"/>
            <a:ext cx="8641080" cy="0"/>
          </a:xfrm>
          <a:prstGeom prst="line">
            <a:avLst/>
          </a:prstGeom>
          <a:noFill/>
          <a:ln w="7620">
            <a:solidFill>
              <a:srgbClr val="FFFFFF">
                <a:alpha val="30000"/>
              </a:srgbClr>
            </a:solidFill>
            <a:prstDash val="solid"/>
          </a:ln>
        </p:spPr>
      </p:sp>
      <p:sp>
        <p:nvSpPr>
          <p:cNvPr id="22" name="Text 19"/>
          <p:cNvSpPr txBox="1"/>
          <p:nvPr/>
        </p:nvSpPr>
        <p:spPr>
          <a:xfrm>
            <a:off x="713232" y="4489704"/>
            <a:ext cx="411480" cy="182880"/>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04</a:t>
            </a:r>
            <a:endParaRPr lang="en-US" sz="1000" dirty="0"/>
          </a:p>
        </p:txBody>
      </p:sp>
      <p:sp>
        <p:nvSpPr>
          <p:cNvPr id="23" name="Text 20"/>
          <p:cNvSpPr txBox="1"/>
          <p:nvPr/>
        </p:nvSpPr>
        <p:spPr>
          <a:xfrm>
            <a:off x="1417320" y="4398264"/>
            <a:ext cx="8138160" cy="457200"/>
          </a:xfrm>
          <a:prstGeom prst="rect">
            <a:avLst/>
          </a:prstGeom>
          <a:noFill/>
          <a:ln/>
        </p:spPr>
        <p:txBody>
          <a:bodyPr wrap="square" lIns="0" tIns="0" rIns="0" bIns="0" rtlCol="0" anchor="t">
            <a:normAutofit/>
          </a:bodyPr>
          <a:lstStyle/>
          <a:p>
            <a:pPr algn="l" indent="0" marL="0">
              <a:buNone/>
            </a:pPr>
            <a:r>
              <a:rPr lang="en-US" sz="2600" dirty="0">
                <a:solidFill>
                  <a:srgbClr val="FFFFFF"/>
                </a:solidFill>
                <a:latin typeface="Didot" pitchFamily="34" charset="0"/>
                <a:ea typeface="Didot" pitchFamily="34" charset="-122"/>
                <a:cs typeface="Didot" pitchFamily="34" charset="-120"/>
              </a:rPr>
              <a:t>¿Qué resultado cambiaría el camino?</a:t>
            </a:r>
            <a:endParaRPr lang="en-US" sz="2600" dirty="0"/>
          </a:p>
        </p:txBody>
      </p:sp>
      <p:sp>
        <p:nvSpPr>
          <p:cNvPr id="24" name="Shape 21"/>
          <p:cNvSpPr/>
          <p:nvPr/>
        </p:nvSpPr>
        <p:spPr>
          <a:xfrm>
            <a:off x="1417320" y="4974336"/>
            <a:ext cx="8641080" cy="0"/>
          </a:xfrm>
          <a:prstGeom prst="line">
            <a:avLst/>
          </a:prstGeom>
          <a:noFill/>
          <a:ln w="7620">
            <a:solidFill>
              <a:srgbClr val="FFFFFF">
                <a:alpha val="30000"/>
              </a:srgbClr>
            </a:solidFill>
            <a:prstDash val="solid"/>
          </a:ln>
        </p:spPr>
      </p:sp>
      <p:sp>
        <p:nvSpPr>
          <p:cNvPr id="25" name="Text 22"/>
          <p:cNvSpPr txBox="1"/>
          <p:nvPr/>
        </p:nvSpPr>
        <p:spPr>
          <a:xfrm>
            <a:off x="8183880" y="4937760"/>
            <a:ext cx="2926080" cy="713232"/>
          </a:xfrm>
          <a:prstGeom prst="rect">
            <a:avLst/>
          </a:prstGeom>
          <a:noFill/>
          <a:ln/>
        </p:spPr>
        <p:txBody>
          <a:bodyPr wrap="square" lIns="0" tIns="0" rIns="0" bIns="0" rtlCol="0" anchor="t">
            <a:normAutofit/>
          </a:bodyPr>
          <a:lstStyle/>
          <a:p>
            <a:pPr algn="r" indent="0" marL="0">
              <a:buNone/>
            </a:pPr>
            <a:r>
              <a:rPr lang="en-US" sz="1600" dirty="0">
                <a:solidFill>
                  <a:srgbClr val="D9DBD8"/>
                </a:solidFill>
                <a:latin typeface="Avenir" pitchFamily="34" charset="0"/>
                <a:ea typeface="Avenir" pitchFamily="34" charset="-122"/>
                <a:cs typeface="Avenir" pitchFamily="34" charset="-120"/>
              </a:rPr>
              <a:t>Si una actividad no responde estas preguntas, quizá produce movimiento, pero todavía no produce aprendizaje útil.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817"/>
        </a:solidFill>
      </p:bgPr>
    </p:bg>
    <p:spTree>
      <p:nvGrpSpPr>
        <p:cNvPr id="1" name=""/>
        <p:cNvGrpSpPr/>
        <p:nvPr/>
      </p:nvGrpSpPr>
      <p:grpSpPr>
        <a:xfrm>
          <a:off x="0" y="0"/>
          <a:ext cx="0" cy="0"/>
          <a:chOff x="0" y="0"/>
          <a:chExt cx="0" cy="0"/>
        </a:xfrm>
      </p:grpSpPr>
      <p:pic>
        <p:nvPicPr>
          <p:cNvPr id="3" name="Fondo de video · hotel">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58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06</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RECONSTRUIR HH-01</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06</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87552"/>
            <a:ext cx="5943600" cy="1143000"/>
          </a:xfrm>
          <a:prstGeom prst="rect">
            <a:avLst/>
          </a:prstGeom>
          <a:noFill/>
          <a:ln/>
        </p:spPr>
        <p:txBody>
          <a:bodyPr wrap="square" lIns="0" tIns="0" rIns="0" bIns="0" rtlCol="0" anchor="t">
            <a:normAutofit/>
          </a:bodyPr>
          <a:lstStyle/>
          <a:p>
            <a:pPr algn="l" indent="0" marL="0">
              <a:buNone/>
            </a:pPr>
            <a:r>
              <a:rPr lang="en-US" sz="3600" dirty="0">
                <a:solidFill>
                  <a:srgbClr val="FFFFFF"/>
                </a:solidFill>
                <a:latin typeface="Didot" pitchFamily="34" charset="0"/>
                <a:ea typeface="Didot" pitchFamily="34" charset="-122"/>
                <a:cs typeface="Didot" pitchFamily="34" charset="-120"/>
              </a:rPr>
              <a:t>Una versión común,</a:t>
            </a:r>
            <a:endParaRPr lang="en-US" sz="3600" dirty="0"/>
          </a:p>
          <a:p>
            <a:pPr algn="l" indent="0" marL="0">
              <a:buNone/>
            </a:pPr>
            <a:r>
              <a:rPr lang="en-US" sz="3600" dirty="0">
                <a:solidFill>
                  <a:srgbClr val="FFFFFF"/>
                </a:solidFill>
                <a:latin typeface="Didot" pitchFamily="34" charset="0"/>
                <a:ea typeface="Didot" pitchFamily="34" charset="-122"/>
                <a:cs typeface="Didot" pitchFamily="34" charset="-120"/>
              </a:rPr>
              <a:t>sin borrar el desacuerdo</a:t>
            </a:r>
            <a:endParaRPr lang="en-US" sz="3600" dirty="0"/>
          </a:p>
        </p:txBody>
      </p:sp>
      <p:sp>
        <p:nvSpPr>
          <p:cNvPr id="13" name="Text 10"/>
          <p:cNvSpPr txBox="1"/>
          <p:nvPr/>
        </p:nvSpPr>
        <p:spPr>
          <a:xfrm>
            <a:off x="6812280" y="115214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01</a:t>
            </a:r>
            <a:endParaRPr lang="en-US" sz="950" dirty="0"/>
          </a:p>
        </p:txBody>
      </p:sp>
      <p:sp>
        <p:nvSpPr>
          <p:cNvPr id="14" name="Text 11"/>
          <p:cNvSpPr txBox="1"/>
          <p:nvPr/>
        </p:nvSpPr>
        <p:spPr>
          <a:xfrm>
            <a:off x="7315200" y="112471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PEDIDO</a:t>
            </a:r>
            <a:endParaRPr lang="en-US" sz="1150" dirty="0"/>
          </a:p>
        </p:txBody>
      </p:sp>
      <p:sp>
        <p:nvSpPr>
          <p:cNvPr id="15" name="Shape 12"/>
          <p:cNvSpPr/>
          <p:nvPr/>
        </p:nvSpPr>
        <p:spPr>
          <a:xfrm>
            <a:off x="7315200" y="1472184"/>
            <a:ext cx="1719072" cy="0"/>
          </a:xfrm>
          <a:prstGeom prst="line">
            <a:avLst/>
          </a:prstGeom>
          <a:noFill/>
          <a:ln w="10160">
            <a:solidFill>
              <a:srgbClr val="FFFFFF">
                <a:alpha val="45000"/>
              </a:srgbClr>
            </a:solidFill>
            <a:prstDash val="solid"/>
          </a:ln>
        </p:spPr>
      </p:sp>
      <p:sp>
        <p:nvSpPr>
          <p:cNvPr id="16" name="Text 13"/>
          <p:cNvSpPr txBox="1"/>
          <p:nvPr/>
        </p:nvSpPr>
        <p:spPr>
          <a:xfrm>
            <a:off x="6812280" y="211226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02</a:t>
            </a:r>
            <a:endParaRPr lang="en-US" sz="950" dirty="0"/>
          </a:p>
        </p:txBody>
      </p:sp>
      <p:sp>
        <p:nvSpPr>
          <p:cNvPr id="17" name="Text 14"/>
          <p:cNvSpPr txBox="1"/>
          <p:nvPr/>
        </p:nvSpPr>
        <p:spPr>
          <a:xfrm>
            <a:off x="7315200" y="208483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PROPÓSITO</a:t>
            </a:r>
            <a:endParaRPr lang="en-US" sz="1150" dirty="0"/>
          </a:p>
        </p:txBody>
      </p:sp>
      <p:sp>
        <p:nvSpPr>
          <p:cNvPr id="18" name="Shape 15"/>
          <p:cNvSpPr/>
          <p:nvPr/>
        </p:nvSpPr>
        <p:spPr>
          <a:xfrm>
            <a:off x="7315200" y="2432304"/>
            <a:ext cx="1719072" cy="0"/>
          </a:xfrm>
          <a:prstGeom prst="line">
            <a:avLst/>
          </a:prstGeom>
          <a:noFill/>
          <a:ln w="10160">
            <a:solidFill>
              <a:srgbClr val="FFFFFF">
                <a:alpha val="45000"/>
              </a:srgbClr>
            </a:solidFill>
            <a:prstDash val="solid"/>
          </a:ln>
        </p:spPr>
      </p:sp>
      <p:sp>
        <p:nvSpPr>
          <p:cNvPr id="19" name="Text 16"/>
          <p:cNvSpPr txBox="1"/>
          <p:nvPr/>
        </p:nvSpPr>
        <p:spPr>
          <a:xfrm>
            <a:off x="6812280" y="307238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03</a:t>
            </a:r>
            <a:endParaRPr lang="en-US" sz="950" dirty="0"/>
          </a:p>
        </p:txBody>
      </p:sp>
      <p:sp>
        <p:nvSpPr>
          <p:cNvPr id="20" name="Text 17"/>
          <p:cNvSpPr txBox="1"/>
          <p:nvPr/>
        </p:nvSpPr>
        <p:spPr>
          <a:xfrm>
            <a:off x="7315200" y="304495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INCERTIDUMBRE</a:t>
            </a:r>
            <a:endParaRPr lang="en-US" sz="1150" dirty="0"/>
          </a:p>
        </p:txBody>
      </p:sp>
      <p:sp>
        <p:nvSpPr>
          <p:cNvPr id="21" name="Shape 18"/>
          <p:cNvSpPr/>
          <p:nvPr/>
        </p:nvSpPr>
        <p:spPr>
          <a:xfrm>
            <a:off x="7315200" y="3392424"/>
            <a:ext cx="1719072" cy="0"/>
          </a:xfrm>
          <a:prstGeom prst="line">
            <a:avLst/>
          </a:prstGeom>
          <a:noFill/>
          <a:ln w="10160">
            <a:solidFill>
              <a:srgbClr val="FFFFFF">
                <a:alpha val="45000"/>
              </a:srgbClr>
            </a:solidFill>
            <a:prstDash val="solid"/>
          </a:ln>
        </p:spPr>
      </p:sp>
      <p:sp>
        <p:nvSpPr>
          <p:cNvPr id="22" name="Text 19"/>
          <p:cNvSpPr txBox="1"/>
          <p:nvPr/>
        </p:nvSpPr>
        <p:spPr>
          <a:xfrm>
            <a:off x="6812280" y="403250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04</a:t>
            </a:r>
            <a:endParaRPr lang="en-US" sz="950" dirty="0"/>
          </a:p>
        </p:txBody>
      </p:sp>
      <p:sp>
        <p:nvSpPr>
          <p:cNvPr id="23" name="Text 20"/>
          <p:cNvSpPr txBox="1"/>
          <p:nvPr/>
        </p:nvSpPr>
        <p:spPr>
          <a:xfrm>
            <a:off x="7315200" y="400507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EVIDENCIA</a:t>
            </a:r>
            <a:endParaRPr lang="en-US" sz="1150" dirty="0"/>
          </a:p>
        </p:txBody>
      </p:sp>
      <p:sp>
        <p:nvSpPr>
          <p:cNvPr id="24" name="Shape 21"/>
          <p:cNvSpPr/>
          <p:nvPr/>
        </p:nvSpPr>
        <p:spPr>
          <a:xfrm>
            <a:off x="7315200" y="4352544"/>
            <a:ext cx="1719072" cy="0"/>
          </a:xfrm>
          <a:prstGeom prst="line">
            <a:avLst/>
          </a:prstGeom>
          <a:noFill/>
          <a:ln w="10160">
            <a:solidFill>
              <a:srgbClr val="FFFFFF">
                <a:alpha val="45000"/>
              </a:srgbClr>
            </a:solidFill>
            <a:prstDash val="solid"/>
          </a:ln>
        </p:spPr>
      </p:sp>
      <p:sp>
        <p:nvSpPr>
          <p:cNvPr id="25" name="Text 22"/>
          <p:cNvSpPr txBox="1"/>
          <p:nvPr/>
        </p:nvSpPr>
        <p:spPr>
          <a:xfrm>
            <a:off x="9144000" y="115214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05</a:t>
            </a:r>
            <a:endParaRPr lang="en-US" sz="950" dirty="0"/>
          </a:p>
        </p:txBody>
      </p:sp>
      <p:sp>
        <p:nvSpPr>
          <p:cNvPr id="26" name="Text 23"/>
          <p:cNvSpPr txBox="1"/>
          <p:nvPr/>
        </p:nvSpPr>
        <p:spPr>
          <a:xfrm>
            <a:off x="9646920" y="112471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ACTORES</a:t>
            </a:r>
            <a:endParaRPr lang="en-US" sz="1150" dirty="0"/>
          </a:p>
        </p:txBody>
      </p:sp>
      <p:sp>
        <p:nvSpPr>
          <p:cNvPr id="27" name="Shape 24"/>
          <p:cNvSpPr/>
          <p:nvPr/>
        </p:nvSpPr>
        <p:spPr>
          <a:xfrm>
            <a:off x="9646920" y="1472184"/>
            <a:ext cx="1719072" cy="0"/>
          </a:xfrm>
          <a:prstGeom prst="line">
            <a:avLst/>
          </a:prstGeom>
          <a:noFill/>
          <a:ln w="10160">
            <a:solidFill>
              <a:srgbClr val="FFFFFF">
                <a:alpha val="45000"/>
              </a:srgbClr>
            </a:solidFill>
            <a:prstDash val="solid"/>
          </a:ln>
        </p:spPr>
      </p:sp>
      <p:sp>
        <p:nvSpPr>
          <p:cNvPr id="28" name="Text 25"/>
          <p:cNvSpPr txBox="1"/>
          <p:nvPr/>
        </p:nvSpPr>
        <p:spPr>
          <a:xfrm>
            <a:off x="9144000" y="211226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06</a:t>
            </a:r>
            <a:endParaRPr lang="en-US" sz="950" dirty="0"/>
          </a:p>
        </p:txBody>
      </p:sp>
      <p:sp>
        <p:nvSpPr>
          <p:cNvPr id="29" name="Text 26"/>
          <p:cNvSpPr txBox="1"/>
          <p:nvPr/>
        </p:nvSpPr>
        <p:spPr>
          <a:xfrm>
            <a:off x="9646920" y="208483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AUTORIDAD</a:t>
            </a:r>
            <a:endParaRPr lang="en-US" sz="1150" dirty="0"/>
          </a:p>
        </p:txBody>
      </p:sp>
      <p:sp>
        <p:nvSpPr>
          <p:cNvPr id="30" name="Shape 27"/>
          <p:cNvSpPr/>
          <p:nvPr/>
        </p:nvSpPr>
        <p:spPr>
          <a:xfrm>
            <a:off x="9646920" y="2432304"/>
            <a:ext cx="1719072" cy="0"/>
          </a:xfrm>
          <a:prstGeom prst="line">
            <a:avLst/>
          </a:prstGeom>
          <a:noFill/>
          <a:ln w="10160">
            <a:solidFill>
              <a:srgbClr val="FFFFFF">
                <a:alpha val="45000"/>
              </a:srgbClr>
            </a:solidFill>
            <a:prstDash val="solid"/>
          </a:ln>
        </p:spPr>
      </p:sp>
      <p:sp>
        <p:nvSpPr>
          <p:cNvPr id="31" name="Text 28"/>
          <p:cNvSpPr txBox="1"/>
          <p:nvPr/>
        </p:nvSpPr>
        <p:spPr>
          <a:xfrm>
            <a:off x="9144000" y="3072384"/>
            <a:ext cx="320040"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07</a:t>
            </a:r>
            <a:endParaRPr lang="en-US" sz="950" dirty="0"/>
          </a:p>
        </p:txBody>
      </p:sp>
      <p:sp>
        <p:nvSpPr>
          <p:cNvPr id="32" name="Text 29"/>
          <p:cNvSpPr txBox="1"/>
          <p:nvPr/>
        </p:nvSpPr>
        <p:spPr>
          <a:xfrm>
            <a:off x="9646920" y="3044952"/>
            <a:ext cx="1828800" cy="219456"/>
          </a:xfrm>
          <a:prstGeom prst="rect">
            <a:avLst/>
          </a:prstGeom>
          <a:noFill/>
          <a:ln/>
        </p:spPr>
        <p:txBody>
          <a:bodyPr wrap="square" lIns="0" tIns="0" rIns="0" bIns="0" rtlCol="0" anchor="t">
            <a:normAutofit/>
          </a:bodyPr>
          <a:lstStyle/>
          <a:p>
            <a:pPr algn="l" indent="0" marL="0">
              <a:buNone/>
            </a:pPr>
            <a:r>
              <a:rPr lang="en-US" sz="1150" b="1" spc="100" kern="0" dirty="0">
                <a:solidFill>
                  <a:srgbClr val="FFFFFF"/>
                </a:solidFill>
                <a:latin typeface="Avenir" pitchFamily="34" charset="0"/>
                <a:ea typeface="Avenir" pitchFamily="34" charset="-122"/>
                <a:cs typeface="Avenir" pitchFamily="34" charset="-120"/>
              </a:rPr>
              <a:t>PRÓXIMA DECISIÓN</a:t>
            </a:r>
            <a:endParaRPr lang="en-US" sz="1150" dirty="0"/>
          </a:p>
        </p:txBody>
      </p:sp>
      <p:sp>
        <p:nvSpPr>
          <p:cNvPr id="33" name="Shape 30"/>
          <p:cNvSpPr/>
          <p:nvPr/>
        </p:nvSpPr>
        <p:spPr>
          <a:xfrm>
            <a:off x="9646920" y="3392424"/>
            <a:ext cx="1719072" cy="0"/>
          </a:xfrm>
          <a:prstGeom prst="line">
            <a:avLst/>
          </a:prstGeom>
          <a:noFill/>
          <a:ln w="10160">
            <a:solidFill>
              <a:srgbClr val="FFFFFF">
                <a:alpha val="45000"/>
              </a:srgbClr>
            </a:solidFill>
            <a:prstDash val="solid"/>
          </a:ln>
        </p:spPr>
      </p:sp>
      <p:sp>
        <p:nvSpPr>
          <p:cNvPr id="34" name="Text 31"/>
          <p:cNvSpPr txBox="1"/>
          <p:nvPr/>
        </p:nvSpPr>
        <p:spPr>
          <a:xfrm>
            <a:off x="658368" y="4892040"/>
            <a:ext cx="5577840" cy="731520"/>
          </a:xfrm>
          <a:prstGeom prst="rect">
            <a:avLst/>
          </a:prstGeom>
          <a:noFill/>
          <a:ln/>
        </p:spPr>
        <p:txBody>
          <a:bodyPr wrap="square" lIns="0" tIns="0" rIns="0" bIns="0" rtlCol="0" anchor="t">
            <a:normAutofit/>
          </a:bodyPr>
          <a:lstStyle/>
          <a:p>
            <a:pPr algn="l" indent="0" marL="0">
              <a:buNone/>
            </a:pPr>
            <a:r>
              <a:rPr lang="en-US" sz="1800" dirty="0">
                <a:solidFill>
                  <a:srgbClr val="D9DBD8"/>
                </a:solidFill>
                <a:latin typeface="Avenir" pitchFamily="34" charset="0"/>
                <a:ea typeface="Avenir" pitchFamily="34" charset="-122"/>
                <a:cs typeface="Avenir" pitchFamily="34" charset="-120"/>
              </a:rPr>
              <a:t>Producto: una segunda versión de HH-01 que otra persona pueda objetar y revisar.</a:t>
            </a:r>
            <a:endParaRPr lang="en-US" sz="1800" dirty="0"/>
          </a:p>
        </p:txBody>
      </p:sp>
      <p:sp>
        <p:nvSpPr>
          <p:cNvPr id="35" name="Text 32"/>
          <p:cNvSpPr txBox="1"/>
          <p:nvPr/>
        </p:nvSpPr>
        <p:spPr>
          <a:xfrm>
            <a:off x="10442448" y="5010912"/>
            <a:ext cx="1097280" cy="256032"/>
          </a:xfrm>
          <a:prstGeom prst="rect">
            <a:avLst/>
          </a:prstGeom>
          <a:noFill/>
          <a:ln/>
        </p:spPr>
        <p:txBody>
          <a:bodyPr wrap="square" lIns="0" tIns="0" rIns="0" bIns="0" rtlCol="0" anchor="t">
            <a:normAutofit/>
          </a:bodyPr>
          <a:lstStyle/>
          <a:p>
            <a:pPr algn="r" indent="0" marL="0">
              <a:buNone/>
            </a:pPr>
            <a:r>
              <a:rPr lang="en-US" sz="1300" b="1" dirty="0">
                <a:solidFill>
                  <a:srgbClr val="CFFF00"/>
                </a:solidFill>
                <a:latin typeface="Avenir" pitchFamily="34" charset="0"/>
                <a:ea typeface="Avenir" pitchFamily="34" charset="-122"/>
                <a:cs typeface="Avenir" pitchFamily="34" charset="-120"/>
              </a:rPr>
              <a:t>23 MIN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817"/>
        </a:solidFill>
      </p:bgPr>
    </p:bg>
    <p:spTree>
      <p:nvGrpSpPr>
        <p:cNvPr id="1" name=""/>
        <p:cNvGrpSpPr/>
        <p:nvPr/>
      </p:nvGrpSpPr>
      <p:grpSpPr>
        <a:xfrm>
          <a:off x="0" y="0"/>
          <a:ext cx="0" cy="0"/>
          <a:chOff x="0" y="0"/>
          <a:chExt cx="0" cy="0"/>
        </a:xfrm>
      </p:grpSpPr>
      <p:pic>
        <p:nvPicPr>
          <p:cNvPr id="3" name="Fondo de video · wires">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60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07</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EVIDENCIA NUEVA</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07</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14400"/>
            <a:ext cx="7772400" cy="585216"/>
          </a:xfrm>
          <a:prstGeom prst="rect">
            <a:avLst/>
          </a:prstGeom>
          <a:noFill/>
          <a:ln/>
        </p:spPr>
        <p:txBody>
          <a:bodyPr wrap="square" lIns="0" tIns="0" rIns="0" bIns="0" rtlCol="0" anchor="t">
            <a:normAutofit/>
          </a:bodyPr>
          <a:lstStyle/>
          <a:p>
            <a:pPr algn="l" indent="0" marL="0">
              <a:buNone/>
            </a:pPr>
            <a:r>
              <a:rPr lang="en-US" sz="3500" dirty="0">
                <a:solidFill>
                  <a:srgbClr val="FFFFFF"/>
                </a:solidFill>
                <a:latin typeface="Didot" pitchFamily="34" charset="0"/>
                <a:ea typeface="Didot" pitchFamily="34" charset="-122"/>
                <a:cs typeface="Didot" pitchFamily="34" charset="-120"/>
              </a:rPr>
              <a:t>La evidencia debe poder incomodar</a:t>
            </a:r>
            <a:endParaRPr lang="en-US" sz="3500" dirty="0"/>
          </a:p>
        </p:txBody>
      </p:sp>
      <p:sp>
        <p:nvSpPr>
          <p:cNvPr id="13" name="Text 10"/>
          <p:cNvSpPr txBox="1"/>
          <p:nvPr/>
        </p:nvSpPr>
        <p:spPr>
          <a:xfrm>
            <a:off x="658368" y="1581912"/>
            <a:ext cx="5577840" cy="292608"/>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Cada equipo recibe dos piezas.</a:t>
            </a:r>
            <a:endParaRPr lang="en-US" sz="1700" dirty="0"/>
          </a:p>
        </p:txBody>
      </p:sp>
      <p:sp>
        <p:nvSpPr>
          <p:cNvPr id="14" name="Text 11"/>
          <p:cNvSpPr txBox="1"/>
          <p:nvPr/>
        </p:nvSpPr>
        <p:spPr>
          <a:xfrm>
            <a:off x="658368" y="2295144"/>
            <a:ext cx="384048"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01</a:t>
            </a:r>
            <a:endParaRPr lang="en-US" sz="950" dirty="0"/>
          </a:p>
        </p:txBody>
      </p:sp>
      <p:sp>
        <p:nvSpPr>
          <p:cNvPr id="15" name="Text 12"/>
          <p:cNvSpPr txBox="1"/>
          <p:nvPr/>
        </p:nvSpPr>
        <p:spPr>
          <a:xfrm>
            <a:off x="1161288" y="2240280"/>
            <a:ext cx="4892040" cy="512064"/>
          </a:xfrm>
          <a:prstGeom prst="rect">
            <a:avLst/>
          </a:prstGeom>
          <a:noFill/>
          <a:ln/>
        </p:spPr>
        <p:txBody>
          <a:bodyPr wrap="square" lIns="0" tIns="0" rIns="0" bIns="0" rtlCol="0" anchor="t">
            <a:normAutofit/>
          </a:bodyPr>
          <a:lstStyle/>
          <a:p>
            <a:pPr algn="l" indent="0" marL="0">
              <a:buNone/>
            </a:pPr>
            <a:r>
              <a:rPr lang="en-US" sz="1720" b="1" dirty="0">
                <a:solidFill>
                  <a:srgbClr val="FFFFFF"/>
                </a:solidFill>
                <a:latin typeface="Avenir" pitchFamily="34" charset="0"/>
                <a:ea typeface="Avenir" pitchFamily="34" charset="-122"/>
                <a:cs typeface="Avenir" pitchFamily="34" charset="-120"/>
              </a:rPr>
              <a:t>El PMS respondió a tiempo</a:t>
            </a:r>
            <a:endParaRPr lang="en-US" sz="1720" dirty="0"/>
          </a:p>
        </p:txBody>
      </p:sp>
      <p:sp>
        <p:nvSpPr>
          <p:cNvPr id="16" name="Shape 13"/>
          <p:cNvSpPr/>
          <p:nvPr/>
        </p:nvSpPr>
        <p:spPr>
          <a:xfrm>
            <a:off x="1161288" y="2852928"/>
            <a:ext cx="4718304" cy="0"/>
          </a:xfrm>
          <a:prstGeom prst="line">
            <a:avLst/>
          </a:prstGeom>
          <a:noFill/>
          <a:ln w="7620">
            <a:solidFill>
              <a:srgbClr val="FFFFFF">
                <a:alpha val="30000"/>
              </a:srgbClr>
            </a:solidFill>
            <a:prstDash val="solid"/>
          </a:ln>
        </p:spPr>
      </p:sp>
      <p:sp>
        <p:nvSpPr>
          <p:cNvPr id="17" name="Text 14"/>
          <p:cNvSpPr txBox="1"/>
          <p:nvPr/>
        </p:nvSpPr>
        <p:spPr>
          <a:xfrm>
            <a:off x="6281928" y="2295144"/>
            <a:ext cx="384048"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02</a:t>
            </a:r>
            <a:endParaRPr lang="en-US" sz="950" dirty="0"/>
          </a:p>
        </p:txBody>
      </p:sp>
      <p:sp>
        <p:nvSpPr>
          <p:cNvPr id="18" name="Text 15"/>
          <p:cNvSpPr txBox="1"/>
          <p:nvPr/>
        </p:nvSpPr>
        <p:spPr>
          <a:xfrm>
            <a:off x="6784848" y="2240280"/>
            <a:ext cx="4892040" cy="512064"/>
          </a:xfrm>
          <a:prstGeom prst="rect">
            <a:avLst/>
          </a:prstGeom>
          <a:noFill/>
          <a:ln/>
        </p:spPr>
        <p:txBody>
          <a:bodyPr wrap="square" lIns="0" tIns="0" rIns="0" bIns="0" rtlCol="0" anchor="t">
            <a:normAutofit/>
          </a:bodyPr>
          <a:lstStyle/>
          <a:p>
            <a:pPr algn="l" indent="0" marL="0">
              <a:buNone/>
            </a:pPr>
            <a:r>
              <a:rPr lang="en-US" sz="1720" b="1" dirty="0">
                <a:solidFill>
                  <a:srgbClr val="FFFFFF"/>
                </a:solidFill>
                <a:latin typeface="Avenir" pitchFamily="34" charset="0"/>
                <a:ea typeface="Avenir" pitchFamily="34" charset="-122"/>
                <a:cs typeface="Avenir" pitchFamily="34" charset="-120"/>
              </a:rPr>
              <a:t>Recepción no pudo asignar la habitación</a:t>
            </a:r>
            <a:endParaRPr lang="en-US" sz="1720" dirty="0"/>
          </a:p>
        </p:txBody>
      </p:sp>
      <p:sp>
        <p:nvSpPr>
          <p:cNvPr id="19" name="Shape 16"/>
          <p:cNvSpPr/>
          <p:nvPr/>
        </p:nvSpPr>
        <p:spPr>
          <a:xfrm>
            <a:off x="6784848" y="2852928"/>
            <a:ext cx="4718304" cy="0"/>
          </a:xfrm>
          <a:prstGeom prst="line">
            <a:avLst/>
          </a:prstGeom>
          <a:noFill/>
          <a:ln w="7620">
            <a:solidFill>
              <a:srgbClr val="FFFFFF">
                <a:alpha val="30000"/>
              </a:srgbClr>
            </a:solidFill>
            <a:prstDash val="solid"/>
          </a:ln>
        </p:spPr>
      </p:sp>
      <p:sp>
        <p:nvSpPr>
          <p:cNvPr id="20" name="Text 17"/>
          <p:cNvSpPr txBox="1"/>
          <p:nvPr/>
        </p:nvSpPr>
        <p:spPr>
          <a:xfrm>
            <a:off x="658368" y="3255264"/>
            <a:ext cx="384048"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03</a:t>
            </a:r>
            <a:endParaRPr lang="en-US" sz="950" dirty="0"/>
          </a:p>
        </p:txBody>
      </p:sp>
      <p:sp>
        <p:nvSpPr>
          <p:cNvPr id="21" name="Text 18"/>
          <p:cNvSpPr txBox="1"/>
          <p:nvPr/>
        </p:nvSpPr>
        <p:spPr>
          <a:xfrm>
            <a:off x="1161288" y="3200400"/>
            <a:ext cx="4892040" cy="512064"/>
          </a:xfrm>
          <a:prstGeom prst="rect">
            <a:avLst/>
          </a:prstGeom>
          <a:noFill/>
          <a:ln/>
        </p:spPr>
        <p:txBody>
          <a:bodyPr wrap="square" lIns="0" tIns="0" rIns="0" bIns="0" rtlCol="0" anchor="t">
            <a:normAutofit/>
          </a:bodyPr>
          <a:lstStyle/>
          <a:p>
            <a:pPr algn="l" indent="0" marL="0">
              <a:buNone/>
            </a:pPr>
            <a:r>
              <a:rPr lang="en-US" sz="1720" b="1" dirty="0">
                <a:solidFill>
                  <a:srgbClr val="FFFFFF"/>
                </a:solidFill>
                <a:latin typeface="Avenir" pitchFamily="34" charset="0"/>
                <a:ea typeface="Avenir" pitchFamily="34" charset="-122"/>
                <a:cs typeface="Avenir" pitchFamily="34" charset="-120"/>
              </a:rPr>
              <a:t>Comercial publicó una condición no validada</a:t>
            </a:r>
            <a:endParaRPr lang="en-US" sz="1720" dirty="0"/>
          </a:p>
        </p:txBody>
      </p:sp>
      <p:sp>
        <p:nvSpPr>
          <p:cNvPr id="22" name="Shape 19"/>
          <p:cNvSpPr/>
          <p:nvPr/>
        </p:nvSpPr>
        <p:spPr>
          <a:xfrm>
            <a:off x="1161288" y="3813048"/>
            <a:ext cx="4718304" cy="0"/>
          </a:xfrm>
          <a:prstGeom prst="line">
            <a:avLst/>
          </a:prstGeom>
          <a:noFill/>
          <a:ln w="7620">
            <a:solidFill>
              <a:srgbClr val="FFFFFF">
                <a:alpha val="30000"/>
              </a:srgbClr>
            </a:solidFill>
            <a:prstDash val="solid"/>
          </a:ln>
        </p:spPr>
      </p:sp>
      <p:sp>
        <p:nvSpPr>
          <p:cNvPr id="23" name="Text 20"/>
          <p:cNvSpPr txBox="1"/>
          <p:nvPr/>
        </p:nvSpPr>
        <p:spPr>
          <a:xfrm>
            <a:off x="6281928" y="3255264"/>
            <a:ext cx="384048"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04</a:t>
            </a:r>
            <a:endParaRPr lang="en-US" sz="950" dirty="0"/>
          </a:p>
        </p:txBody>
      </p:sp>
      <p:sp>
        <p:nvSpPr>
          <p:cNvPr id="24" name="Text 21"/>
          <p:cNvSpPr txBox="1"/>
          <p:nvPr/>
        </p:nvSpPr>
        <p:spPr>
          <a:xfrm>
            <a:off x="6784848" y="3200400"/>
            <a:ext cx="4892040" cy="512064"/>
          </a:xfrm>
          <a:prstGeom prst="rect">
            <a:avLst/>
          </a:prstGeom>
          <a:noFill/>
          <a:ln/>
        </p:spPr>
        <p:txBody>
          <a:bodyPr wrap="square" lIns="0" tIns="0" rIns="0" bIns="0" rtlCol="0" anchor="t">
            <a:normAutofit/>
          </a:bodyPr>
          <a:lstStyle/>
          <a:p>
            <a:pPr algn="l" indent="0" marL="0">
              <a:buNone/>
            </a:pPr>
            <a:r>
              <a:rPr lang="en-US" sz="1720" b="1" dirty="0">
                <a:solidFill>
                  <a:srgbClr val="FFFFFF"/>
                </a:solidFill>
                <a:latin typeface="Avenir" pitchFamily="34" charset="0"/>
                <a:ea typeface="Avenir" pitchFamily="34" charset="-122"/>
                <a:cs typeface="Avenir" pitchFamily="34" charset="-120"/>
              </a:rPr>
              <a:t>Una persona abandonó por accesibilidad</a:t>
            </a:r>
            <a:endParaRPr lang="en-US" sz="1720" dirty="0"/>
          </a:p>
        </p:txBody>
      </p:sp>
      <p:sp>
        <p:nvSpPr>
          <p:cNvPr id="25" name="Shape 22"/>
          <p:cNvSpPr/>
          <p:nvPr/>
        </p:nvSpPr>
        <p:spPr>
          <a:xfrm>
            <a:off x="6784848" y="3813048"/>
            <a:ext cx="4718304" cy="0"/>
          </a:xfrm>
          <a:prstGeom prst="line">
            <a:avLst/>
          </a:prstGeom>
          <a:noFill/>
          <a:ln w="7620">
            <a:solidFill>
              <a:srgbClr val="FFFFFF">
                <a:alpha val="30000"/>
              </a:srgbClr>
            </a:solidFill>
            <a:prstDash val="solid"/>
          </a:ln>
        </p:spPr>
      </p:sp>
      <p:sp>
        <p:nvSpPr>
          <p:cNvPr id="26" name="Text 23"/>
          <p:cNvSpPr txBox="1"/>
          <p:nvPr/>
        </p:nvSpPr>
        <p:spPr>
          <a:xfrm>
            <a:off x="658368" y="4215384"/>
            <a:ext cx="384048"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05</a:t>
            </a:r>
            <a:endParaRPr lang="en-US" sz="950" dirty="0"/>
          </a:p>
        </p:txBody>
      </p:sp>
      <p:sp>
        <p:nvSpPr>
          <p:cNvPr id="27" name="Text 24"/>
          <p:cNvSpPr txBox="1"/>
          <p:nvPr/>
        </p:nvSpPr>
        <p:spPr>
          <a:xfrm>
            <a:off x="1161288" y="4160520"/>
            <a:ext cx="4892040" cy="512064"/>
          </a:xfrm>
          <a:prstGeom prst="rect">
            <a:avLst/>
          </a:prstGeom>
          <a:noFill/>
          <a:ln/>
        </p:spPr>
        <p:txBody>
          <a:bodyPr wrap="square" lIns="0" tIns="0" rIns="0" bIns="0" rtlCol="0" anchor="t">
            <a:normAutofit/>
          </a:bodyPr>
          <a:lstStyle/>
          <a:p>
            <a:pPr algn="l" indent="0" marL="0">
              <a:buNone/>
            </a:pPr>
            <a:r>
              <a:rPr lang="en-US" sz="1720" b="1" dirty="0">
                <a:solidFill>
                  <a:srgbClr val="FFFFFF"/>
                </a:solidFill>
                <a:latin typeface="Avenir" pitchFamily="34" charset="0"/>
                <a:ea typeface="Avenir" pitchFamily="34" charset="-122"/>
                <a:cs typeface="Avenir" pitchFamily="34" charset="-120"/>
              </a:rPr>
              <a:t>El chatbot canceló sin confirmar identidad</a:t>
            </a:r>
            <a:endParaRPr lang="en-US" sz="1720" dirty="0"/>
          </a:p>
        </p:txBody>
      </p:sp>
      <p:sp>
        <p:nvSpPr>
          <p:cNvPr id="28" name="Shape 25"/>
          <p:cNvSpPr/>
          <p:nvPr/>
        </p:nvSpPr>
        <p:spPr>
          <a:xfrm>
            <a:off x="1161288" y="4773168"/>
            <a:ext cx="4718304" cy="0"/>
          </a:xfrm>
          <a:prstGeom prst="line">
            <a:avLst/>
          </a:prstGeom>
          <a:noFill/>
          <a:ln w="7620">
            <a:solidFill>
              <a:srgbClr val="FFFFFF">
                <a:alpha val="30000"/>
              </a:srgbClr>
            </a:solidFill>
            <a:prstDash val="solid"/>
          </a:ln>
        </p:spPr>
      </p:sp>
      <p:sp>
        <p:nvSpPr>
          <p:cNvPr id="29" name="Text 26"/>
          <p:cNvSpPr txBox="1"/>
          <p:nvPr/>
        </p:nvSpPr>
        <p:spPr>
          <a:xfrm>
            <a:off x="6281928" y="4215384"/>
            <a:ext cx="384048" cy="164592"/>
          </a:xfrm>
          <a:prstGeom prst="rect">
            <a:avLst/>
          </a:prstGeom>
          <a:noFill/>
          <a:ln/>
        </p:spPr>
        <p:txBody>
          <a:bodyPr wrap="square" lIns="0" tIns="0" rIns="0" bIns="0" rtlCol="0" anchor="t">
            <a:normAutofit/>
          </a:bodyPr>
          <a:lstStyle/>
          <a:p>
            <a:pPr algn="l" indent="0" marL="0">
              <a:buNone/>
            </a:pPr>
            <a:r>
              <a:rPr lang="en-US" sz="950" b="1" dirty="0">
                <a:solidFill>
                  <a:srgbClr val="CFFF00"/>
                </a:solidFill>
                <a:latin typeface="Avenir" pitchFamily="34" charset="0"/>
                <a:ea typeface="Avenir" pitchFamily="34" charset="-122"/>
                <a:cs typeface="Avenir" pitchFamily="34" charset="-120"/>
              </a:rPr>
              <a:t>06</a:t>
            </a:r>
            <a:endParaRPr lang="en-US" sz="950" dirty="0"/>
          </a:p>
        </p:txBody>
      </p:sp>
      <p:sp>
        <p:nvSpPr>
          <p:cNvPr id="30" name="Text 27"/>
          <p:cNvSpPr txBox="1"/>
          <p:nvPr/>
        </p:nvSpPr>
        <p:spPr>
          <a:xfrm>
            <a:off x="6784848" y="4160520"/>
            <a:ext cx="4892040" cy="512064"/>
          </a:xfrm>
          <a:prstGeom prst="rect">
            <a:avLst/>
          </a:prstGeom>
          <a:noFill/>
          <a:ln/>
        </p:spPr>
        <p:txBody>
          <a:bodyPr wrap="square" lIns="0" tIns="0" rIns="0" bIns="0" rtlCol="0" anchor="t">
            <a:normAutofit/>
          </a:bodyPr>
          <a:lstStyle/>
          <a:p>
            <a:pPr algn="l" indent="0" marL="0">
              <a:buNone/>
            </a:pPr>
            <a:r>
              <a:rPr lang="en-US" sz="1720" b="1" dirty="0">
                <a:solidFill>
                  <a:srgbClr val="FFFFFF"/>
                </a:solidFill>
                <a:latin typeface="Avenir" pitchFamily="34" charset="0"/>
                <a:ea typeface="Avenir" pitchFamily="34" charset="-122"/>
                <a:cs typeface="Avenir" pitchFamily="34" charset="-120"/>
              </a:rPr>
              <a:t>La sobreventa aparece sólo en un canal externo</a:t>
            </a:r>
            <a:endParaRPr lang="en-US" sz="1720" dirty="0"/>
          </a:p>
        </p:txBody>
      </p:sp>
      <p:sp>
        <p:nvSpPr>
          <p:cNvPr id="31" name="Shape 28"/>
          <p:cNvSpPr/>
          <p:nvPr/>
        </p:nvSpPr>
        <p:spPr>
          <a:xfrm>
            <a:off x="6784848" y="4773168"/>
            <a:ext cx="4718304" cy="0"/>
          </a:xfrm>
          <a:prstGeom prst="line">
            <a:avLst/>
          </a:prstGeom>
          <a:noFill/>
          <a:ln w="7620">
            <a:solidFill>
              <a:srgbClr val="FFFFFF">
                <a:alpha val="30000"/>
              </a:srgbClr>
            </a:solidFill>
            <a:prstDash val="solid"/>
          </a:ln>
        </p:spPr>
      </p:sp>
      <p:sp>
        <p:nvSpPr>
          <p:cNvPr id="32" name="Text 29"/>
          <p:cNvSpPr txBox="1"/>
          <p:nvPr/>
        </p:nvSpPr>
        <p:spPr>
          <a:xfrm>
            <a:off x="658368" y="5504688"/>
            <a:ext cx="9966960" cy="347472"/>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Registrar: qué cambia · qué se mantiene · qué acción queda autorizada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817"/>
        </a:solidFill>
      </p:bgPr>
    </p:bg>
    <p:spTree>
      <p:nvGrpSpPr>
        <p:cNvPr id="1" name=""/>
        <p:cNvGrpSpPr/>
        <p:nvPr/>
      </p:nvGrpSpPr>
      <p:grpSpPr>
        <a:xfrm>
          <a:off x="0" y="0"/>
          <a:ext cx="0" cy="0"/>
          <a:chOff x="0" y="0"/>
          <a:chExt cx="0" cy="0"/>
        </a:xfrm>
      </p:grpSpPr>
      <p:pic>
        <p:nvPicPr>
          <p:cNvPr id="3" name="Fondo de video · lights">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60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08</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REVISIÓN CRUZADA</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08</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60120"/>
            <a:ext cx="7955280" cy="566928"/>
          </a:xfrm>
          <a:prstGeom prst="rect">
            <a:avLst/>
          </a:prstGeom>
          <a:noFill/>
          <a:ln/>
        </p:spPr>
        <p:txBody>
          <a:bodyPr wrap="square" lIns="0" tIns="0" rIns="0" bIns="0" rtlCol="0" anchor="t">
            <a:normAutofit/>
          </a:bodyPr>
          <a:lstStyle/>
          <a:p>
            <a:pPr algn="l" indent="0" marL="0">
              <a:buNone/>
            </a:pPr>
            <a:r>
              <a:rPr lang="en-US" sz="3500" dirty="0">
                <a:solidFill>
                  <a:srgbClr val="FFFFFF"/>
                </a:solidFill>
                <a:latin typeface="Didot" pitchFamily="34" charset="0"/>
                <a:ea typeface="Didot" pitchFamily="34" charset="-122"/>
                <a:cs typeface="Didot" pitchFamily="34" charset="-120"/>
              </a:rPr>
              <a:t>Objetar no es resolver por otro</a:t>
            </a:r>
            <a:endParaRPr lang="en-US" sz="3500" dirty="0"/>
          </a:p>
        </p:txBody>
      </p:sp>
      <p:sp>
        <p:nvSpPr>
          <p:cNvPr id="13" name="Text 10"/>
          <p:cNvSpPr txBox="1"/>
          <p:nvPr/>
        </p:nvSpPr>
        <p:spPr>
          <a:xfrm>
            <a:off x="658368" y="2148840"/>
            <a:ext cx="365760"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01</a:t>
            </a:r>
            <a:endParaRPr lang="en-US" sz="1000" dirty="0"/>
          </a:p>
        </p:txBody>
      </p:sp>
      <p:sp>
        <p:nvSpPr>
          <p:cNvPr id="14" name="Text 11"/>
          <p:cNvSpPr txBox="1"/>
          <p:nvPr/>
        </p:nvSpPr>
        <p:spPr>
          <a:xfrm>
            <a:off x="658368" y="2578608"/>
            <a:ext cx="3154680" cy="402336"/>
          </a:xfrm>
          <a:prstGeom prst="rect">
            <a:avLst/>
          </a:prstGeom>
          <a:noFill/>
          <a:ln/>
        </p:spPr>
        <p:txBody>
          <a:bodyPr wrap="square" lIns="0" tIns="0" rIns="0" bIns="0" rtlCol="0" anchor="t">
            <a:normAutofit/>
          </a:bodyPr>
          <a:lstStyle/>
          <a:p>
            <a:pPr algn="l" indent="0" marL="0">
              <a:buNone/>
            </a:pPr>
            <a:r>
              <a:rPr lang="en-US" sz="2800" dirty="0">
                <a:solidFill>
                  <a:srgbClr val="FFFFFF"/>
                </a:solidFill>
                <a:latin typeface="Didot" pitchFamily="34" charset="0"/>
                <a:ea typeface="Didot" pitchFamily="34" charset="-122"/>
                <a:cs typeface="Didot" pitchFamily="34" charset="-120"/>
              </a:rPr>
              <a:t>CITAR</a:t>
            </a:r>
            <a:endParaRPr lang="en-US" sz="2800" dirty="0"/>
          </a:p>
        </p:txBody>
      </p:sp>
      <p:sp>
        <p:nvSpPr>
          <p:cNvPr id="15" name="Shape 12"/>
          <p:cNvSpPr/>
          <p:nvPr/>
        </p:nvSpPr>
        <p:spPr>
          <a:xfrm>
            <a:off x="658368" y="3182112"/>
            <a:ext cx="640080" cy="0"/>
          </a:xfrm>
          <a:prstGeom prst="line">
            <a:avLst/>
          </a:prstGeom>
          <a:noFill/>
          <a:ln w="38100">
            <a:solidFill>
              <a:srgbClr val="CFFF00"/>
            </a:solidFill>
            <a:prstDash val="solid"/>
          </a:ln>
        </p:spPr>
      </p:sp>
      <p:sp>
        <p:nvSpPr>
          <p:cNvPr id="16" name="Text 13"/>
          <p:cNvSpPr txBox="1"/>
          <p:nvPr/>
        </p:nvSpPr>
        <p:spPr>
          <a:xfrm>
            <a:off x="658368" y="3493008"/>
            <a:ext cx="3063240" cy="585216"/>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el campo cuestionado</a:t>
            </a:r>
            <a:endParaRPr lang="en-US" sz="1700" dirty="0"/>
          </a:p>
        </p:txBody>
      </p:sp>
      <p:sp>
        <p:nvSpPr>
          <p:cNvPr id="17" name="Text 14"/>
          <p:cNvSpPr txBox="1"/>
          <p:nvPr/>
        </p:nvSpPr>
        <p:spPr>
          <a:xfrm>
            <a:off x="4462272" y="2148840"/>
            <a:ext cx="365760"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02</a:t>
            </a:r>
            <a:endParaRPr lang="en-US" sz="1000" dirty="0"/>
          </a:p>
        </p:txBody>
      </p:sp>
      <p:sp>
        <p:nvSpPr>
          <p:cNvPr id="18" name="Text 15"/>
          <p:cNvSpPr txBox="1"/>
          <p:nvPr/>
        </p:nvSpPr>
        <p:spPr>
          <a:xfrm>
            <a:off x="4462272" y="2578608"/>
            <a:ext cx="3154680" cy="402336"/>
          </a:xfrm>
          <a:prstGeom prst="rect">
            <a:avLst/>
          </a:prstGeom>
          <a:noFill/>
          <a:ln/>
        </p:spPr>
        <p:txBody>
          <a:bodyPr wrap="square" lIns="0" tIns="0" rIns="0" bIns="0" rtlCol="0" anchor="t">
            <a:normAutofit/>
          </a:bodyPr>
          <a:lstStyle/>
          <a:p>
            <a:pPr algn="l" indent="0" marL="0">
              <a:buNone/>
            </a:pPr>
            <a:r>
              <a:rPr lang="en-US" sz="2800" dirty="0">
                <a:solidFill>
                  <a:srgbClr val="FFFFFF"/>
                </a:solidFill>
                <a:latin typeface="Didot" pitchFamily="34" charset="0"/>
                <a:ea typeface="Didot" pitchFamily="34" charset="-122"/>
                <a:cs typeface="Didot" pitchFamily="34" charset="-120"/>
              </a:rPr>
              <a:t>MOSTRAR</a:t>
            </a:r>
            <a:endParaRPr lang="en-US" sz="2800" dirty="0"/>
          </a:p>
        </p:txBody>
      </p:sp>
      <p:sp>
        <p:nvSpPr>
          <p:cNvPr id="19" name="Shape 16"/>
          <p:cNvSpPr/>
          <p:nvPr/>
        </p:nvSpPr>
        <p:spPr>
          <a:xfrm>
            <a:off x="4462272" y="3182112"/>
            <a:ext cx="640080" cy="0"/>
          </a:xfrm>
          <a:prstGeom prst="line">
            <a:avLst/>
          </a:prstGeom>
          <a:noFill/>
          <a:ln w="38100">
            <a:solidFill>
              <a:srgbClr val="CFFF00"/>
            </a:solidFill>
            <a:prstDash val="solid"/>
          </a:ln>
        </p:spPr>
      </p:sp>
      <p:sp>
        <p:nvSpPr>
          <p:cNvPr id="20" name="Text 17"/>
          <p:cNvSpPr txBox="1"/>
          <p:nvPr/>
        </p:nvSpPr>
        <p:spPr>
          <a:xfrm>
            <a:off x="4462272" y="3493008"/>
            <a:ext cx="3063240" cy="585216"/>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la relación que no se sostiene</a:t>
            </a:r>
            <a:endParaRPr lang="en-US" sz="1700" dirty="0"/>
          </a:p>
        </p:txBody>
      </p:sp>
      <p:sp>
        <p:nvSpPr>
          <p:cNvPr id="21" name="Text 18"/>
          <p:cNvSpPr txBox="1"/>
          <p:nvPr/>
        </p:nvSpPr>
        <p:spPr>
          <a:xfrm>
            <a:off x="8266176" y="2148840"/>
            <a:ext cx="365760"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03</a:t>
            </a:r>
            <a:endParaRPr lang="en-US" sz="1000" dirty="0"/>
          </a:p>
        </p:txBody>
      </p:sp>
      <p:sp>
        <p:nvSpPr>
          <p:cNvPr id="22" name="Text 19"/>
          <p:cNvSpPr txBox="1"/>
          <p:nvPr/>
        </p:nvSpPr>
        <p:spPr>
          <a:xfrm>
            <a:off x="8266176" y="2578608"/>
            <a:ext cx="3154680" cy="402336"/>
          </a:xfrm>
          <a:prstGeom prst="rect">
            <a:avLst/>
          </a:prstGeom>
          <a:noFill/>
          <a:ln/>
        </p:spPr>
        <p:txBody>
          <a:bodyPr wrap="square" lIns="0" tIns="0" rIns="0" bIns="0" rtlCol="0" anchor="t">
            <a:normAutofit/>
          </a:bodyPr>
          <a:lstStyle/>
          <a:p>
            <a:pPr algn="l" indent="0" marL="0">
              <a:buNone/>
            </a:pPr>
            <a:r>
              <a:rPr lang="en-US" sz="2800" dirty="0">
                <a:solidFill>
                  <a:srgbClr val="FFFFFF"/>
                </a:solidFill>
                <a:latin typeface="Didot" pitchFamily="34" charset="0"/>
                <a:ea typeface="Didot" pitchFamily="34" charset="-122"/>
                <a:cs typeface="Didot" pitchFamily="34" charset="-120"/>
              </a:rPr>
              <a:t>PROPONER</a:t>
            </a:r>
            <a:endParaRPr lang="en-US" sz="2800" dirty="0"/>
          </a:p>
        </p:txBody>
      </p:sp>
      <p:sp>
        <p:nvSpPr>
          <p:cNvPr id="23" name="Shape 20"/>
          <p:cNvSpPr/>
          <p:nvPr/>
        </p:nvSpPr>
        <p:spPr>
          <a:xfrm>
            <a:off x="8266176" y="3182112"/>
            <a:ext cx="640080" cy="0"/>
          </a:xfrm>
          <a:prstGeom prst="line">
            <a:avLst/>
          </a:prstGeom>
          <a:noFill/>
          <a:ln w="38100">
            <a:solidFill>
              <a:srgbClr val="CFFF00"/>
            </a:solidFill>
            <a:prstDash val="solid"/>
          </a:ln>
        </p:spPr>
      </p:sp>
      <p:sp>
        <p:nvSpPr>
          <p:cNvPr id="24" name="Text 21"/>
          <p:cNvSpPr txBox="1"/>
          <p:nvPr/>
        </p:nvSpPr>
        <p:spPr>
          <a:xfrm>
            <a:off x="8266176" y="3493008"/>
            <a:ext cx="3063240" cy="585216"/>
          </a:xfrm>
          <a:prstGeom prst="rect">
            <a:avLst/>
          </a:prstGeom>
          <a:noFill/>
          <a:ln/>
        </p:spPr>
        <p:txBody>
          <a:bodyPr wrap="square" lIns="0" tIns="0" rIns="0" bIns="0" rtlCol="0" anchor="t">
            <a:normAutofit/>
          </a:bodyPr>
          <a:lstStyle/>
          <a:p>
            <a:pPr algn="l" indent="0" marL="0">
              <a:buNone/>
            </a:pPr>
            <a:r>
              <a:rPr lang="en-US" sz="1700" dirty="0">
                <a:solidFill>
                  <a:srgbClr val="D9DBD8"/>
                </a:solidFill>
                <a:latin typeface="Avenir" pitchFamily="34" charset="0"/>
                <a:ea typeface="Avenir" pitchFamily="34" charset="-122"/>
                <a:cs typeface="Avenir" pitchFamily="34" charset="-120"/>
              </a:rPr>
              <a:t>una prueba, no una solución</a:t>
            </a:r>
            <a:endParaRPr lang="en-US" sz="1700" dirty="0"/>
          </a:p>
        </p:txBody>
      </p:sp>
      <p:sp>
        <p:nvSpPr>
          <p:cNvPr id="25" name="Text 22"/>
          <p:cNvSpPr txBox="1"/>
          <p:nvPr/>
        </p:nvSpPr>
        <p:spPr>
          <a:xfrm>
            <a:off x="658368" y="5074920"/>
            <a:ext cx="8595360" cy="384048"/>
          </a:xfrm>
          <a:prstGeom prst="rect">
            <a:avLst/>
          </a:prstGeom>
          <a:noFill/>
          <a:ln/>
        </p:spPr>
        <p:txBody>
          <a:bodyPr wrap="square" lIns="0" tIns="0" rIns="0" bIns="0" rtlCol="0" anchor="t">
            <a:normAutofit/>
          </a:bodyPr>
          <a:lstStyle/>
          <a:p>
            <a:pPr algn="l" indent="0" marL="0">
              <a:buNone/>
            </a:pPr>
            <a:r>
              <a:rPr lang="en-US" sz="1900" b="1" dirty="0">
                <a:solidFill>
                  <a:srgbClr val="FFFFFF"/>
                </a:solidFill>
                <a:latin typeface="Avenir" pitchFamily="34" charset="0"/>
                <a:ea typeface="Avenir" pitchFamily="34" charset="-122"/>
                <a:cs typeface="Avenir" pitchFamily="34" charset="-120"/>
              </a:rPr>
              <a:t>Dos objeciones por memo. Las dos deben poder usarse.</a:t>
            </a:r>
            <a:endParaRPr lang="en-US" sz="1900" dirty="0"/>
          </a:p>
        </p:txBody>
      </p:sp>
      <p:sp>
        <p:nvSpPr>
          <p:cNvPr id="26" name="Text 23"/>
          <p:cNvSpPr txBox="1"/>
          <p:nvPr/>
        </p:nvSpPr>
        <p:spPr>
          <a:xfrm>
            <a:off x="10442448" y="5120640"/>
            <a:ext cx="1097280" cy="256032"/>
          </a:xfrm>
          <a:prstGeom prst="rect">
            <a:avLst/>
          </a:prstGeom>
          <a:noFill/>
          <a:ln/>
        </p:spPr>
        <p:txBody>
          <a:bodyPr wrap="square" lIns="0" tIns="0" rIns="0" bIns="0" rtlCol="0" anchor="t">
            <a:normAutofit/>
          </a:bodyPr>
          <a:lstStyle/>
          <a:p>
            <a:pPr algn="r" indent="0" marL="0">
              <a:buNone/>
            </a:pPr>
            <a:r>
              <a:rPr lang="en-US" sz="1300" b="1" dirty="0">
                <a:solidFill>
                  <a:srgbClr val="CFFF00"/>
                </a:solidFill>
                <a:latin typeface="Avenir" pitchFamily="34" charset="0"/>
                <a:ea typeface="Avenir" pitchFamily="34" charset="-122"/>
                <a:cs typeface="Avenir" pitchFamily="34" charset="-120"/>
              </a:rPr>
              <a:t>18 MIN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817"/>
        </a:solidFill>
      </p:bgPr>
    </p:bg>
    <p:spTree>
      <p:nvGrpSpPr>
        <p:cNvPr id="1" name=""/>
        <p:cNvGrpSpPr/>
        <p:nvPr/>
      </p:nvGrpSpPr>
      <p:grpSpPr>
        <a:xfrm>
          <a:off x="0" y="0"/>
          <a:ext cx="0" cy="0"/>
          <a:chOff x="0" y="0"/>
          <a:chExt cx="0" cy="0"/>
        </a:xfrm>
      </p:grpSpPr>
      <p:pic>
        <p:nvPicPr>
          <p:cNvPr id="3" name="Fondo de video · hotel">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64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09</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DEFENSA</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09</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41832"/>
            <a:ext cx="7772400" cy="603504"/>
          </a:xfrm>
          <a:prstGeom prst="rect">
            <a:avLst/>
          </a:prstGeom>
          <a:noFill/>
          <a:ln/>
        </p:spPr>
        <p:txBody>
          <a:bodyPr wrap="square" lIns="0" tIns="0" rIns="0" bIns="0" rtlCol="0" anchor="t">
            <a:normAutofit/>
          </a:bodyPr>
          <a:lstStyle/>
          <a:p>
            <a:pPr algn="l" indent="0" marL="0">
              <a:buNone/>
            </a:pPr>
            <a:r>
              <a:rPr lang="en-US" sz="3500" dirty="0">
                <a:solidFill>
                  <a:srgbClr val="FFFFFF"/>
                </a:solidFill>
                <a:latin typeface="Didot" pitchFamily="34" charset="0"/>
                <a:ea typeface="Didot" pitchFamily="34" charset="-122"/>
                <a:cs typeface="Didot" pitchFamily="34" charset="-120"/>
              </a:rPr>
              <a:t>Noventa segundos. Cuatro frases.</a:t>
            </a:r>
            <a:endParaRPr lang="en-US" sz="3500" dirty="0"/>
          </a:p>
        </p:txBody>
      </p:sp>
      <p:sp>
        <p:nvSpPr>
          <p:cNvPr id="13" name="Text 10"/>
          <p:cNvSpPr txBox="1"/>
          <p:nvPr/>
        </p:nvSpPr>
        <p:spPr>
          <a:xfrm>
            <a:off x="713232" y="1938528"/>
            <a:ext cx="384048"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01</a:t>
            </a:r>
            <a:endParaRPr lang="en-US" sz="1000" dirty="0"/>
          </a:p>
        </p:txBody>
      </p:sp>
      <p:sp>
        <p:nvSpPr>
          <p:cNvPr id="14" name="Text 11"/>
          <p:cNvSpPr txBox="1"/>
          <p:nvPr/>
        </p:nvSpPr>
        <p:spPr>
          <a:xfrm>
            <a:off x="1417320" y="1874520"/>
            <a:ext cx="8869680" cy="457200"/>
          </a:xfrm>
          <a:prstGeom prst="rect">
            <a:avLst/>
          </a:prstGeom>
          <a:noFill/>
          <a:ln/>
        </p:spPr>
        <p:txBody>
          <a:bodyPr wrap="square" lIns="0" tIns="0" rIns="0" bIns="0" rtlCol="0" anchor="t">
            <a:normAutofit/>
          </a:bodyPr>
          <a:lstStyle/>
          <a:p>
            <a:pPr algn="l" indent="0" marL="0">
              <a:buNone/>
            </a:pPr>
            <a:r>
              <a:rPr lang="en-US" sz="2500" dirty="0">
                <a:solidFill>
                  <a:srgbClr val="FFFFFF"/>
                </a:solidFill>
                <a:latin typeface="Didot" pitchFamily="34" charset="0"/>
                <a:ea typeface="Didot" pitchFamily="34" charset="-122"/>
                <a:cs typeface="Didot" pitchFamily="34" charset="-120"/>
              </a:rPr>
              <a:t>Queremos sostener…</a:t>
            </a:r>
            <a:endParaRPr lang="en-US" sz="2500" dirty="0"/>
          </a:p>
        </p:txBody>
      </p:sp>
      <p:sp>
        <p:nvSpPr>
          <p:cNvPr id="15" name="Shape 12"/>
          <p:cNvSpPr/>
          <p:nvPr/>
        </p:nvSpPr>
        <p:spPr>
          <a:xfrm>
            <a:off x="1417320" y="2423160"/>
            <a:ext cx="8823960" cy="0"/>
          </a:xfrm>
          <a:prstGeom prst="line">
            <a:avLst/>
          </a:prstGeom>
          <a:noFill/>
          <a:ln w="7620">
            <a:solidFill>
              <a:srgbClr val="FFFFFF">
                <a:alpha val="30000"/>
              </a:srgbClr>
            </a:solidFill>
            <a:prstDash val="solid"/>
          </a:ln>
        </p:spPr>
      </p:sp>
      <p:sp>
        <p:nvSpPr>
          <p:cNvPr id="16" name="Text 13"/>
          <p:cNvSpPr txBox="1"/>
          <p:nvPr/>
        </p:nvSpPr>
        <p:spPr>
          <a:xfrm>
            <a:off x="713232" y="2761488"/>
            <a:ext cx="384048"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02</a:t>
            </a:r>
            <a:endParaRPr lang="en-US" sz="1000" dirty="0"/>
          </a:p>
        </p:txBody>
      </p:sp>
      <p:sp>
        <p:nvSpPr>
          <p:cNvPr id="17" name="Text 14"/>
          <p:cNvSpPr txBox="1"/>
          <p:nvPr/>
        </p:nvSpPr>
        <p:spPr>
          <a:xfrm>
            <a:off x="1417320" y="2697480"/>
            <a:ext cx="8869680" cy="457200"/>
          </a:xfrm>
          <a:prstGeom prst="rect">
            <a:avLst/>
          </a:prstGeom>
          <a:noFill/>
          <a:ln/>
        </p:spPr>
        <p:txBody>
          <a:bodyPr wrap="square" lIns="0" tIns="0" rIns="0" bIns="0" rtlCol="0" anchor="t">
            <a:normAutofit/>
          </a:bodyPr>
          <a:lstStyle/>
          <a:p>
            <a:pPr algn="l" indent="0" marL="0">
              <a:buNone/>
            </a:pPr>
            <a:r>
              <a:rPr lang="en-US" sz="2500" dirty="0">
                <a:solidFill>
                  <a:srgbClr val="FFFFFF"/>
                </a:solidFill>
                <a:latin typeface="Didot" pitchFamily="34" charset="0"/>
                <a:ea typeface="Didot" pitchFamily="34" charset="-122"/>
                <a:cs typeface="Didot" pitchFamily="34" charset="-120"/>
              </a:rPr>
              <a:t>La siguiente acción autorizada es…</a:t>
            </a:r>
            <a:endParaRPr lang="en-US" sz="2500" dirty="0"/>
          </a:p>
        </p:txBody>
      </p:sp>
      <p:sp>
        <p:nvSpPr>
          <p:cNvPr id="18" name="Shape 15"/>
          <p:cNvSpPr/>
          <p:nvPr/>
        </p:nvSpPr>
        <p:spPr>
          <a:xfrm>
            <a:off x="1417320" y="3246120"/>
            <a:ext cx="8823960" cy="0"/>
          </a:xfrm>
          <a:prstGeom prst="line">
            <a:avLst/>
          </a:prstGeom>
          <a:noFill/>
          <a:ln w="7620">
            <a:solidFill>
              <a:srgbClr val="FFFFFF">
                <a:alpha val="30000"/>
              </a:srgbClr>
            </a:solidFill>
            <a:prstDash val="solid"/>
          </a:ln>
        </p:spPr>
      </p:sp>
      <p:sp>
        <p:nvSpPr>
          <p:cNvPr id="19" name="Text 16"/>
          <p:cNvSpPr txBox="1"/>
          <p:nvPr/>
        </p:nvSpPr>
        <p:spPr>
          <a:xfrm>
            <a:off x="713232" y="3584448"/>
            <a:ext cx="384048"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03</a:t>
            </a:r>
            <a:endParaRPr lang="en-US" sz="1000" dirty="0"/>
          </a:p>
        </p:txBody>
      </p:sp>
      <p:sp>
        <p:nvSpPr>
          <p:cNvPr id="20" name="Text 17"/>
          <p:cNvSpPr txBox="1"/>
          <p:nvPr/>
        </p:nvSpPr>
        <p:spPr>
          <a:xfrm>
            <a:off x="1417320" y="3520440"/>
            <a:ext cx="8869680" cy="457200"/>
          </a:xfrm>
          <a:prstGeom prst="rect">
            <a:avLst/>
          </a:prstGeom>
          <a:noFill/>
          <a:ln/>
        </p:spPr>
        <p:txBody>
          <a:bodyPr wrap="square" lIns="0" tIns="0" rIns="0" bIns="0" rtlCol="0" anchor="t">
            <a:normAutofit/>
          </a:bodyPr>
          <a:lstStyle/>
          <a:p>
            <a:pPr algn="l" indent="0" marL="0">
              <a:buNone/>
            </a:pPr>
            <a:r>
              <a:rPr lang="en-US" sz="2500" dirty="0">
                <a:solidFill>
                  <a:srgbClr val="FFFFFF"/>
                </a:solidFill>
                <a:latin typeface="Didot" pitchFamily="34" charset="0"/>
                <a:ea typeface="Didot" pitchFamily="34" charset="-122"/>
                <a:cs typeface="Didot" pitchFamily="34" charset="-120"/>
              </a:rPr>
              <a:t>Por ahora no decidimos…</a:t>
            </a:r>
            <a:endParaRPr lang="en-US" sz="2500" dirty="0"/>
          </a:p>
        </p:txBody>
      </p:sp>
      <p:sp>
        <p:nvSpPr>
          <p:cNvPr id="21" name="Shape 18"/>
          <p:cNvSpPr/>
          <p:nvPr/>
        </p:nvSpPr>
        <p:spPr>
          <a:xfrm>
            <a:off x="1417320" y="4069080"/>
            <a:ext cx="8823960" cy="0"/>
          </a:xfrm>
          <a:prstGeom prst="line">
            <a:avLst/>
          </a:prstGeom>
          <a:noFill/>
          <a:ln w="7620">
            <a:solidFill>
              <a:srgbClr val="FFFFFF">
                <a:alpha val="30000"/>
              </a:srgbClr>
            </a:solidFill>
            <a:prstDash val="solid"/>
          </a:ln>
        </p:spPr>
      </p:sp>
      <p:sp>
        <p:nvSpPr>
          <p:cNvPr id="22" name="Text 19"/>
          <p:cNvSpPr txBox="1"/>
          <p:nvPr/>
        </p:nvSpPr>
        <p:spPr>
          <a:xfrm>
            <a:off x="713232" y="4407408"/>
            <a:ext cx="384048" cy="164592"/>
          </a:xfrm>
          <a:prstGeom prst="rect">
            <a:avLst/>
          </a:prstGeom>
          <a:noFill/>
          <a:ln/>
        </p:spPr>
        <p:txBody>
          <a:bodyPr wrap="square" lIns="0" tIns="0" rIns="0" bIns="0" rtlCol="0" anchor="t">
            <a:normAutofit/>
          </a:bodyPr>
          <a:lstStyle/>
          <a:p>
            <a:pPr algn="l" indent="0" marL="0">
              <a:buNone/>
            </a:pPr>
            <a:r>
              <a:rPr lang="en-US" sz="1000" b="1" dirty="0">
                <a:solidFill>
                  <a:srgbClr val="CFFF00"/>
                </a:solidFill>
                <a:latin typeface="Avenir" pitchFamily="34" charset="0"/>
                <a:ea typeface="Avenir" pitchFamily="34" charset="-122"/>
                <a:cs typeface="Avenir" pitchFamily="34" charset="-120"/>
              </a:rPr>
              <a:t>04</a:t>
            </a:r>
            <a:endParaRPr lang="en-US" sz="1000" dirty="0"/>
          </a:p>
        </p:txBody>
      </p:sp>
      <p:sp>
        <p:nvSpPr>
          <p:cNvPr id="23" name="Text 20"/>
          <p:cNvSpPr txBox="1"/>
          <p:nvPr/>
        </p:nvSpPr>
        <p:spPr>
          <a:xfrm>
            <a:off x="1417320" y="4343400"/>
            <a:ext cx="8869680" cy="457200"/>
          </a:xfrm>
          <a:prstGeom prst="rect">
            <a:avLst/>
          </a:prstGeom>
          <a:noFill/>
          <a:ln/>
        </p:spPr>
        <p:txBody>
          <a:bodyPr wrap="square" lIns="0" tIns="0" rIns="0" bIns="0" rtlCol="0" anchor="t">
            <a:normAutofit/>
          </a:bodyPr>
          <a:lstStyle/>
          <a:p>
            <a:pPr algn="l" indent="0" marL="0">
              <a:buNone/>
            </a:pPr>
            <a:r>
              <a:rPr lang="en-US" sz="2500" dirty="0">
                <a:solidFill>
                  <a:srgbClr val="FFFFFF"/>
                </a:solidFill>
                <a:latin typeface="Didot" pitchFamily="34" charset="0"/>
                <a:ea typeface="Didot" pitchFamily="34" charset="-122"/>
                <a:cs typeface="Didot" pitchFamily="34" charset="-120"/>
              </a:rPr>
              <a:t>Revisaríamos el encuadre si…</a:t>
            </a:r>
            <a:endParaRPr lang="en-US" sz="2500" dirty="0"/>
          </a:p>
        </p:txBody>
      </p:sp>
      <p:sp>
        <p:nvSpPr>
          <p:cNvPr id="24" name="Shape 21"/>
          <p:cNvSpPr/>
          <p:nvPr/>
        </p:nvSpPr>
        <p:spPr>
          <a:xfrm>
            <a:off x="1417320" y="4892040"/>
            <a:ext cx="8823960" cy="0"/>
          </a:xfrm>
          <a:prstGeom prst="line">
            <a:avLst/>
          </a:prstGeom>
          <a:noFill/>
          <a:ln w="7620">
            <a:solidFill>
              <a:srgbClr val="FFFFFF">
                <a:alpha val="30000"/>
              </a:srgbClr>
            </a:solidFill>
            <a:prstDash val="solid"/>
          </a:ln>
        </p:spPr>
      </p:sp>
      <p:sp>
        <p:nvSpPr>
          <p:cNvPr id="25" name="Text 22"/>
          <p:cNvSpPr txBox="1"/>
          <p:nvPr/>
        </p:nvSpPr>
        <p:spPr>
          <a:xfrm>
            <a:off x="6903720" y="5394960"/>
            <a:ext cx="3657600" cy="365760"/>
          </a:xfrm>
          <a:prstGeom prst="rect">
            <a:avLst/>
          </a:prstGeom>
          <a:noFill/>
          <a:ln/>
        </p:spPr>
        <p:txBody>
          <a:bodyPr wrap="square" lIns="0" tIns="0" rIns="0" bIns="0" rtlCol="0" anchor="t">
            <a:normAutofit/>
          </a:bodyPr>
          <a:lstStyle/>
          <a:p>
            <a:pPr algn="r" indent="0" marL="0">
              <a:buNone/>
            </a:pPr>
            <a:r>
              <a:rPr lang="en-US" sz="1700" dirty="0">
                <a:solidFill>
                  <a:srgbClr val="D9DBD8"/>
                </a:solidFill>
                <a:latin typeface="Avenir" pitchFamily="34" charset="0"/>
                <a:ea typeface="Avenir" pitchFamily="34" charset="-122"/>
                <a:cs typeface="Avenir" pitchFamily="34" charset="-120"/>
              </a:rPr>
              <a:t>La defensa muestra una posición y también su límite.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817"/>
        </a:solidFill>
      </p:bgPr>
    </p:bg>
    <p:spTree>
      <p:nvGrpSpPr>
        <p:cNvPr id="1" name=""/>
        <p:cNvGrpSpPr/>
        <p:nvPr/>
      </p:nvGrpSpPr>
      <p:grpSpPr>
        <a:xfrm>
          <a:off x="0" y="0"/>
          <a:ext cx="0" cy="0"/>
          <a:chOff x="0" y="0"/>
          <a:chExt cx="0" cy="0"/>
        </a:xfrm>
      </p:grpSpPr>
      <p:pic>
        <p:nvPicPr>
          <p:cNvPr id="3" name="Fondo de video · road">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71817">
              <a:alpha val="53000"/>
            </a:srgbClr>
          </a:solidFill>
          <a:ln w="12700">
            <a:solidFill>
              <a:srgbClr val="171817">
                <a:alpha val="0"/>
              </a:srgbClr>
            </a:solidFill>
            <a:prstDash val="solid"/>
          </a:ln>
        </p:spPr>
      </p:sp>
      <p:sp>
        <p:nvSpPr>
          <p:cNvPr id="4" name="Shape 1"/>
          <p:cNvSpPr/>
          <p:nvPr/>
        </p:nvSpPr>
        <p:spPr>
          <a:xfrm rot="2700000">
            <a:off x="566928" y="457200"/>
            <a:ext cx="457200" cy="457200"/>
          </a:xfrm>
          <a:prstGeom prst="arc">
            <a:avLst/>
          </a:prstGeom>
          <a:solidFill>
            <a:srgbClr val="171817">
              <a:alpha val="0"/>
            </a:srgbClr>
          </a:solidFill>
          <a:ln w="12700">
            <a:solidFill>
              <a:srgbClr val="FFFFFF">
                <a:alpha val="85000"/>
              </a:srgbClr>
            </a:solidFill>
            <a:prstDash val="solid"/>
          </a:ln>
        </p:spPr>
      </p:sp>
      <p:sp>
        <p:nvSpPr>
          <p:cNvPr id="5" name="Text 2"/>
          <p:cNvSpPr txBox="1"/>
          <p:nvPr/>
        </p:nvSpPr>
        <p:spPr>
          <a:xfrm>
            <a:off x="612648" y="612648"/>
            <a:ext cx="365760" cy="137160"/>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venir" pitchFamily="34" charset="0"/>
                <a:ea typeface="Avenir" pitchFamily="34" charset="-122"/>
                <a:cs typeface="Avenir" pitchFamily="34" charset="-120"/>
              </a:rPr>
              <a:t>10</a:t>
            </a:r>
            <a:endParaRPr lang="en-US" sz="1050" dirty="0"/>
          </a:p>
        </p:txBody>
      </p:sp>
      <p:sp>
        <p:nvSpPr>
          <p:cNvPr id="6" name="Shape 3"/>
          <p:cNvSpPr/>
          <p:nvPr/>
        </p:nvSpPr>
        <p:spPr>
          <a:xfrm>
            <a:off x="1143000" y="576072"/>
            <a:ext cx="621792" cy="109728"/>
          </a:xfrm>
          <a:prstGeom prst="parallelogram">
            <a:avLst/>
          </a:prstGeom>
          <a:solidFill>
            <a:srgbClr val="CFFF00"/>
          </a:solidFill>
          <a:ln w="12700">
            <a:solidFill>
              <a:srgbClr val="CFFF00">
                <a:alpha val="0"/>
              </a:srgbClr>
            </a:solidFill>
            <a:prstDash val="solid"/>
          </a:ln>
        </p:spPr>
      </p:sp>
      <p:sp>
        <p:nvSpPr>
          <p:cNvPr id="7" name="Text 4"/>
          <p:cNvSpPr txBox="1"/>
          <p:nvPr/>
        </p:nvSpPr>
        <p:spPr>
          <a:xfrm>
            <a:off x="1901952" y="539496"/>
            <a:ext cx="4206240" cy="201168"/>
          </a:xfrm>
          <a:prstGeom prst="rect">
            <a:avLst/>
          </a:prstGeom>
          <a:noFill/>
          <a:ln/>
        </p:spPr>
        <p:txBody>
          <a:bodyPr wrap="square" lIns="0" tIns="0" rIns="0" bIns="0" rtlCol="0" anchor="t">
            <a:normAutofit/>
          </a:bodyPr>
          <a:lstStyle/>
          <a:p>
            <a:pPr algn="l" indent="0" marL="0">
              <a:buNone/>
            </a:pPr>
            <a:r>
              <a:rPr lang="en-US" sz="1100" b="1" spc="170" kern="0" dirty="0">
                <a:solidFill>
                  <a:srgbClr val="FFFFFF"/>
                </a:solidFill>
                <a:latin typeface="Avenir" pitchFamily="34" charset="0"/>
                <a:ea typeface="Avenir" pitchFamily="34" charset="-122"/>
                <a:cs typeface="Avenir" pitchFamily="34" charset="-120"/>
              </a:rPr>
              <a:t>METSI · N01   CIERRE Y PUENTE</a:t>
            </a:r>
            <a:endParaRPr lang="en-US" sz="1100" dirty="0"/>
          </a:p>
        </p:txBody>
      </p:sp>
      <p:sp>
        <p:nvSpPr>
          <p:cNvPr id="8" name="Shape 5"/>
          <p:cNvSpPr/>
          <p:nvPr/>
        </p:nvSpPr>
        <p:spPr>
          <a:xfrm>
            <a:off x="6035040" y="630936"/>
            <a:ext cx="5394960" cy="0"/>
          </a:xfrm>
          <a:prstGeom prst="line">
            <a:avLst/>
          </a:prstGeom>
          <a:noFill/>
          <a:ln w="10160">
            <a:solidFill>
              <a:srgbClr val="FFFFFF">
                <a:alpha val="38000"/>
              </a:srgbClr>
            </a:solidFill>
            <a:prstDash val="solid"/>
          </a:ln>
        </p:spPr>
      </p:sp>
      <p:sp>
        <p:nvSpPr>
          <p:cNvPr id="9" name="Shape 6"/>
          <p:cNvSpPr/>
          <p:nvPr/>
        </p:nvSpPr>
        <p:spPr>
          <a:xfrm>
            <a:off x="566928" y="6510528"/>
            <a:ext cx="11045952" cy="0"/>
          </a:xfrm>
          <a:prstGeom prst="line">
            <a:avLst/>
          </a:prstGeom>
          <a:noFill/>
          <a:ln w="8890">
            <a:solidFill>
              <a:srgbClr val="FFFFFF">
                <a:alpha val="42000"/>
              </a:srgbClr>
            </a:solidFill>
            <a:prstDash val="solid"/>
          </a:ln>
        </p:spPr>
      </p:sp>
      <p:sp>
        <p:nvSpPr>
          <p:cNvPr id="10" name="Text 7"/>
          <p:cNvSpPr txBox="1"/>
          <p:nvPr/>
        </p:nvSpPr>
        <p:spPr>
          <a:xfrm>
            <a:off x="566928" y="6583680"/>
            <a:ext cx="457200" cy="109728"/>
          </a:xfrm>
          <a:prstGeom prst="rect">
            <a:avLst/>
          </a:prstGeom>
          <a:noFill/>
          <a:ln/>
        </p:spPr>
        <p:txBody>
          <a:bodyPr wrap="square" lIns="0" tIns="0" rIns="0" bIns="0" rtlCol="0" anchor="t">
            <a:normAutofit/>
          </a:bodyPr>
          <a:lstStyle/>
          <a:p>
            <a:pPr algn="l" indent="0" marL="0">
              <a:buNone/>
            </a:pPr>
            <a:r>
              <a:rPr lang="en-US" sz="850" dirty="0">
                <a:solidFill>
                  <a:srgbClr val="D9DBD8"/>
                </a:solidFill>
                <a:latin typeface="Avenir" pitchFamily="34" charset="0"/>
                <a:ea typeface="Avenir" pitchFamily="34" charset="-122"/>
                <a:cs typeface="Avenir" pitchFamily="34" charset="-120"/>
              </a:rPr>
              <a:t>10</a:t>
            </a:r>
            <a:endParaRPr lang="en-US" sz="850" dirty="0"/>
          </a:p>
        </p:txBody>
      </p:sp>
      <p:sp>
        <p:nvSpPr>
          <p:cNvPr id="11" name="Text 8"/>
          <p:cNvSpPr txBox="1"/>
          <p:nvPr/>
        </p:nvSpPr>
        <p:spPr>
          <a:xfrm>
            <a:off x="8732520" y="6565392"/>
            <a:ext cx="2880360" cy="128016"/>
          </a:xfrm>
          <a:prstGeom prst="rect">
            <a:avLst/>
          </a:prstGeom>
          <a:noFill/>
          <a:ln/>
        </p:spPr>
        <p:txBody>
          <a:bodyPr wrap="square" lIns="0" tIns="0" rIns="0" bIns="0" rtlCol="0" anchor="t">
            <a:normAutofit/>
          </a:bodyPr>
          <a:lstStyle/>
          <a:p>
            <a:pPr algn="r" indent="0" marL="0">
              <a:buNone/>
            </a:pPr>
            <a:r>
              <a:rPr lang="en-US" sz="850" dirty="0">
                <a:solidFill>
                  <a:srgbClr val="D9DBD8"/>
                </a:solidFill>
                <a:latin typeface="Avenir" pitchFamily="34" charset="0"/>
                <a:ea typeface="Avenir" pitchFamily="34" charset="-122"/>
                <a:cs typeface="Avenir" pitchFamily="34" charset="-120"/>
              </a:rPr>
              <a:t>Diego Carralbal · METSI · FCE UBA</a:t>
            </a:r>
            <a:endParaRPr lang="en-US" sz="850" dirty="0"/>
          </a:p>
        </p:txBody>
      </p:sp>
      <p:sp>
        <p:nvSpPr>
          <p:cNvPr id="12" name="Text 9"/>
          <p:cNvSpPr txBox="1"/>
          <p:nvPr/>
        </p:nvSpPr>
        <p:spPr>
          <a:xfrm>
            <a:off x="658368" y="960120"/>
            <a:ext cx="7680960" cy="585216"/>
          </a:xfrm>
          <a:prstGeom prst="rect">
            <a:avLst/>
          </a:prstGeom>
          <a:noFill/>
          <a:ln/>
        </p:spPr>
        <p:txBody>
          <a:bodyPr wrap="square" lIns="0" tIns="0" rIns="0" bIns="0" rtlCol="0" anchor="t">
            <a:normAutofit/>
          </a:bodyPr>
          <a:lstStyle/>
          <a:p>
            <a:pPr algn="l" indent="0" marL="0">
              <a:buNone/>
            </a:pPr>
            <a:r>
              <a:rPr lang="en-US" sz="3600" dirty="0">
                <a:solidFill>
                  <a:srgbClr val="FFFFFF"/>
                </a:solidFill>
                <a:latin typeface="Didot" pitchFamily="34" charset="0"/>
                <a:ea typeface="Didot" pitchFamily="34" charset="-122"/>
                <a:cs typeface="Didot" pitchFamily="34" charset="-120"/>
              </a:rPr>
              <a:t>Lo que cambió deja una huella</a:t>
            </a:r>
            <a:endParaRPr lang="en-US" sz="3600" dirty="0"/>
          </a:p>
        </p:txBody>
      </p:sp>
      <p:sp>
        <p:nvSpPr>
          <p:cNvPr id="13" name="Text 10"/>
          <p:cNvSpPr txBox="1"/>
          <p:nvPr/>
        </p:nvSpPr>
        <p:spPr>
          <a:xfrm>
            <a:off x="658368" y="2176272"/>
            <a:ext cx="3246120" cy="256032"/>
          </a:xfrm>
          <a:prstGeom prst="rect">
            <a:avLst/>
          </a:prstGeom>
          <a:noFill/>
          <a:ln/>
        </p:spPr>
        <p:txBody>
          <a:bodyPr wrap="square" lIns="0" tIns="0" rIns="0" bIns="0" rtlCol="0" anchor="t">
            <a:normAutofit/>
          </a:bodyPr>
          <a:lstStyle/>
          <a:p>
            <a:pPr algn="l" indent="0" marL="0">
              <a:buNone/>
            </a:pPr>
            <a:r>
              <a:rPr lang="en-US" sz="1150" b="1" spc="120" kern="0" dirty="0">
                <a:solidFill>
                  <a:srgbClr val="FFFFFF"/>
                </a:solidFill>
                <a:latin typeface="Avenir" pitchFamily="34" charset="0"/>
                <a:ea typeface="Avenir" pitchFamily="34" charset="-122"/>
                <a:cs typeface="Avenir" pitchFamily="34" charset="-120"/>
              </a:rPr>
              <a:t>ANTES PENSABA</a:t>
            </a:r>
            <a:endParaRPr lang="en-US" sz="1150" dirty="0"/>
          </a:p>
        </p:txBody>
      </p:sp>
      <p:sp>
        <p:nvSpPr>
          <p:cNvPr id="14" name="Text 11"/>
          <p:cNvSpPr txBox="1"/>
          <p:nvPr/>
        </p:nvSpPr>
        <p:spPr>
          <a:xfrm>
            <a:off x="658368" y="2770632"/>
            <a:ext cx="3200400" cy="566928"/>
          </a:xfrm>
          <a:prstGeom prst="rect">
            <a:avLst/>
          </a:prstGeom>
          <a:noFill/>
          <a:ln/>
        </p:spPr>
        <p:txBody>
          <a:bodyPr wrap="square" lIns="0" tIns="0" rIns="0" bIns="0" rtlCol="0" anchor="t">
            <a:normAutofit/>
          </a:bodyPr>
          <a:lstStyle/>
          <a:p>
            <a:pPr algn="l" indent="0" marL="0">
              <a:buNone/>
            </a:pPr>
            <a:r>
              <a:rPr lang="en-US" sz="2400" dirty="0">
                <a:solidFill>
                  <a:srgbClr val="FFFFFF"/>
                </a:solidFill>
                <a:latin typeface="Didot" pitchFamily="34" charset="0"/>
                <a:ea typeface="Didot" pitchFamily="34" charset="-122"/>
                <a:cs typeface="Didot" pitchFamily="34" charset="-120"/>
              </a:rPr>
              <a:t>una idea inicial</a:t>
            </a:r>
            <a:endParaRPr lang="en-US" sz="2400" dirty="0"/>
          </a:p>
        </p:txBody>
      </p:sp>
      <p:sp>
        <p:nvSpPr>
          <p:cNvPr id="15" name="Shape 12"/>
          <p:cNvSpPr/>
          <p:nvPr/>
        </p:nvSpPr>
        <p:spPr>
          <a:xfrm>
            <a:off x="658368" y="3584448"/>
            <a:ext cx="3154680" cy="0"/>
          </a:xfrm>
          <a:prstGeom prst="line">
            <a:avLst/>
          </a:prstGeom>
          <a:noFill/>
          <a:ln w="10160">
            <a:solidFill>
              <a:srgbClr val="FFFFFF">
                <a:alpha val="50000"/>
              </a:srgbClr>
            </a:solidFill>
            <a:prstDash val="solid"/>
          </a:ln>
        </p:spPr>
      </p:sp>
      <p:sp>
        <p:nvSpPr>
          <p:cNvPr id="16" name="Text 13"/>
          <p:cNvSpPr txBox="1"/>
          <p:nvPr/>
        </p:nvSpPr>
        <p:spPr>
          <a:xfrm>
            <a:off x="4453128" y="2176272"/>
            <a:ext cx="3246120" cy="256032"/>
          </a:xfrm>
          <a:prstGeom prst="rect">
            <a:avLst/>
          </a:prstGeom>
          <a:noFill/>
          <a:ln/>
        </p:spPr>
        <p:txBody>
          <a:bodyPr wrap="square" lIns="0" tIns="0" rIns="0" bIns="0" rtlCol="0" anchor="t">
            <a:normAutofit/>
          </a:bodyPr>
          <a:lstStyle/>
          <a:p>
            <a:pPr algn="l" indent="0" marL="0">
              <a:buNone/>
            </a:pPr>
            <a:r>
              <a:rPr lang="en-US" sz="1150" b="1" spc="120" kern="0" dirty="0">
                <a:solidFill>
                  <a:srgbClr val="CFFF00"/>
                </a:solidFill>
                <a:latin typeface="Avenir" pitchFamily="34" charset="0"/>
                <a:ea typeface="Avenir" pitchFamily="34" charset="-122"/>
                <a:cs typeface="Avenir" pitchFamily="34" charset="-120"/>
              </a:rPr>
              <a:t>AHORA SOSTENGO</a:t>
            </a:r>
            <a:endParaRPr lang="en-US" sz="1150" dirty="0"/>
          </a:p>
        </p:txBody>
      </p:sp>
      <p:sp>
        <p:nvSpPr>
          <p:cNvPr id="17" name="Text 14"/>
          <p:cNvSpPr txBox="1"/>
          <p:nvPr/>
        </p:nvSpPr>
        <p:spPr>
          <a:xfrm>
            <a:off x="4453128" y="2770632"/>
            <a:ext cx="3200400" cy="566928"/>
          </a:xfrm>
          <a:prstGeom prst="rect">
            <a:avLst/>
          </a:prstGeom>
          <a:noFill/>
          <a:ln/>
        </p:spPr>
        <p:txBody>
          <a:bodyPr wrap="square" lIns="0" tIns="0" rIns="0" bIns="0" rtlCol="0" anchor="t">
            <a:normAutofit/>
          </a:bodyPr>
          <a:lstStyle/>
          <a:p>
            <a:pPr algn="l" indent="0" marL="0">
              <a:buNone/>
            </a:pPr>
            <a:r>
              <a:rPr lang="en-US" sz="2400" dirty="0">
                <a:solidFill>
                  <a:srgbClr val="FFFFFF"/>
                </a:solidFill>
                <a:latin typeface="Didot" pitchFamily="34" charset="0"/>
                <a:ea typeface="Didot" pitchFamily="34" charset="-122"/>
                <a:cs typeface="Didot" pitchFamily="34" charset="-120"/>
              </a:rPr>
              <a:t>una posición revisada</a:t>
            </a:r>
            <a:endParaRPr lang="en-US" sz="2400" dirty="0"/>
          </a:p>
        </p:txBody>
      </p:sp>
      <p:sp>
        <p:nvSpPr>
          <p:cNvPr id="18" name="Shape 15"/>
          <p:cNvSpPr/>
          <p:nvPr/>
        </p:nvSpPr>
        <p:spPr>
          <a:xfrm>
            <a:off x="4453128" y="3584448"/>
            <a:ext cx="3154680" cy="0"/>
          </a:xfrm>
          <a:prstGeom prst="line">
            <a:avLst/>
          </a:prstGeom>
          <a:noFill/>
          <a:ln w="10160">
            <a:solidFill>
              <a:srgbClr val="FFFFFF">
                <a:alpha val="50000"/>
              </a:srgbClr>
            </a:solidFill>
            <a:prstDash val="solid"/>
          </a:ln>
        </p:spPr>
      </p:sp>
      <p:sp>
        <p:nvSpPr>
          <p:cNvPr id="19" name="Text 16"/>
          <p:cNvSpPr txBox="1"/>
          <p:nvPr/>
        </p:nvSpPr>
        <p:spPr>
          <a:xfrm>
            <a:off x="8247888" y="2176272"/>
            <a:ext cx="3246120" cy="256032"/>
          </a:xfrm>
          <a:prstGeom prst="rect">
            <a:avLst/>
          </a:prstGeom>
          <a:noFill/>
          <a:ln/>
        </p:spPr>
        <p:txBody>
          <a:bodyPr wrap="square" lIns="0" tIns="0" rIns="0" bIns="0" rtlCol="0" anchor="t">
            <a:normAutofit/>
          </a:bodyPr>
          <a:lstStyle/>
          <a:p>
            <a:pPr algn="l" indent="0" marL="0">
              <a:buNone/>
            </a:pPr>
            <a:r>
              <a:rPr lang="en-US" sz="1150" b="1" spc="120" kern="0" dirty="0">
                <a:solidFill>
                  <a:srgbClr val="FFFFFF"/>
                </a:solidFill>
                <a:latin typeface="Avenir" pitchFamily="34" charset="0"/>
                <a:ea typeface="Avenir" pitchFamily="34" charset="-122"/>
                <a:cs typeface="Avenir" pitchFamily="34" charset="-120"/>
              </a:rPr>
              <a:t>TODAVÍA CAMBIARÍA SI</a:t>
            </a:r>
            <a:endParaRPr lang="en-US" sz="1150" dirty="0"/>
          </a:p>
        </p:txBody>
      </p:sp>
      <p:sp>
        <p:nvSpPr>
          <p:cNvPr id="20" name="Text 17"/>
          <p:cNvSpPr txBox="1"/>
          <p:nvPr/>
        </p:nvSpPr>
        <p:spPr>
          <a:xfrm>
            <a:off x="8247888" y="2770632"/>
            <a:ext cx="3200400" cy="566928"/>
          </a:xfrm>
          <a:prstGeom prst="rect">
            <a:avLst/>
          </a:prstGeom>
          <a:noFill/>
          <a:ln/>
        </p:spPr>
        <p:txBody>
          <a:bodyPr wrap="square" lIns="0" tIns="0" rIns="0" bIns="0" rtlCol="0" anchor="t">
            <a:normAutofit/>
          </a:bodyPr>
          <a:lstStyle/>
          <a:p>
            <a:pPr algn="l" indent="0" marL="0">
              <a:buNone/>
            </a:pPr>
            <a:r>
              <a:rPr lang="en-US" sz="2400" dirty="0">
                <a:solidFill>
                  <a:srgbClr val="FFFFFF"/>
                </a:solidFill>
                <a:latin typeface="Didot" pitchFamily="34" charset="0"/>
                <a:ea typeface="Didot" pitchFamily="34" charset="-122"/>
                <a:cs typeface="Didot" pitchFamily="34" charset="-120"/>
              </a:rPr>
              <a:t>una evidencia posible</a:t>
            </a:r>
            <a:endParaRPr lang="en-US" sz="2400" dirty="0"/>
          </a:p>
        </p:txBody>
      </p:sp>
      <p:sp>
        <p:nvSpPr>
          <p:cNvPr id="21" name="Shape 18"/>
          <p:cNvSpPr/>
          <p:nvPr/>
        </p:nvSpPr>
        <p:spPr>
          <a:xfrm>
            <a:off x="8247888" y="3584448"/>
            <a:ext cx="3154680" cy="0"/>
          </a:xfrm>
          <a:prstGeom prst="line">
            <a:avLst/>
          </a:prstGeom>
          <a:noFill/>
          <a:ln w="10160">
            <a:solidFill>
              <a:srgbClr val="FFFFFF">
                <a:alpha val="50000"/>
              </a:srgbClr>
            </a:solidFill>
            <a:prstDash val="solid"/>
          </a:ln>
        </p:spPr>
      </p:sp>
      <p:sp>
        <p:nvSpPr>
          <p:cNvPr id="22" name="Text 19"/>
          <p:cNvSpPr txBox="1"/>
          <p:nvPr/>
        </p:nvSpPr>
        <p:spPr>
          <a:xfrm>
            <a:off x="658368" y="4864608"/>
            <a:ext cx="8961120" cy="594360"/>
          </a:xfrm>
          <a:prstGeom prst="rect">
            <a:avLst/>
          </a:prstGeom>
          <a:noFill/>
          <a:ln/>
        </p:spPr>
        <p:txBody>
          <a:bodyPr wrap="square" lIns="0" tIns="0" rIns="0" bIns="0" rtlCol="0" anchor="t">
            <a:normAutofit/>
          </a:bodyPr>
          <a:lstStyle/>
          <a:p>
            <a:pPr algn="l" indent="0" marL="0">
              <a:buNone/>
            </a:pPr>
            <a:r>
              <a:rPr lang="en-US" sz="2400" i="1" dirty="0">
                <a:solidFill>
                  <a:srgbClr val="FFFFFF"/>
                </a:solidFill>
                <a:latin typeface="Didot" pitchFamily="34" charset="0"/>
                <a:ea typeface="Didot" pitchFamily="34" charset="-122"/>
                <a:cs typeface="Didot" pitchFamily="34" charset="-120"/>
              </a:rPr>
              <a:t>N02 abre la frontera: ¿qué relaciones forman el sistema relevante?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ido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FCE · UBA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METSI · N01 · Del pedido al problema profesional</dc:title>
  <dc:subject>Material docente con video de fondo y notas de orador en voz natural</dc:subject>
  <dc:creator>Diego Carralbal</dc:creator>
  <cp:lastModifiedBy>Diego Carralbal</cp:lastModifiedBy>
  <cp:revision>1</cp:revision>
  <dcterms:created xsi:type="dcterms:W3CDTF">2026-09-15T02:29:48Z</dcterms:created>
  <dcterms:modified xsi:type="dcterms:W3CDTF">2026-09-15T02:29:48Z</dcterms:modified>
</cp:coreProperties>
</file>